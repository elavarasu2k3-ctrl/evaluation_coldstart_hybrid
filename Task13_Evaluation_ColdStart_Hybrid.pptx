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7.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8.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9.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0.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abf24f8b-1f45-25e3-29a6-cac9afcedcb8}">
          <p14:sldIdLst>
            <p14:sldId id="256"/>
            <p14:sldId id="257"/>
            <p14:sldId id="258"/>
          </p14:sldIdLst>
        </p14:section>
        <p14:section name="Measuring honestly" id="{5ff4d07e-171a-a90c-5578-ec2dc11cca30}">
          <p14:sldIdLst>
            <p14:sldId id="259"/>
            <p14:sldId id="260"/>
            <p14:sldId id="261"/>
            <p14:sldId id="262"/>
            <p14:sldId id="263"/>
            <p14:sldId id="264"/>
          </p14:sldIdLst>
        </p14:section>
        <p14:section name="Cold start and hybrids" id="{0b41c0ec-c01f-24fd-c90c-6725b3d3ea0c}">
          <p14:sldIdLst>
            <p14:sldId id="265"/>
            <p14:sldId id="266"/>
            <p14:sldId id="267"/>
          </p14:sldIdLst>
        </p14:section>
        <p14:section name="Online test and exercises" id="{b3535cc3-b993-ed0b-2cf0-2318ebea1ad2}">
          <p14:sldIdLst>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1B2B"/>
                </a:solidFill>
                <a:latin typeface="+mn-lt"/>
              </a:defRPr>
            </a:pPr>
            <a:r>
              <a:rPr sz="1200" b="0" i="0" u="none" strike="noStrike">
                <a:solidFill>
                  <a:srgbClr val="1F1B2B"/>
                </a:solidFill>
                <a:latin typeface="+mn-lt"/>
              </a:rPr>
              <a:t>Test RMSE (coral = leaky split)</a:t>
            </a:r>
          </a:p>
        </c:rich>
      </c:tx>
      <c:layout/>
      <c:overlay val="0"/>
    </c:title>
    <c:autoTitleDeleted val="0"/>
    <c:plotArea>
      <c:layout/>
      <c:barChart>
        <c:barDir val="col"/>
        <c:grouping val="clustered"/>
        <c:varyColors val="0"/>
        <c:ser>
          <c:idx val="0"/>
          <c:order val="0"/>
          <c:tx>
            <c:strRef>
              <c:f>Sheet1!$B$1</c:f>
              <c:strCache>
                <c:ptCount val="1"/>
                <c:pt idx="0">
                  <c:v>RMSE</c:v>
                </c:pt>
              </c:strCache>
            </c:strRef>
          </c:tx>
          <c:spPr>
            <a:solidFill>
              <a:srgbClr val="D1495B"/>
            </a:solidFill>
            <a:effectLst/>
          </c:spPr>
          <c:invertIfNegative val="0"/>
          <c:dLbls>
            <c:numFmt formatCode="0.000" sourceLinked="0"/>
            <c:txPr>
              <a:bodyPr/>
              <a:lstStyle/>
              <a:p>
                <a:pPr>
                  <a:defRPr b="0" i="0" strike="noStrike" sz="1000" u="none">
                    <a:solidFill>
                      <a:srgbClr val="1F1B2B"/>
                    </a:solidFill>
                    <a:latin typeface="+mn-lt"/>
                  </a:defRPr>
                </a:pPr>
              </a:p>
            </c:txPr>
            <c:showLegendKey val="0"/>
            <c:showVal val="1"/>
            <c:showCatName val="0"/>
            <c:showSerName val="0"/>
            <c:showPercent val="0"/>
            <c:showBubbleSize val="0"/>
            <c:showLeaderLines val="0"/>
          </c:dLbls>
          <c:dPt>
            <c:idx val="0"/>
            <c:invertIfNegative val="0"/>
            <c:bubble3D val="0"/>
            <c:spPr>
              <a:solidFill>
                <a:srgbClr val="D1495B"/>
              </a:solidFill>
              <a:effectLst/>
            </c:spPr>
          </c:dPt>
          <c:dPt>
            <c:idx val="1"/>
            <c:invertIfNegative val="0"/>
            <c:bubble3D val="0"/>
            <c:spPr>
              <a:solidFill>
                <a:srgbClr val="2A7F8E"/>
              </a:solidFill>
              <a:effectLst/>
            </c:spPr>
          </c:dPt>
          <c:dPt>
            <c:idx val="2"/>
            <c:invertIfNegative val="0"/>
            <c:bubble3D val="0"/>
            <c:spPr>
              <a:solidFill>
                <a:srgbClr val="2A7F8E"/>
              </a:solidFill>
              <a:effectLst/>
            </c:spPr>
          </c:dPt>
          <c:dPt>
            <c:idx val="3"/>
            <c:invertIfNegative val="0"/>
            <c:bubble3D val="0"/>
            <c:spPr>
              <a:solidFill>
                <a:srgbClr val="D1495B"/>
              </a:solidFill>
              <a:effectLst/>
            </c:spPr>
          </c:dPt>
          <c:cat>
            <c:multiLvlStrRef>
              <c:f>Sheet1!$A$2:$A$5</c:f>
              <c:multiLvlStrCache>
                <c:ptCount val="4"/>
                <c:lvl>
                  <c:pt idx="0">
                    <c:v>Naive
random</c:v>
                  </c:pt>
                  <c:pt idx="1">
                    <c:v>Temporal</c:v>
                  </c:pt>
                  <c:pt idx="2">
                    <c:v>Leave-
one-out</c:v>
                  </c:pt>
                  <c:pt idx="3">
                    <c:v>Per-user
random</c:v>
                  </c:pt>
                </c:lvl>
              </c:multiLvlStrCache>
            </c:multiLvlStrRef>
          </c:cat>
          <c:val>
            <c:numRef>
              <c:f>Sheet1!$B$2:$B$5</c:f>
              <c:numCache>
                <c:formatCode>General</c:formatCode>
                <c:ptCount val="4"/>
                <c:pt idx="0">
                  <c:v>0.8592807065</c:v>
                </c:pt>
                <c:pt idx="1">
                  <c:v>0.8983807739</c:v>
                </c:pt>
                <c:pt idx="2">
                  <c:v>0.9558247466</c:v>
                </c:pt>
                <c:pt idx="3">
                  <c:v>0.862445001</c:v>
                </c:pt>
              </c:numCache>
            </c:numRef>
          </c:val>
        </c:ser>
        <c:dLbls>
          <c:numFmt formatCode="0.000" sourceLinked="0"/>
          <c:txPr>
            <a:bodyPr/>
            <a:lstStyle/>
            <a:p>
              <a:pPr>
                <a:defRPr b="0" i="0" strike="noStrike" sz="1000" u="none">
                  <a:solidFill>
                    <a:srgbClr val="1F1B2B"/>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A4458"/>
                </a:solidFill>
                <a:latin typeface="+mn-lt"/>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9525" cap="flat">
              <a:solidFill>
                <a:srgbClr val="E4DCCB"/>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4A4458"/>
                </a:solidFill>
                <a:latin typeface="+mn-lt"/>
              </a:defRPr>
            </a:pPr>
            <a:endParaRPr lang="en-US"/>
          </a:p>
        </c:txPr>
        <c:crossAx val="2094734554"/>
        <c:crosses val="autoZero"/>
        <c:crossBetween val="between"/>
        <c:majorUnit val="0.4"/>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1B2B"/>
                </a:solidFill>
                <a:latin typeface="+mn-lt"/>
              </a:defRPr>
            </a:pPr>
            <a:r>
              <a:rPr sz="1200" b="0" i="0" u="none" strike="noStrike">
                <a:solidFill>
                  <a:srgbClr val="1F1B2B"/>
                </a:solidFill>
                <a:latin typeface="+mn-lt"/>
              </a:rPr>
              <a:t>Error vs mean baselines (lower is better)</a:t>
            </a:r>
          </a:p>
        </c:rich>
      </c:tx>
      <c:layout/>
      <c:overlay val="0"/>
    </c:title>
    <c:autoTitleDeleted val="0"/>
    <c:plotArea>
      <c:layout/>
      <c:barChart>
        <c:barDir val="col"/>
        <c:grouping val="clustered"/>
        <c:varyColors val="0"/>
        <c:ser>
          <c:idx val="0"/>
          <c:order val="0"/>
          <c:tx>
            <c:strRef>
              <c:f>Sheet1!$B$1</c:f>
              <c:strCache>
                <c:ptCount val="1"/>
                <c:pt idx="0">
                  <c:v>RMSE</c:v>
                </c:pt>
              </c:strCache>
            </c:strRef>
          </c:tx>
          <c:spPr>
            <a:solidFill>
              <a:srgbClr val="2A7F8E"/>
            </a:solidFill>
            <a:effectLst/>
          </c:spPr>
          <c:invertIfNegative val="0"/>
          <c:dLbls>
            <c:numFmt formatCode="0.000" sourceLinked="0"/>
            <c:txPr>
              <a:bodyPr/>
              <a:lstStyle/>
              <a:p>
                <a:pPr>
                  <a:defRPr b="0" i="0" strike="noStrike" sz="1000" u="none">
                    <a:solidFill>
                      <a:srgbClr val="1F1B2B"/>
                    </a:solidFill>
                    <a:latin typeface="+mn-lt"/>
                  </a:defRPr>
                </a:pPr>
              </a:p>
            </c:txPr>
            <c:showLegendKey val="0"/>
            <c:showVal val="1"/>
            <c:showCatName val="0"/>
            <c:showSerName val="0"/>
            <c:showPercent val="0"/>
            <c:showBubbleSize val="0"/>
            <c:showLeaderLines val="0"/>
          </c:dLbls>
          <c:cat>
            <c:multiLvlStrRef>
              <c:f>Sheet1!$A$2:$A$4</c:f>
              <c:multiLvlStrCache>
                <c:ptCount val="3"/>
                <c:lvl>
                  <c:pt idx="0">
                    <c:v>MF (Task 12)</c:v>
                  </c:pt>
                  <c:pt idx="1">
                    <c:v>User mean</c:v>
                  </c:pt>
                  <c:pt idx="2">
                    <c:v>Global mean</c:v>
                  </c:pt>
                </c:lvl>
              </c:multiLvlStrCache>
            </c:multiLvlStrRef>
          </c:cat>
          <c:val>
            <c:numRef>
              <c:f>Sheet1!$B$2:$B$4</c:f>
              <c:numCache>
                <c:formatCode>General</c:formatCode>
                <c:ptCount val="3"/>
                <c:pt idx="0">
                  <c:v>0.8983807739</c:v>
                </c:pt>
                <c:pt idx="1">
                  <c:v>0.9665300454</c:v>
                </c:pt>
                <c:pt idx="2">
                  <c:v>1.0692762334</c:v>
                </c:pt>
              </c:numCache>
            </c:numRef>
          </c:val>
        </c:ser>
        <c:ser>
          <c:idx val="1"/>
          <c:order val="1"/>
          <c:tx>
            <c:strRef>
              <c:f>Sheet1!$C$1</c:f>
              <c:strCache>
                <c:ptCount val="1"/>
                <c:pt idx="0">
                  <c:v>MAE</c:v>
                </c:pt>
              </c:strCache>
            </c:strRef>
          </c:tx>
          <c:spPr>
            <a:solidFill>
              <a:srgbClr val="E8A33D"/>
            </a:solidFill>
            <a:effectLst/>
          </c:spPr>
          <c:invertIfNegative val="0"/>
          <c:dLbls>
            <c:numFmt formatCode="0.000" sourceLinked="0"/>
            <c:txPr>
              <a:bodyPr/>
              <a:lstStyle/>
              <a:p>
                <a:pPr>
                  <a:defRPr b="0" i="0" strike="noStrike" sz="1000" u="none">
                    <a:solidFill>
                      <a:srgbClr val="1F1B2B"/>
                    </a:solidFill>
                    <a:latin typeface="+mn-lt"/>
                  </a:defRPr>
                </a:pPr>
              </a:p>
            </c:txPr>
            <c:showLegendKey val="0"/>
            <c:showVal val="1"/>
            <c:showCatName val="0"/>
            <c:showSerName val="0"/>
            <c:showPercent val="0"/>
            <c:showBubbleSize val="0"/>
            <c:showLeaderLines val="0"/>
          </c:dLbls>
          <c:cat>
            <c:multiLvlStrRef>
              <c:f>Sheet1!$A$2:$A$4</c:f>
              <c:multiLvlStrCache>
                <c:ptCount val="3"/>
                <c:lvl>
                  <c:pt idx="0">
                    <c:v>MF (Task 12)</c:v>
                  </c:pt>
                  <c:pt idx="1">
                    <c:v>User mean</c:v>
                  </c:pt>
                  <c:pt idx="2">
                    <c:v>Global mean</c:v>
                  </c:pt>
                </c:lvl>
              </c:multiLvlStrCache>
            </c:multiLvlStrRef>
          </c:cat>
          <c:val>
            <c:numRef>
              <c:f>Sheet1!$C$2:$C$4</c:f>
              <c:numCache>
                <c:formatCode>General</c:formatCode>
                <c:ptCount val="3"/>
                <c:pt idx="0">
                  <c:v>0.6897489517</c:v>
                </c:pt>
                <c:pt idx="1">
                  <c:v>0.7498081734</c:v>
                </c:pt>
                <c:pt idx="2">
                  <c:v>0.8367349554</c:v>
                </c:pt>
              </c:numCache>
            </c:numRef>
          </c:val>
        </c:ser>
        <c:dLbls>
          <c:numFmt formatCode="0.000" sourceLinked="0"/>
          <c:txPr>
            <a:bodyPr/>
            <a:lstStyle/>
            <a:p>
              <a:pPr>
                <a:defRPr b="0" i="0" strike="noStrike" sz="1000" u="none">
                  <a:solidFill>
                    <a:srgbClr val="1F1B2B"/>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4458"/>
                </a:solidFill>
                <a:latin typeface="+mn-lt"/>
              </a:defRPr>
            </a:pPr>
            <a:endParaRPr lang="en-US"/>
          </a:p>
        </c:txPr>
        <c:crossAx val="2094734552"/>
        <c:crosses val="autoZero"/>
        <c:auto val="1"/>
        <c:lblAlgn val="ctr"/>
        <c:noMultiLvlLbl val="1"/>
      </c:catAx>
      <c:valAx>
        <c:axId val="2094734552"/>
        <c:scaling>
          <c:orientation val="minMax"/>
          <c:max val="1.4"/>
          <c:min val="0"/>
        </c:scaling>
        <c:delete val="0"/>
        <c:axPos val="l"/>
        <c:majorGridlines>
          <c:spPr>
            <a:ln w="9525" cap="flat">
              <a:solidFill>
                <a:srgbClr val="E4DCCB"/>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4A4458"/>
                </a:solidFill>
                <a:latin typeface="+mn-lt"/>
              </a:defRPr>
            </a:pPr>
            <a:endParaRPr lang="en-US"/>
          </a:p>
        </c:txPr>
        <c:crossAx val="2094734554"/>
        <c:crosses val="autoZero"/>
        <c:crossBetween val="between"/>
        <c:majorUnit val="0.5"/>
      </c:valAx>
      <c:spPr>
        <a:noFill/>
        <a:ln>
          <a:noFill/>
        </a:ln>
        <a:effectLst/>
      </c:spPr>
    </c:plotArea>
    <c:legend>
      <c:legendPos val="b"/>
      <c:overlay val="0"/>
      <c:txPr>
        <a:bodyPr/>
        <a:lstStyle/>
        <a:p>
          <a:pPr>
            <a:defRPr sz="1100">
              <a:solidFill>
                <a:srgbClr val="4A445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1B2B"/>
                </a:solidFill>
                <a:latin typeface="+mn-lt"/>
              </a:defRPr>
            </a:pPr>
            <a:r>
              <a:rPr sz="1200" b="0" i="0" u="none" strike="noStrike">
                <a:solidFill>
                  <a:srgbClr val="1F1B2B"/>
                </a:solidFill>
                <a:latin typeface="+mn-lt"/>
              </a:rPr>
              <a:t>Who causes the error? (by actual rating)</a:t>
            </a:r>
          </a:p>
        </c:rich>
      </c:tx>
      <c:layout/>
      <c:overlay val="0"/>
    </c:title>
    <c:autoTitleDeleted val="0"/>
    <c:plotArea>
      <c:layout/>
      <c:barChart>
        <c:barDir val="col"/>
        <c:grouping val="clustered"/>
        <c:varyColors val="0"/>
        <c:ser>
          <c:idx val="0"/>
          <c:order val="0"/>
          <c:tx>
            <c:strRef>
              <c:f>Sheet1!$B$1</c:f>
              <c:strCache>
                <c:ptCount val="1"/>
                <c:pt idx="0">
                  <c:v>Share of test ratings</c:v>
                </c:pt>
              </c:strCache>
            </c:strRef>
          </c:tx>
          <c:spPr>
            <a:solidFill>
              <a:srgbClr val="8C8799"/>
            </a:solidFill>
            <a:effectLst/>
          </c:spPr>
          <c:invertIfNegative val="0"/>
          <c:dLbls>
            <c:numFmt formatCode="#,##0" sourceLinked="0"/>
            <c:txPr>
              <a:bodyPr/>
              <a:lstStyle/>
              <a:p>
                <a:pPr>
                  <a:defRPr b="0" i="0" strike="noStrike" sz="1000" u="none">
                    <a:solidFill>
                      <a:srgbClr val="1F1B2B"/>
                    </a:solidFill>
                    <a:latin typeface="+mn-lt"/>
                  </a:defRPr>
                </a:pPr>
              </a:p>
            </c:txPr>
            <c:showLegendKey val="0"/>
            <c:showVal val="0"/>
            <c:showCatName val="0"/>
            <c:showSerName val="0"/>
            <c:showPercent val="0"/>
            <c:showBubbleSize val="0"/>
            <c:showLeaderLines val="0"/>
          </c:dLbls>
          <c:cat>
            <c:multiLvlStrRef>
              <c:f>Sheet1!$A$2:$A$11</c:f>
              <c:multiLvlStrCache>
                <c:ptCount val="10"/>
                <c:lvl>
                  <c:pt idx="0">
                    <c:v>0.5</c:v>
                  </c:pt>
                  <c:pt idx="1">
                    <c:v>1.0</c:v>
                  </c:pt>
                  <c:pt idx="2">
                    <c:v>1.5</c:v>
                  </c:pt>
                  <c:pt idx="3">
                    <c:v>2.0</c:v>
                  </c:pt>
                  <c:pt idx="4">
                    <c:v>2.5</c:v>
                  </c:pt>
                  <c:pt idx="5">
                    <c:v>3.0</c:v>
                  </c:pt>
                  <c:pt idx="6">
                    <c:v>3.5</c:v>
                  </c:pt>
                  <c:pt idx="7">
                    <c:v>4.0</c:v>
                  </c:pt>
                  <c:pt idx="8">
                    <c:v>4.5</c:v>
                  </c:pt>
                  <c:pt idx="9">
                    <c:v>5.0</c:v>
                  </c:pt>
                </c:lvl>
              </c:multiLvlStrCache>
            </c:multiLvlStrRef>
          </c:cat>
          <c:val>
            <c:numRef>
              <c:f>Sheet1!$B$2:$B$11</c:f>
              <c:numCache>
                <c:formatCode>General</c:formatCode>
                <c:ptCount val="10"/>
                <c:pt idx="0">
                  <c:v>0.01839912715731006</c:v>
                </c:pt>
                <c:pt idx="1">
                  <c:v>0.03159095417575878</c:v>
                </c:pt>
                <c:pt idx="2">
                  <c:v>0.02172188057925015</c:v>
                </c:pt>
                <c:pt idx="3">
                  <c:v>0.07682007538186868</c:v>
                </c:pt>
                <c:pt idx="4">
                  <c:v>0.054304701448125374</c:v>
                </c:pt>
                <c:pt idx="5">
                  <c:v>0.18870263836540369</c:v>
                </c:pt>
                <c:pt idx="6">
                  <c:v>0.1443661971830986</c:v>
                </c:pt>
                <c:pt idx="7">
                  <c:v>0.25629835350128943</c:v>
                </c:pt>
                <c:pt idx="8">
                  <c:v>0.09120214243205713</c:v>
                </c:pt>
                <c:pt idx="9">
                  <c:v>0.11659392977583813</c:v>
                </c:pt>
              </c:numCache>
            </c:numRef>
          </c:val>
        </c:ser>
        <c:ser>
          <c:idx val="1"/>
          <c:order val="1"/>
          <c:tx>
            <c:strRef>
              <c:f>Sheet1!$C$1</c:f>
              <c:strCache>
                <c:ptCount val="1"/>
                <c:pt idx="0">
                  <c:v>Share of squared error</c:v>
                </c:pt>
              </c:strCache>
            </c:strRef>
          </c:tx>
          <c:spPr>
            <a:solidFill>
              <a:srgbClr val="D1495B"/>
            </a:solidFill>
            <a:effectLst/>
          </c:spPr>
          <c:invertIfNegative val="0"/>
          <c:dLbls>
            <c:numFmt formatCode="#,##0" sourceLinked="0"/>
            <c:txPr>
              <a:bodyPr/>
              <a:lstStyle/>
              <a:p>
                <a:pPr>
                  <a:defRPr b="0" i="0" strike="noStrike" sz="1000" u="none">
                    <a:solidFill>
                      <a:srgbClr val="1F1B2B"/>
                    </a:solidFill>
                    <a:latin typeface="+mn-lt"/>
                  </a:defRPr>
                </a:pPr>
              </a:p>
            </c:txPr>
            <c:showLegendKey val="0"/>
            <c:showVal val="0"/>
            <c:showCatName val="0"/>
            <c:showSerName val="0"/>
            <c:showPercent val="0"/>
            <c:showBubbleSize val="0"/>
            <c:showLeaderLines val="0"/>
          </c:dLbls>
          <c:cat>
            <c:multiLvlStrRef>
              <c:f>Sheet1!$A$2:$A$11</c:f>
              <c:multiLvlStrCache>
                <c:ptCount val="10"/>
                <c:lvl>
                  <c:pt idx="0">
                    <c:v>0.5</c:v>
                  </c:pt>
                  <c:pt idx="1">
                    <c:v>1.0</c:v>
                  </c:pt>
                  <c:pt idx="2">
                    <c:v>1.5</c:v>
                  </c:pt>
                  <c:pt idx="3">
                    <c:v>2.0</c:v>
                  </c:pt>
                  <c:pt idx="4">
                    <c:v>2.5</c:v>
                  </c:pt>
                  <c:pt idx="5">
                    <c:v>3.0</c:v>
                  </c:pt>
                  <c:pt idx="6">
                    <c:v>3.5</c:v>
                  </c:pt>
                  <c:pt idx="7">
                    <c:v>4.0</c:v>
                  </c:pt>
                  <c:pt idx="8">
                    <c:v>4.5</c:v>
                  </c:pt>
                  <c:pt idx="9">
                    <c:v>5.0</c:v>
                  </c:pt>
                </c:lvl>
              </c:multiLvlStrCache>
            </c:multiLvlStrRef>
          </c:cat>
          <c:val>
            <c:numRef>
              <c:f>Sheet1!$C$2:$C$11</c:f>
              <c:numCache>
                <c:formatCode>General</c:formatCode>
                <c:ptCount val="10"/>
                <c:pt idx="0">
                  <c:v>0.1323355986</c:v>
                </c:pt>
                <c:pt idx="1">
                  <c:v>0.1783828927</c:v>
                </c:pt>
                <c:pt idx="2">
                  <c:v>0.0664218163</c:v>
                </c:pt>
                <c:pt idx="3">
                  <c:v>0.1392759085</c:v>
                </c:pt>
                <c:pt idx="4">
                  <c:v>0.0450970528</c:v>
                </c:pt>
                <c:pt idx="5">
                  <c:v>0.0692958232</c:v>
                </c:pt>
                <c:pt idx="6">
                  <c:v>0.0190352401</c:v>
                </c:pt>
                <c:pt idx="7">
                  <c:v>0.0752396811</c:v>
                </c:pt>
                <c:pt idx="8">
                  <c:v>0.0770669897</c:v>
                </c:pt>
                <c:pt idx="9">
                  <c:v>0.1978489969</c:v>
                </c:pt>
              </c:numCache>
            </c:numRef>
          </c:val>
        </c:ser>
        <c:dLbls>
          <c:numFmt formatCode="#,##0" sourceLinked="0"/>
          <c:txPr>
            <a:bodyPr/>
            <a:lstStyle/>
            <a:p>
              <a:pPr>
                <a:defRPr b="0" i="0" strike="noStrike" sz="1000" u="none">
                  <a:solidFill>
                    <a:srgbClr val="1F1B2B"/>
                  </a:solidFill>
                  <a:latin typeface="+mn-lt"/>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A4458"/>
                </a:solidFill>
                <a:latin typeface="+mn-lt"/>
              </a:defRPr>
            </a:pPr>
            <a:endParaRPr lang="en-US"/>
          </a:p>
        </c:txPr>
        <c:crossAx val="2094734552"/>
        <c:crosses val="autoZero"/>
        <c:auto val="1"/>
        <c:lblAlgn val="ctr"/>
        <c:noMultiLvlLbl val="1"/>
      </c:catAx>
      <c:valAx>
        <c:axId val="2094734552"/>
        <c:scaling>
          <c:orientation val="minMax"/>
          <c:max val="0.3"/>
          <c:min val="0"/>
        </c:scaling>
        <c:delete val="0"/>
        <c:axPos val="l"/>
        <c:majorGridlines>
          <c:spPr>
            <a:ln w="9525" cap="flat">
              <a:solidFill>
                <a:srgbClr val="E4DCCB"/>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4A4458"/>
                </a:solidFill>
                <a:latin typeface="+mn-lt"/>
              </a:defRPr>
            </a:pPr>
            <a:endParaRPr lang="en-US"/>
          </a:p>
        </c:txPr>
        <c:crossAx val="2094734554"/>
        <c:crosses val="autoZero"/>
        <c:crossBetween val="between"/>
        <c:majorUnit val="0.1"/>
      </c:valAx>
      <c:spPr>
        <a:noFill/>
        <a:ln>
          <a:noFill/>
        </a:ln>
        <a:effectLst/>
      </c:spPr>
    </c:plotArea>
    <c:legend>
      <c:legendPos val="b"/>
      <c:overlay val="0"/>
      <c:txPr>
        <a:bodyPr/>
        <a:lstStyle/>
        <a:p>
          <a:pPr>
            <a:defRPr sz="1100">
              <a:solidFill>
                <a:srgbClr val="4A445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1B2B"/>
                </a:solidFill>
                <a:latin typeface="+mn-lt"/>
              </a:defRPr>
            </a:pPr>
            <a:r>
              <a:rPr sz="1200" b="0" i="0" u="none" strike="noStrike">
                <a:solidFill>
                  <a:srgbClr val="1F1B2B"/>
                </a:solidFill>
                <a:latin typeface="+mn-lt"/>
              </a:rPr>
              <a:t>Matrix factorization, temporal test (592 users)</a:t>
            </a:r>
          </a:p>
        </c:rich>
      </c:tx>
      <c:layout/>
      <c:overlay val="0"/>
    </c:title>
    <c:autoTitleDeleted val="0"/>
    <c:plotArea>
      <c:layout/>
      <c:barChart>
        <c:barDir val="col"/>
        <c:grouping val="clustered"/>
        <c:varyColors val="0"/>
        <c:ser>
          <c:idx val="0"/>
          <c:order val="0"/>
          <c:tx>
            <c:strRef>
              <c:f>Sheet1!$B$1</c:f>
              <c:strCache>
                <c:ptCount val="1"/>
                <c:pt idx="0">
                  <c:v>Precision@K</c:v>
                </c:pt>
              </c:strCache>
            </c:strRef>
          </c:tx>
          <c:spPr>
            <a:solidFill>
              <a:srgbClr val="2A7F8E"/>
            </a:solidFill>
            <a:effectLst/>
          </c:spPr>
          <c:invertIfNegative val="0"/>
          <c:dLbls>
            <c:numFmt formatCode="0.000" sourceLinked="0"/>
            <c:txPr>
              <a:bodyPr/>
              <a:lstStyle/>
              <a:p>
                <a:pPr>
                  <a:defRPr b="0" i="0" strike="noStrike" sz="900" u="none">
                    <a:solidFill>
                      <a:srgbClr val="1F1B2B"/>
                    </a:solidFill>
                    <a:latin typeface="+mn-lt"/>
                  </a:defRPr>
                </a:pPr>
              </a:p>
            </c:txPr>
            <c:showLegendKey val="0"/>
            <c:showVal val="1"/>
            <c:showCatName val="0"/>
            <c:showSerName val="0"/>
            <c:showPercent val="0"/>
            <c:showBubbleSize val="0"/>
            <c:showLeaderLines val="0"/>
          </c:dLbls>
          <c:cat>
            <c:multiLvlStrRef>
              <c:f>Sheet1!$A$2:$A$4</c:f>
              <c:multiLvlStrCache>
                <c:ptCount val="3"/>
                <c:lvl>
                  <c:pt idx="0">
                    <c:v>K = 5</c:v>
                  </c:pt>
                  <c:pt idx="1">
                    <c:v>K = 10</c:v>
                  </c:pt>
                  <c:pt idx="2">
                    <c:v>K = 20</c:v>
                  </c:pt>
                </c:lvl>
              </c:multiLvlStrCache>
            </c:multiLvlStrRef>
          </c:cat>
          <c:val>
            <c:numRef>
              <c:f>Sheet1!$B$2:$B$4</c:f>
              <c:numCache>
                <c:formatCode>General</c:formatCode>
                <c:ptCount val="3"/>
                <c:pt idx="0">
                  <c:v>0.025</c:v>
                </c:pt>
                <c:pt idx="1">
                  <c:v>0.0258445946</c:v>
                </c:pt>
                <c:pt idx="2">
                  <c:v>0.0238175676</c:v>
                </c:pt>
              </c:numCache>
            </c:numRef>
          </c:val>
        </c:ser>
        <c:ser>
          <c:idx val="1"/>
          <c:order val="1"/>
          <c:tx>
            <c:strRef>
              <c:f>Sheet1!$C$1</c:f>
              <c:strCache>
                <c:ptCount val="1"/>
                <c:pt idx="0">
                  <c:v>Recall@K</c:v>
                </c:pt>
              </c:strCache>
            </c:strRef>
          </c:tx>
          <c:spPr>
            <a:solidFill>
              <a:srgbClr val="E8A33D"/>
            </a:solidFill>
            <a:effectLst/>
          </c:spPr>
          <c:invertIfNegative val="0"/>
          <c:dLbls>
            <c:numFmt formatCode="0.000" sourceLinked="0"/>
            <c:txPr>
              <a:bodyPr/>
              <a:lstStyle/>
              <a:p>
                <a:pPr>
                  <a:defRPr b="0" i="0" strike="noStrike" sz="900" u="none">
                    <a:solidFill>
                      <a:srgbClr val="1F1B2B"/>
                    </a:solidFill>
                    <a:latin typeface="+mn-lt"/>
                  </a:defRPr>
                </a:pPr>
              </a:p>
            </c:txPr>
            <c:showLegendKey val="0"/>
            <c:showVal val="1"/>
            <c:showCatName val="0"/>
            <c:showSerName val="0"/>
            <c:showPercent val="0"/>
            <c:showBubbleSize val="0"/>
            <c:showLeaderLines val="0"/>
          </c:dLbls>
          <c:cat>
            <c:multiLvlStrRef>
              <c:f>Sheet1!$A$2:$A$4</c:f>
              <c:multiLvlStrCache>
                <c:ptCount val="3"/>
                <c:lvl>
                  <c:pt idx="0">
                    <c:v>K = 5</c:v>
                  </c:pt>
                  <c:pt idx="1">
                    <c:v>K = 10</c:v>
                  </c:pt>
                  <c:pt idx="2">
                    <c:v>K = 20</c:v>
                  </c:pt>
                </c:lvl>
              </c:multiLvlStrCache>
            </c:multiLvlStrRef>
          </c:cat>
          <c:val>
            <c:numRef>
              <c:f>Sheet1!$C$2:$C$4</c:f>
              <c:numCache>
                <c:formatCode>General</c:formatCode>
                <c:ptCount val="3"/>
                <c:pt idx="0">
                  <c:v>0.0109071413</c:v>
                </c:pt>
                <c:pt idx="1">
                  <c:v>0.0200685761</c:v>
                </c:pt>
                <c:pt idx="2">
                  <c:v>0.0372402288</c:v>
                </c:pt>
              </c:numCache>
            </c:numRef>
          </c:val>
        </c:ser>
        <c:ser>
          <c:idx val="2"/>
          <c:order val="2"/>
          <c:tx>
            <c:strRef>
              <c:f>Sheet1!$D$1</c:f>
              <c:strCache>
                <c:ptCount val="1"/>
                <c:pt idx="0">
                  <c:v>F1@K</c:v>
                </c:pt>
              </c:strCache>
            </c:strRef>
          </c:tx>
          <c:spPr>
            <a:solidFill>
              <a:srgbClr val="5B4B8A"/>
            </a:solidFill>
            <a:effectLst/>
          </c:spPr>
          <c:invertIfNegative val="0"/>
          <c:dLbls>
            <c:numFmt formatCode="0.000" sourceLinked="0"/>
            <c:txPr>
              <a:bodyPr/>
              <a:lstStyle/>
              <a:p>
                <a:pPr>
                  <a:defRPr b="0" i="0" strike="noStrike" sz="900" u="none">
                    <a:solidFill>
                      <a:srgbClr val="1F1B2B"/>
                    </a:solidFill>
                    <a:latin typeface="+mn-lt"/>
                  </a:defRPr>
                </a:pPr>
              </a:p>
            </c:txPr>
            <c:showLegendKey val="0"/>
            <c:showVal val="1"/>
            <c:showCatName val="0"/>
            <c:showSerName val="0"/>
            <c:showPercent val="0"/>
            <c:showBubbleSize val="0"/>
            <c:showLeaderLines val="0"/>
          </c:dLbls>
          <c:cat>
            <c:multiLvlStrRef>
              <c:f>Sheet1!$A$2:$A$4</c:f>
              <c:multiLvlStrCache>
                <c:ptCount val="3"/>
                <c:lvl>
                  <c:pt idx="0">
                    <c:v>K = 5</c:v>
                  </c:pt>
                  <c:pt idx="1">
                    <c:v>K = 10</c:v>
                  </c:pt>
                  <c:pt idx="2">
                    <c:v>K = 20</c:v>
                  </c:pt>
                </c:lvl>
              </c:multiLvlStrCache>
            </c:multiLvlStrRef>
          </c:cat>
          <c:val>
            <c:numRef>
              <c:f>Sheet1!$D$2:$D$4</c:f>
              <c:numCache>
                <c:formatCode>General</c:formatCode>
                <c:ptCount val="3"/>
                <c:pt idx="0">
                  <c:v>0.0127949186</c:v>
                </c:pt>
                <c:pt idx="1">
                  <c:v>0.0184889446</c:v>
                </c:pt>
                <c:pt idx="2">
                  <c:v>0.0235170858</c:v>
                </c:pt>
              </c:numCache>
            </c:numRef>
          </c:val>
        </c:ser>
        <c:dLbls>
          <c:numFmt formatCode="0.000" sourceLinked="0"/>
          <c:txPr>
            <a:bodyPr/>
            <a:lstStyle/>
            <a:p>
              <a:pPr>
                <a:defRPr b="0" i="0" strike="noStrike" sz="900" u="none">
                  <a:solidFill>
                    <a:srgbClr val="1F1B2B"/>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4458"/>
                </a:solidFill>
                <a:latin typeface="+mn-lt"/>
              </a:defRPr>
            </a:pPr>
            <a:endParaRPr lang="en-US"/>
          </a:p>
        </c:txPr>
        <c:crossAx val="2094734552"/>
        <c:crosses val="autoZero"/>
        <c:auto val="1"/>
        <c:lblAlgn val="ctr"/>
        <c:noMultiLvlLbl val="1"/>
      </c:catAx>
      <c:valAx>
        <c:axId val="2094734552"/>
        <c:scaling>
          <c:orientation val="minMax"/>
          <c:max val="0.04"/>
          <c:min val="0"/>
        </c:scaling>
        <c:delete val="0"/>
        <c:axPos val="l"/>
        <c:majorGridlines>
          <c:spPr>
            <a:ln w="9525" cap="flat">
              <a:solidFill>
                <a:srgbClr val="E4DCC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000" b="0" i="0" u="none" strike="noStrike">
                <a:solidFill>
                  <a:srgbClr val="4A4458"/>
                </a:solidFill>
                <a:latin typeface="+mn-lt"/>
              </a:defRPr>
            </a:pPr>
            <a:endParaRPr lang="en-US"/>
          </a:p>
        </c:txPr>
        <c:crossAx val="2094734554"/>
        <c:crosses val="autoZero"/>
        <c:crossBetween val="between"/>
        <c:majorUnit val="0.01"/>
      </c:valAx>
      <c:spPr>
        <a:noFill/>
        <a:ln>
          <a:noFill/>
        </a:ln>
        <a:effectLst/>
      </c:spPr>
    </c:plotArea>
    <c:legend>
      <c:legendPos val="b"/>
      <c:overlay val="0"/>
      <c:txPr>
        <a:bodyPr/>
        <a:lstStyle/>
        <a:p>
          <a:pPr>
            <a:defRPr sz="1100">
              <a:solidFill>
                <a:srgbClr val="4A445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1B2B"/>
                </a:solidFill>
                <a:latin typeface="+mn-lt"/>
              </a:defRPr>
            </a:pPr>
            <a:r>
              <a:rPr sz="1100" b="0" i="0" u="none" strike="noStrike">
                <a:solidFill>
                  <a:srgbClr val="1F1B2B"/>
                </a:solidFill>
                <a:latin typeface="+mn-lt"/>
              </a:rPr>
              <a:t>RMSE (lower is better)</a:t>
            </a:r>
          </a:p>
        </c:rich>
      </c:tx>
      <c:layout/>
      <c:overlay val="0"/>
    </c:title>
    <c:autoTitleDeleted val="0"/>
    <c:plotArea>
      <c:layout/>
      <c:barChart>
        <c:barDir val="col"/>
        <c:grouping val="clustered"/>
        <c:varyColors val="0"/>
        <c:ser>
          <c:idx val="0"/>
          <c:order val="0"/>
          <c:tx>
            <c:strRef>
              <c:f>Sheet1!$B$1</c:f>
              <c:strCache>
                <c:ptCount val="1"/>
                <c:pt idx="0">
                  <c:v>RMSE</c:v>
                </c:pt>
              </c:strCache>
            </c:strRef>
          </c:tx>
          <c:spPr>
            <a:solidFill>
              <a:srgbClr val="8C8799"/>
            </a:solidFill>
            <a:effectLst/>
          </c:spPr>
          <c:invertIfNegative val="0"/>
          <c:dLbls>
            <c:numFmt formatCode="0.000" sourceLinked="0"/>
            <c:txPr>
              <a:bodyPr/>
              <a:lstStyle/>
              <a:p>
                <a:pPr>
                  <a:defRPr b="0" i="0" strike="noStrike" sz="1000" u="none">
                    <a:solidFill>
                      <a:srgbClr val="1F1B2B"/>
                    </a:solidFill>
                    <a:latin typeface="+mn-lt"/>
                  </a:defRPr>
                </a:pPr>
              </a:p>
            </c:txPr>
            <c:showLegendKey val="0"/>
            <c:showVal val="1"/>
            <c:showCatName val="0"/>
            <c:showSerName val="0"/>
            <c:showPercent val="0"/>
            <c:showBubbleSize val="0"/>
            <c:showLeaderLines val="0"/>
          </c:dLbls>
          <c:dPt>
            <c:idx val="0"/>
            <c:invertIfNegative val="0"/>
            <c:bubble3D val="0"/>
            <c:spPr>
              <a:solidFill>
                <a:srgbClr val="8C8799"/>
              </a:solidFill>
              <a:effectLst/>
            </c:spPr>
          </c:dPt>
          <c:dPt>
            <c:idx val="1"/>
            <c:invertIfNegative val="0"/>
            <c:bubble3D val="0"/>
            <c:spPr>
              <a:solidFill>
                <a:srgbClr val="2A7F8E"/>
              </a:solidFill>
              <a:effectLst/>
            </c:spPr>
          </c:dPt>
          <c:cat>
            <c:multiLvlStrRef>
              <c:f>Sheet1!$A$2:$A$3</c:f>
              <c:multiLvlStrCache>
                <c:ptCount val="2"/>
                <c:lvl>
                  <c:pt idx="0">
                    <c:v>Bias only</c:v>
                  </c:pt>
                  <c:pt idx="1">
                    <c:v>MF</c:v>
                  </c:pt>
                </c:lvl>
              </c:multiLvlStrCache>
            </c:multiLvlStrRef>
          </c:cat>
          <c:val>
            <c:numRef>
              <c:f>Sheet1!$B$2:$B$3</c:f>
              <c:numCache>
                <c:formatCode>General</c:formatCode>
                <c:ptCount val="2"/>
                <c:pt idx="0">
                  <c:v>0.9293220046</c:v>
                </c:pt>
                <c:pt idx="1">
                  <c:v>0.8983807739</c:v>
                </c:pt>
              </c:numCache>
            </c:numRef>
          </c:val>
        </c:ser>
        <c:dLbls>
          <c:numFmt formatCode="0.000" sourceLinked="0"/>
          <c:txPr>
            <a:bodyPr/>
            <a:lstStyle/>
            <a:p>
              <a:pPr>
                <a:defRPr b="0" i="0" strike="noStrike" sz="1000" u="none">
                  <a:solidFill>
                    <a:srgbClr val="1F1B2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4458"/>
                </a:solidFill>
                <a:latin typeface="+mn-lt"/>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9525" cap="flat">
              <a:solidFill>
                <a:srgbClr val="E4DCCB"/>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4A4458"/>
                </a:solidFill>
                <a:latin typeface="+mn-lt"/>
              </a:defRPr>
            </a:pPr>
            <a:endParaRPr lang="en-US"/>
          </a:p>
        </c:txPr>
        <c:crossAx val="2094734554"/>
        <c:crosses val="autoZero"/>
        <c:crossBetween val="between"/>
        <c:majorUnit val="0.4"/>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1B2B"/>
                </a:solidFill>
                <a:latin typeface="+mn-lt"/>
              </a:defRPr>
            </a:pPr>
            <a:r>
              <a:rPr sz="1100" b="0" i="0" u="none" strike="noStrike">
                <a:solidFill>
                  <a:srgbClr val="1F1B2B"/>
                </a:solidFill>
                <a:latin typeface="+mn-lt"/>
              </a:rPr>
              <a:t>NDCG@10 (higher is better)</a:t>
            </a:r>
          </a:p>
        </c:rich>
      </c:tx>
      <c:layout/>
      <c:overlay val="0"/>
    </c:title>
    <c:autoTitleDeleted val="0"/>
    <c:plotArea>
      <c:layout/>
      <c:barChart>
        <c:barDir val="col"/>
        <c:grouping val="clustered"/>
        <c:varyColors val="0"/>
        <c:ser>
          <c:idx val="0"/>
          <c:order val="0"/>
          <c:tx>
            <c:strRef>
              <c:f>Sheet1!$B$1</c:f>
              <c:strCache>
                <c:ptCount val="1"/>
                <c:pt idx="0">
                  <c:v>NDCG@10</c:v>
                </c:pt>
              </c:strCache>
            </c:strRef>
          </c:tx>
          <c:spPr>
            <a:solidFill>
              <a:srgbClr val="8C8799"/>
            </a:solidFill>
            <a:effectLst/>
          </c:spPr>
          <c:invertIfNegative val="0"/>
          <c:dLbls>
            <c:numFmt formatCode="0.000" sourceLinked="0"/>
            <c:txPr>
              <a:bodyPr/>
              <a:lstStyle/>
              <a:p>
                <a:pPr>
                  <a:defRPr b="0" i="0" strike="noStrike" sz="1000" u="none">
                    <a:solidFill>
                      <a:srgbClr val="1F1B2B"/>
                    </a:solidFill>
                    <a:latin typeface="+mn-lt"/>
                  </a:defRPr>
                </a:pPr>
              </a:p>
            </c:txPr>
            <c:showLegendKey val="0"/>
            <c:showVal val="1"/>
            <c:showCatName val="0"/>
            <c:showSerName val="0"/>
            <c:showPercent val="0"/>
            <c:showBubbleSize val="0"/>
            <c:showLeaderLines val="0"/>
          </c:dLbls>
          <c:dPt>
            <c:idx val="0"/>
            <c:invertIfNegative val="0"/>
            <c:bubble3D val="0"/>
            <c:spPr>
              <a:solidFill>
                <a:srgbClr val="8C8799"/>
              </a:solidFill>
              <a:effectLst/>
            </c:spPr>
          </c:dPt>
          <c:dPt>
            <c:idx val="1"/>
            <c:invertIfNegative val="0"/>
            <c:bubble3D val="0"/>
            <c:spPr>
              <a:solidFill>
                <a:srgbClr val="2A7F8E"/>
              </a:solidFill>
              <a:effectLst/>
            </c:spPr>
          </c:dPt>
          <c:cat>
            <c:multiLvlStrRef>
              <c:f>Sheet1!$A$2:$A$3</c:f>
              <c:multiLvlStrCache>
                <c:ptCount val="2"/>
                <c:lvl>
                  <c:pt idx="0">
                    <c:v>Bias only</c:v>
                  </c:pt>
                  <c:pt idx="1">
                    <c:v>MF</c:v>
                  </c:pt>
                </c:lvl>
              </c:multiLvlStrCache>
            </c:multiLvlStrRef>
          </c:cat>
          <c:val>
            <c:numRef>
              <c:f>Sheet1!$B$2:$B$3</c:f>
              <c:numCache>
                <c:formatCode>General</c:formatCode>
                <c:ptCount val="2"/>
                <c:pt idx="0">
                  <c:v>0.0523204011</c:v>
                </c:pt>
                <c:pt idx="1">
                  <c:v>0.0273735858</c:v>
                </c:pt>
              </c:numCache>
            </c:numRef>
          </c:val>
        </c:ser>
        <c:dLbls>
          <c:numFmt formatCode="0.000" sourceLinked="0"/>
          <c:txPr>
            <a:bodyPr/>
            <a:lstStyle/>
            <a:p>
              <a:pPr>
                <a:defRPr b="0" i="0" strike="noStrike" sz="1000" u="none">
                  <a:solidFill>
                    <a:srgbClr val="1F1B2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4458"/>
                </a:solidFill>
                <a:latin typeface="+mn-lt"/>
              </a:defRPr>
            </a:pPr>
            <a:endParaRPr lang="en-US"/>
          </a:p>
        </c:txPr>
        <c:crossAx val="2094734552"/>
        <c:crosses val="autoZero"/>
        <c:auto val="1"/>
        <c:lblAlgn val="ctr"/>
        <c:noMultiLvlLbl val="1"/>
      </c:catAx>
      <c:valAx>
        <c:axId val="2094734552"/>
        <c:scaling>
          <c:orientation val="minMax"/>
          <c:max val="0.06"/>
          <c:min val="0"/>
        </c:scaling>
        <c:delete val="0"/>
        <c:axPos val="l"/>
        <c:majorGridlines>
          <c:spPr>
            <a:ln w="9525" cap="flat">
              <a:solidFill>
                <a:srgbClr val="E4DCC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000" b="0" i="0" u="none" strike="noStrike">
                <a:solidFill>
                  <a:srgbClr val="4A4458"/>
                </a:solidFill>
                <a:latin typeface="+mn-lt"/>
              </a:defRPr>
            </a:pPr>
            <a:endParaRPr lang="en-US"/>
          </a:p>
        </c:txPr>
        <c:crossAx val="2094734554"/>
        <c:crosses val="autoZero"/>
        <c:crossBetween val="between"/>
        <c:majorUnit val="0.02"/>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1B2B"/>
                </a:solidFill>
                <a:latin typeface="+mn-lt"/>
              </a:defRPr>
            </a:pPr>
            <a:r>
              <a:rPr sz="1200" b="0" i="0" u="none" strike="noStrike">
                <a:solidFill>
                  <a:srgbClr val="1F1B2B"/>
                </a:solidFill>
                <a:latin typeface="+mn-lt"/>
              </a:rPr>
              <a:t>NDCG@10 vs interactions the new user has (148 simulated cold users)</a:t>
            </a:r>
          </a:p>
        </c:rich>
      </c:tx>
      <c:layout/>
      <c:overlay val="0"/>
    </c:title>
    <c:autoTitleDeleted val="0"/>
    <c:plotArea>
      <c:layout/>
      <c:lineChart>
        <c:varyColors val="0"/>
        <c:ser>
          <c:idx val="0"/>
          <c:order val="0"/>
          <c:tx>
            <c:strRef>
              <c:f>Sheet1!$B$1</c:f>
              <c:strCache>
                <c:ptCount val="1"/>
                <c:pt idx="0">
                  <c:v>Popularity</c:v>
                </c:pt>
              </c:strCache>
            </c:strRef>
          </c:tx>
          <c:spPr>
            <a:solidFill>
              <a:srgbClr val="D1495B"/>
            </a:solidFill>
            <a:ln w="38100" cap="flat">
              <a:solidFill>
                <a:srgbClr val="D1495B"/>
              </a:solidFill>
              <a:prstDash val="solid"/>
              <a:round/>
            </a:ln>
            <a:effectLst/>
          </c:spPr>
          <c:invertIfNegative val="0"/>
          <c:dLbls>
            <c:numFmt formatCode="#,##0" sourceLinked="0"/>
            <c:txPr>
              <a:bodyPr/>
              <a:lstStyle/>
              <a:p>
                <a:pPr>
                  <a:defRPr b="0" i="0" strike="noStrike" sz="1000" u="none">
                    <a:solidFill>
                      <a:srgbClr val="1F1B2B"/>
                    </a:solidFill>
                    <a:latin typeface="+mn-lt"/>
                  </a:defRPr>
                </a:pPr>
              </a:p>
            </c:txPr>
            <c:showLegendKey val="0"/>
            <c:showVal val="0"/>
            <c:showCatName val="0"/>
            <c:showSerName val="0"/>
            <c:showPercent val="0"/>
            <c:showBubbleSize val="0"/>
            <c:showLeaderLines val="0"/>
          </c:dLbls>
          <c:marker>
            <c:symbol val="circle"/>
            <c:size val="7"/>
            <c:spPr>
              <a:solidFill>
                <a:srgbClr val="D1495B"/>
              </a:solidFill>
              <a:ln w="9525" cap="flat">
                <a:solidFill>
                  <a:srgbClr val="D1495B"/>
                </a:solidFill>
                <a:prstDash val="solid"/>
                <a:round/>
              </a:ln>
              <a:effectLst/>
            </c:spPr>
          </c:marker>
          <c:cat>
            <c:multiLvlStrRef>
              <c:f>Sheet1!$A$2:$A$9</c:f>
              <c:multiLvlStrCache>
                <c:ptCount val="8"/>
                <c:lvl>
                  <c:pt idx="0">
                    <c:v>1</c:v>
                  </c:pt>
                  <c:pt idx="1">
                    <c:v>2</c:v>
                  </c:pt>
                  <c:pt idx="2">
                    <c:v>3</c:v>
                  </c:pt>
                  <c:pt idx="3">
                    <c:v>5</c:v>
                  </c:pt>
                  <c:pt idx="4">
                    <c:v>10</c:v>
                  </c:pt>
                  <c:pt idx="5">
                    <c:v>20</c:v>
                  </c:pt>
                  <c:pt idx="6">
                    <c:v>50</c:v>
                  </c:pt>
                  <c:pt idx="7">
                    <c:v>All</c:v>
                  </c:pt>
                </c:lvl>
              </c:multiLvlStrCache>
            </c:multiLvlStrRef>
          </c:cat>
          <c:val>
            <c:numRef>
              <c:f>Sheet1!$B$2:$B$9</c:f>
              <c:numCache>
                <c:formatCode>General</c:formatCode>
                <c:ptCount val="8"/>
                <c:pt idx="0">
                  <c:v>0.0683907798</c:v>
                </c:pt>
                <c:pt idx="1">
                  <c:v>0.0683907798</c:v>
                </c:pt>
                <c:pt idx="2">
                  <c:v>0.0683907798</c:v>
                </c:pt>
                <c:pt idx="3">
                  <c:v>0.0683907798</c:v>
                </c:pt>
                <c:pt idx="4">
                  <c:v>0.0683907798</c:v>
                </c:pt>
                <c:pt idx="5">
                  <c:v>0.0683907798</c:v>
                </c:pt>
                <c:pt idx="6">
                  <c:v>0.0683907798</c:v>
                </c:pt>
                <c:pt idx="7">
                  <c:v>0.0683907798</c:v>
                </c:pt>
              </c:numCache>
            </c:numRef>
          </c:val>
          <c:smooth val="0"/>
        </c:ser>
        <c:ser>
          <c:idx val="1"/>
          <c:order val="1"/>
          <c:tx>
            <c:strRef>
              <c:f>Sheet1!$C$1</c:f>
              <c:strCache>
                <c:ptCount val="1"/>
                <c:pt idx="0">
                  <c:v>Matrix factorization</c:v>
                </c:pt>
              </c:strCache>
            </c:strRef>
          </c:tx>
          <c:spPr>
            <a:solidFill>
              <a:srgbClr val="2A7F8E"/>
            </a:solidFill>
            <a:ln w="38100" cap="flat">
              <a:solidFill>
                <a:srgbClr val="2A7F8E"/>
              </a:solidFill>
              <a:prstDash val="solid"/>
              <a:round/>
            </a:ln>
            <a:effectLst/>
          </c:spPr>
          <c:invertIfNegative val="0"/>
          <c:dLbls>
            <c:numFmt formatCode="#,##0" sourceLinked="0"/>
            <c:txPr>
              <a:bodyPr/>
              <a:lstStyle/>
              <a:p>
                <a:pPr>
                  <a:defRPr b="0" i="0" strike="noStrike" sz="1000" u="none">
                    <a:solidFill>
                      <a:srgbClr val="1F1B2B"/>
                    </a:solidFill>
                    <a:latin typeface="+mn-lt"/>
                  </a:defRPr>
                </a:pPr>
              </a:p>
            </c:txPr>
            <c:showLegendKey val="0"/>
            <c:showVal val="0"/>
            <c:showCatName val="0"/>
            <c:showSerName val="0"/>
            <c:showPercent val="0"/>
            <c:showBubbleSize val="0"/>
            <c:showLeaderLines val="0"/>
          </c:dLbls>
          <c:marker>
            <c:symbol val="circle"/>
            <c:size val="7"/>
            <c:spPr>
              <a:solidFill>
                <a:srgbClr val="2A7F8E"/>
              </a:solidFill>
              <a:ln w="9525" cap="flat">
                <a:solidFill>
                  <a:srgbClr val="2A7F8E"/>
                </a:solidFill>
                <a:prstDash val="solid"/>
                <a:round/>
              </a:ln>
              <a:effectLst/>
            </c:spPr>
          </c:marker>
          <c:cat>
            <c:multiLvlStrRef>
              <c:f>Sheet1!$A$2:$A$9</c:f>
              <c:multiLvlStrCache>
                <c:ptCount val="8"/>
                <c:lvl>
                  <c:pt idx="0">
                    <c:v>1</c:v>
                  </c:pt>
                  <c:pt idx="1">
                    <c:v>2</c:v>
                  </c:pt>
                  <c:pt idx="2">
                    <c:v>3</c:v>
                  </c:pt>
                  <c:pt idx="3">
                    <c:v>5</c:v>
                  </c:pt>
                  <c:pt idx="4">
                    <c:v>10</c:v>
                  </c:pt>
                  <c:pt idx="5">
                    <c:v>20</c:v>
                  </c:pt>
                  <c:pt idx="6">
                    <c:v>50</c:v>
                  </c:pt>
                  <c:pt idx="7">
                    <c:v>All</c:v>
                  </c:pt>
                </c:lvl>
              </c:multiLvlStrCache>
            </c:multiLvlStrRef>
          </c:cat>
          <c:val>
            <c:numRef>
              <c:f>Sheet1!$C$2:$C$9</c:f>
              <c:numCache>
                <c:formatCode>General</c:formatCode>
                <c:ptCount val="8"/>
                <c:pt idx="0">
                  <c:v>0.0493102239</c:v>
                </c:pt>
                <c:pt idx="1">
                  <c:v>0.0290645781</c:v>
                </c:pt>
                <c:pt idx="2">
                  <c:v>0.0315042623</c:v>
                </c:pt>
                <c:pt idx="3">
                  <c:v>0.0281228754</c:v>
                </c:pt>
                <c:pt idx="4">
                  <c:v>0.0240137638</c:v>
                </c:pt>
                <c:pt idx="5">
                  <c:v>0.0318396004</c:v>
                </c:pt>
                <c:pt idx="6">
                  <c:v>0.0390919043</c:v>
                </c:pt>
                <c:pt idx="7">
                  <c:v>0.0426594356</c:v>
                </c:pt>
              </c:numCache>
            </c:numRef>
          </c:val>
          <c:smooth val="0"/>
        </c:ser>
        <c:ser>
          <c:idx val="2"/>
          <c:order val="2"/>
          <c:tx>
            <c:strRef>
              <c:f>Sheet1!$D$1</c:f>
              <c:strCache>
                <c:ptCount val="1"/>
                <c:pt idx="0">
                  <c:v>Content-based</c:v>
                </c:pt>
              </c:strCache>
            </c:strRef>
          </c:tx>
          <c:spPr>
            <a:solidFill>
              <a:srgbClr val="E8A33D"/>
            </a:solidFill>
            <a:ln w="38100" cap="flat">
              <a:solidFill>
                <a:srgbClr val="E8A33D"/>
              </a:solidFill>
              <a:prstDash val="solid"/>
              <a:round/>
            </a:ln>
            <a:effectLst/>
          </c:spPr>
          <c:invertIfNegative val="0"/>
          <c:dLbls>
            <c:numFmt formatCode="#,##0" sourceLinked="0"/>
            <c:txPr>
              <a:bodyPr/>
              <a:lstStyle/>
              <a:p>
                <a:pPr>
                  <a:defRPr b="0" i="0" strike="noStrike" sz="1000" u="none">
                    <a:solidFill>
                      <a:srgbClr val="1F1B2B"/>
                    </a:solidFill>
                    <a:latin typeface="+mn-lt"/>
                  </a:defRPr>
                </a:pPr>
              </a:p>
            </c:txPr>
            <c:showLegendKey val="0"/>
            <c:showVal val="0"/>
            <c:showCatName val="0"/>
            <c:showSerName val="0"/>
            <c:showPercent val="0"/>
            <c:showBubbleSize val="0"/>
            <c:showLeaderLines val="0"/>
          </c:dLbls>
          <c:marker>
            <c:symbol val="circle"/>
            <c:size val="7"/>
            <c:spPr>
              <a:solidFill>
                <a:srgbClr val="E8A33D"/>
              </a:solidFill>
              <a:ln w="9525" cap="flat">
                <a:solidFill>
                  <a:srgbClr val="E8A33D"/>
                </a:solidFill>
                <a:prstDash val="solid"/>
                <a:round/>
              </a:ln>
              <a:effectLst/>
            </c:spPr>
          </c:marker>
          <c:cat>
            <c:multiLvlStrRef>
              <c:f>Sheet1!$A$2:$A$9</c:f>
              <c:multiLvlStrCache>
                <c:ptCount val="8"/>
                <c:lvl>
                  <c:pt idx="0">
                    <c:v>1</c:v>
                  </c:pt>
                  <c:pt idx="1">
                    <c:v>2</c:v>
                  </c:pt>
                  <c:pt idx="2">
                    <c:v>3</c:v>
                  </c:pt>
                  <c:pt idx="3">
                    <c:v>5</c:v>
                  </c:pt>
                  <c:pt idx="4">
                    <c:v>10</c:v>
                  </c:pt>
                  <c:pt idx="5">
                    <c:v>20</c:v>
                  </c:pt>
                  <c:pt idx="6">
                    <c:v>50</c:v>
                  </c:pt>
                  <c:pt idx="7">
                    <c:v>All</c:v>
                  </c:pt>
                </c:lvl>
              </c:multiLvlStrCache>
            </c:multiLvlStrRef>
          </c:cat>
          <c:val>
            <c:numRef>
              <c:f>Sheet1!$D$2:$D$9</c:f>
              <c:numCache>
                <c:formatCode>General</c:formatCode>
                <c:ptCount val="8"/>
                <c:pt idx="0">
                  <c:v>0.0061726529</c:v>
                </c:pt>
                <c:pt idx="1">
                  <c:v>0.0057171823</c:v>
                </c:pt>
                <c:pt idx="2">
                  <c:v>0.0028633053</c:v>
                </c:pt>
                <c:pt idx="3">
                  <c:v>0.0083187004</c:v>
                </c:pt>
                <c:pt idx="4">
                  <c:v>0.0114573226</c:v>
                </c:pt>
                <c:pt idx="5">
                  <c:v>0.0104584168</c:v>
                </c:pt>
                <c:pt idx="6">
                  <c:v>0.0138899969</c:v>
                </c:pt>
                <c:pt idx="7">
                  <c:v>0.0165715394</c:v>
                </c:pt>
              </c:numCache>
            </c:numRef>
          </c:val>
          <c:smooth val="0"/>
        </c:ser>
        <c:dLbls>
          <c:numFmt formatCode="#,##0" sourceLinked="0"/>
          <c:txPr>
            <a:bodyPr/>
            <a:lstStyle/>
            <a:p>
              <a:pPr>
                <a:defRPr b="0" i="0" strike="noStrike" sz="1000" u="none">
                  <a:solidFill>
                    <a:srgbClr val="1F1B2B"/>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4A4458"/>
                    </a:solidFill>
                    <a:latin typeface="Arial"/>
                  </a:defRPr>
                </a:pPr>
                <a:r>
                  <a:rPr sz="1000" b="0" i="0" u="none" strike="noStrike">
                    <a:solidFill>
                      <a:srgbClr val="4A4458"/>
                    </a:solidFill>
                    <a:latin typeface="Arial"/>
                  </a:rPr>
                  <a:t>Interactions kept (first N ratings)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4458"/>
                </a:solidFill>
                <a:latin typeface="+mn-lt"/>
              </a:defRPr>
            </a:pPr>
            <a:endParaRPr lang="en-US"/>
          </a:p>
        </c:txPr>
        <c:crossAx val="2094734552"/>
        <c:crosses val="autoZero"/>
        <c:auto val="1"/>
        <c:lblAlgn val="ctr"/>
        <c:noMultiLvlLbl val="1"/>
      </c:catAx>
      <c:valAx>
        <c:axId val="2094734552"/>
        <c:scaling>
          <c:orientation val="minMax"/>
          <c:max val="0.08"/>
          <c:min val="0"/>
        </c:scaling>
        <c:delete val="0"/>
        <c:axPos val="l"/>
        <c:majorGridlines>
          <c:spPr>
            <a:ln w="9525" cap="flat">
              <a:solidFill>
                <a:srgbClr val="E4DCC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000" b="0" i="0" u="none" strike="noStrike">
                <a:solidFill>
                  <a:srgbClr val="4A4458"/>
                </a:solidFill>
                <a:latin typeface="+mn-lt"/>
              </a:defRPr>
            </a:pPr>
            <a:endParaRPr lang="en-US"/>
          </a:p>
        </c:txPr>
        <c:crossAx val="2094734554"/>
        <c:crosses val="autoZero"/>
        <c:crossBetween val="between"/>
        <c:majorUnit val="0.02"/>
      </c:valAx>
      <c:spPr>
        <a:noFill/>
        <a:ln>
          <a:noFill/>
        </a:ln>
        <a:effectLst/>
      </c:spPr>
    </c:plotArea>
    <c:legend>
      <c:legendPos val="b"/>
      <c:overlay val="0"/>
      <c:txPr>
        <a:bodyPr/>
        <a:lstStyle/>
        <a:p>
          <a:pPr>
            <a:defRPr sz="1100">
              <a:solidFill>
                <a:srgbClr val="4A445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1B2B"/>
                </a:solidFill>
                <a:latin typeface="+mn-lt"/>
              </a:defRPr>
            </a:pPr>
            <a:r>
              <a:rPr sz="1200" b="0" i="0" u="none" strike="noStrike">
                <a:solidFill>
                  <a:srgbClr val="1F1B2B"/>
                </a:solidFill>
                <a:latin typeface="+mn-lt"/>
              </a:rPr>
              <a:t>New system: NDCG@10 vs share of training data</a:t>
            </a:r>
          </a:p>
        </c:rich>
      </c:tx>
      <c:layout/>
      <c:overlay val="0"/>
    </c:title>
    <c:autoTitleDeleted val="0"/>
    <c:plotArea>
      <c:layout/>
      <c:lineChart>
        <c:varyColors val="0"/>
        <c:ser>
          <c:idx val="0"/>
          <c:order val="0"/>
          <c:tx>
            <c:strRef>
              <c:f>Sheet1!$B$1</c:f>
              <c:strCache>
                <c:ptCount val="1"/>
                <c:pt idx="0">
                  <c:v>Popularity</c:v>
                </c:pt>
              </c:strCache>
            </c:strRef>
          </c:tx>
          <c:spPr>
            <a:solidFill>
              <a:srgbClr val="D1495B"/>
            </a:solidFill>
            <a:ln w="38100" cap="flat">
              <a:solidFill>
                <a:srgbClr val="D1495B"/>
              </a:solidFill>
              <a:prstDash val="solid"/>
              <a:round/>
            </a:ln>
            <a:effectLst/>
          </c:spPr>
          <c:invertIfNegative val="0"/>
          <c:dLbls>
            <c:numFmt formatCode="#,##0" sourceLinked="0"/>
            <c:txPr>
              <a:bodyPr/>
              <a:lstStyle/>
              <a:p>
                <a:pPr>
                  <a:defRPr b="0" i="0" strike="noStrike" sz="1000" u="none">
                    <a:solidFill>
                      <a:srgbClr val="1F1B2B"/>
                    </a:solidFill>
                    <a:latin typeface="+mn-lt"/>
                  </a:defRPr>
                </a:pPr>
              </a:p>
            </c:txPr>
            <c:showLegendKey val="0"/>
            <c:showVal val="0"/>
            <c:showCatName val="0"/>
            <c:showSerName val="0"/>
            <c:showPercent val="0"/>
            <c:showBubbleSize val="0"/>
            <c:showLeaderLines val="0"/>
          </c:dLbls>
          <c:marker>
            <c:symbol val="circle"/>
            <c:size val="6"/>
            <c:spPr>
              <a:solidFill>
                <a:srgbClr val="D1495B"/>
              </a:solidFill>
              <a:ln w="9525" cap="flat">
                <a:solidFill>
                  <a:srgbClr val="D1495B"/>
                </a:solidFill>
                <a:prstDash val="solid"/>
                <a:round/>
              </a:ln>
              <a:effectLst/>
            </c:spPr>
          </c:marker>
          <c:cat>
            <c:multiLvlStrRef>
              <c:f>Sheet1!$A$2:$A$7</c:f>
              <c:multiLvlStrCache>
                <c:ptCount val="6"/>
                <c:lvl>
                  <c:pt idx="0">
                    <c:v>2%</c:v>
                  </c:pt>
                  <c:pt idx="1">
                    <c:v>5%</c:v>
                  </c:pt>
                  <c:pt idx="2">
                    <c:v>10%</c:v>
                  </c:pt>
                  <c:pt idx="3">
                    <c:v>25%</c:v>
                  </c:pt>
                  <c:pt idx="4">
                    <c:v>50%</c:v>
                  </c:pt>
                  <c:pt idx="5">
                    <c:v>100%</c:v>
                  </c:pt>
                </c:lvl>
              </c:multiLvlStrCache>
            </c:multiLvlStrRef>
          </c:cat>
          <c:val>
            <c:numRef>
              <c:f>Sheet1!$B$2:$B$7</c:f>
              <c:numCache>
                <c:formatCode>General</c:formatCode>
                <c:ptCount val="6"/>
                <c:pt idx="0">
                  <c:v>0.0465270811</c:v>
                </c:pt>
                <c:pt idx="1">
                  <c:v>0.0547134245</c:v>
                </c:pt>
                <c:pt idx="2">
                  <c:v>0.0625484627</c:v>
                </c:pt>
                <c:pt idx="3">
                  <c:v>0.066369186</c:v>
                </c:pt>
                <c:pt idx="4">
                  <c:v>0.0686080106</c:v>
                </c:pt>
                <c:pt idx="5">
                  <c:v>0.0719363537</c:v>
                </c:pt>
              </c:numCache>
            </c:numRef>
          </c:val>
          <c:smooth val="0"/>
        </c:ser>
        <c:ser>
          <c:idx val="1"/>
          <c:order val="1"/>
          <c:tx>
            <c:strRef>
              <c:f>Sheet1!$C$1</c:f>
              <c:strCache>
                <c:ptCount val="1"/>
                <c:pt idx="0">
                  <c:v>Matrix factorization</c:v>
                </c:pt>
              </c:strCache>
            </c:strRef>
          </c:tx>
          <c:spPr>
            <a:solidFill>
              <a:srgbClr val="2A7F8E"/>
            </a:solidFill>
            <a:ln w="38100" cap="flat">
              <a:solidFill>
                <a:srgbClr val="2A7F8E"/>
              </a:solidFill>
              <a:prstDash val="solid"/>
              <a:round/>
            </a:ln>
            <a:effectLst/>
          </c:spPr>
          <c:invertIfNegative val="0"/>
          <c:dLbls>
            <c:numFmt formatCode="#,##0" sourceLinked="0"/>
            <c:txPr>
              <a:bodyPr/>
              <a:lstStyle/>
              <a:p>
                <a:pPr>
                  <a:defRPr b="0" i="0" strike="noStrike" sz="1000" u="none">
                    <a:solidFill>
                      <a:srgbClr val="1F1B2B"/>
                    </a:solidFill>
                    <a:latin typeface="+mn-lt"/>
                  </a:defRPr>
                </a:pPr>
              </a:p>
            </c:txPr>
            <c:showLegendKey val="0"/>
            <c:showVal val="0"/>
            <c:showCatName val="0"/>
            <c:showSerName val="0"/>
            <c:showPercent val="0"/>
            <c:showBubbleSize val="0"/>
            <c:showLeaderLines val="0"/>
          </c:dLbls>
          <c:marker>
            <c:symbol val="circle"/>
            <c:size val="6"/>
            <c:spPr>
              <a:solidFill>
                <a:srgbClr val="2A7F8E"/>
              </a:solidFill>
              <a:ln w="9525" cap="flat">
                <a:solidFill>
                  <a:srgbClr val="2A7F8E"/>
                </a:solidFill>
                <a:prstDash val="solid"/>
                <a:round/>
              </a:ln>
              <a:effectLst/>
            </c:spPr>
          </c:marker>
          <c:cat>
            <c:multiLvlStrRef>
              <c:f>Sheet1!$A$2:$A$7</c:f>
              <c:multiLvlStrCache>
                <c:ptCount val="6"/>
                <c:lvl>
                  <c:pt idx="0">
                    <c:v>2%</c:v>
                  </c:pt>
                  <c:pt idx="1">
                    <c:v>5%</c:v>
                  </c:pt>
                  <c:pt idx="2">
                    <c:v>10%</c:v>
                  </c:pt>
                  <c:pt idx="3">
                    <c:v>25%</c:v>
                  </c:pt>
                  <c:pt idx="4">
                    <c:v>50%</c:v>
                  </c:pt>
                  <c:pt idx="5">
                    <c:v>100%</c:v>
                  </c:pt>
                </c:lvl>
              </c:multiLvlStrCache>
            </c:multiLvlStrRef>
          </c:cat>
          <c:val>
            <c:numRef>
              <c:f>Sheet1!$C$2:$C$7</c:f>
              <c:numCache>
                <c:formatCode>General</c:formatCode>
                <c:ptCount val="6"/>
                <c:pt idx="0">
                  <c:v>0.0213611182</c:v>
                </c:pt>
                <c:pt idx="1">
                  <c:v>0.0151747631</c:v>
                </c:pt>
                <c:pt idx="2">
                  <c:v>0.0184625629</c:v>
                </c:pt>
                <c:pt idx="3">
                  <c:v>0.0234333456</c:v>
                </c:pt>
                <c:pt idx="4">
                  <c:v>0.0245884411</c:v>
                </c:pt>
                <c:pt idx="5">
                  <c:v>0.0273735858</c:v>
                </c:pt>
              </c:numCache>
            </c:numRef>
          </c:val>
          <c:smooth val="0"/>
        </c:ser>
        <c:ser>
          <c:idx val="2"/>
          <c:order val="2"/>
          <c:tx>
            <c:strRef>
              <c:f>Sheet1!$D$1</c:f>
              <c:strCache>
                <c:ptCount val="1"/>
                <c:pt idx="0">
                  <c:v>Content-based</c:v>
                </c:pt>
              </c:strCache>
            </c:strRef>
          </c:tx>
          <c:spPr>
            <a:solidFill>
              <a:srgbClr val="E8A33D"/>
            </a:solidFill>
            <a:ln w="38100" cap="flat">
              <a:solidFill>
                <a:srgbClr val="E8A33D"/>
              </a:solidFill>
              <a:prstDash val="solid"/>
              <a:round/>
            </a:ln>
            <a:effectLst/>
          </c:spPr>
          <c:invertIfNegative val="0"/>
          <c:dLbls>
            <c:numFmt formatCode="#,##0" sourceLinked="0"/>
            <c:txPr>
              <a:bodyPr/>
              <a:lstStyle/>
              <a:p>
                <a:pPr>
                  <a:defRPr b="0" i="0" strike="noStrike" sz="1000" u="none">
                    <a:solidFill>
                      <a:srgbClr val="1F1B2B"/>
                    </a:solidFill>
                    <a:latin typeface="+mn-lt"/>
                  </a:defRPr>
                </a:pPr>
              </a:p>
            </c:txPr>
            <c:showLegendKey val="0"/>
            <c:showVal val="0"/>
            <c:showCatName val="0"/>
            <c:showSerName val="0"/>
            <c:showPercent val="0"/>
            <c:showBubbleSize val="0"/>
            <c:showLeaderLines val="0"/>
          </c:dLbls>
          <c:marker>
            <c:symbol val="circle"/>
            <c:size val="6"/>
            <c:spPr>
              <a:solidFill>
                <a:srgbClr val="E8A33D"/>
              </a:solidFill>
              <a:ln w="9525" cap="flat">
                <a:solidFill>
                  <a:srgbClr val="E8A33D"/>
                </a:solidFill>
                <a:prstDash val="solid"/>
                <a:round/>
              </a:ln>
              <a:effectLst/>
            </c:spPr>
          </c:marker>
          <c:cat>
            <c:multiLvlStrRef>
              <c:f>Sheet1!$A$2:$A$7</c:f>
              <c:multiLvlStrCache>
                <c:ptCount val="6"/>
                <c:lvl>
                  <c:pt idx="0">
                    <c:v>2%</c:v>
                  </c:pt>
                  <c:pt idx="1">
                    <c:v>5%</c:v>
                  </c:pt>
                  <c:pt idx="2">
                    <c:v>10%</c:v>
                  </c:pt>
                  <c:pt idx="3">
                    <c:v>25%</c:v>
                  </c:pt>
                  <c:pt idx="4">
                    <c:v>50%</c:v>
                  </c:pt>
                  <c:pt idx="5">
                    <c:v>100%</c:v>
                  </c:pt>
                </c:lvl>
              </c:multiLvlStrCache>
            </c:multiLvlStrRef>
          </c:cat>
          <c:val>
            <c:numRef>
              <c:f>Sheet1!$D$2:$D$7</c:f>
              <c:numCache>
                <c:formatCode>General</c:formatCode>
                <c:ptCount val="6"/>
                <c:pt idx="0">
                  <c:v>0.018275626</c:v>
                </c:pt>
                <c:pt idx="1">
                  <c:v>0.0166938978</c:v>
                </c:pt>
                <c:pt idx="2">
                  <c:v>0.0120954705</c:v>
                </c:pt>
                <c:pt idx="3">
                  <c:v>0.0124800924</c:v>
                </c:pt>
                <c:pt idx="4">
                  <c:v>0.0158306103</c:v>
                </c:pt>
                <c:pt idx="5">
                  <c:v>0.0155506026</c:v>
                </c:pt>
              </c:numCache>
            </c:numRef>
          </c:val>
          <c:smooth val="0"/>
        </c:ser>
        <c:dLbls>
          <c:numFmt formatCode="#,##0" sourceLinked="0"/>
          <c:txPr>
            <a:bodyPr/>
            <a:lstStyle/>
            <a:p>
              <a:pPr>
                <a:defRPr b="0" i="0" strike="noStrike" sz="1000" u="none">
                  <a:solidFill>
                    <a:srgbClr val="1F1B2B"/>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4458"/>
                </a:solidFill>
                <a:latin typeface="+mn-lt"/>
              </a:defRPr>
            </a:pPr>
            <a:endParaRPr lang="en-US"/>
          </a:p>
        </c:txPr>
        <c:crossAx val="2094734552"/>
        <c:crosses val="autoZero"/>
        <c:auto val="1"/>
        <c:lblAlgn val="ctr"/>
        <c:noMultiLvlLbl val="1"/>
      </c:catAx>
      <c:valAx>
        <c:axId val="2094734552"/>
        <c:scaling>
          <c:orientation val="minMax"/>
          <c:max val="0.08"/>
          <c:min val="0"/>
        </c:scaling>
        <c:delete val="0"/>
        <c:axPos val="l"/>
        <c:majorGridlines>
          <c:spPr>
            <a:ln w="9525" cap="flat">
              <a:solidFill>
                <a:srgbClr val="E4DCC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000" b="0" i="0" u="none" strike="noStrike">
                <a:solidFill>
                  <a:srgbClr val="4A4458"/>
                </a:solidFill>
                <a:latin typeface="+mn-lt"/>
              </a:defRPr>
            </a:pPr>
            <a:endParaRPr lang="en-US"/>
          </a:p>
        </c:txPr>
        <c:crossAx val="2094734554"/>
        <c:crosses val="autoZero"/>
        <c:crossBetween val="between"/>
        <c:majorUnit val="0.02"/>
      </c:valAx>
      <c:spPr>
        <a:noFill/>
        <a:ln>
          <a:noFill/>
        </a:ln>
        <a:effectLst/>
      </c:spPr>
    </c:plotArea>
    <c:legend>
      <c:legendPos val="b"/>
      <c:overlay val="0"/>
      <c:txPr>
        <a:bodyPr/>
        <a:lstStyle/>
        <a:p>
          <a:pPr>
            <a:defRPr sz="1100">
              <a:solidFill>
                <a:srgbClr val="4A445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1B2B"/>
                </a:solidFill>
                <a:latin typeface="+mn-lt"/>
              </a:defRPr>
            </a:pPr>
            <a:r>
              <a:rPr sz="1200" b="0" i="0" u="none" strike="noStrike">
                <a:solidFill>
                  <a:srgbClr val="1F1B2B"/>
                </a:solidFill>
                <a:latin typeface="+mn-lt"/>
              </a:rPr>
              <a:t>NDCG@10 vs α (0 = content only, 1 = MF only)</a:t>
            </a:r>
          </a:p>
        </c:rich>
      </c:tx>
      <c:layout/>
      <c:overlay val="0"/>
    </c:title>
    <c:autoTitleDeleted val="0"/>
    <c:plotArea>
      <c:layout/>
      <c:lineChart>
        <c:varyColors val="0"/>
        <c:ser>
          <c:idx val="0"/>
          <c:order val="0"/>
          <c:tx>
            <c:strRef>
              <c:f>Sheet1!$B$1</c:f>
              <c:strCache>
                <c:ptCount val="1"/>
                <c:pt idx="0">
                  <c:v>Validation (used to choose α)</c:v>
                </c:pt>
              </c:strCache>
            </c:strRef>
          </c:tx>
          <c:spPr>
            <a:solidFill>
              <a:srgbClr val="5B4B8A"/>
            </a:solidFill>
            <a:ln w="38100" cap="flat">
              <a:solidFill>
                <a:srgbClr val="5B4B8A"/>
              </a:solidFill>
              <a:prstDash val="solid"/>
              <a:round/>
            </a:ln>
            <a:effectLst/>
          </c:spPr>
          <c:invertIfNegative val="0"/>
          <c:dLbls>
            <c:numFmt formatCode="#,##0" sourceLinked="0"/>
            <c:txPr>
              <a:bodyPr/>
              <a:lstStyle/>
              <a:p>
                <a:pPr>
                  <a:defRPr b="0" i="0" strike="noStrike" sz="1000" u="none">
                    <a:solidFill>
                      <a:srgbClr val="1F1B2B"/>
                    </a:solidFill>
                    <a:latin typeface="+mn-lt"/>
                  </a:defRPr>
                </a:pPr>
              </a:p>
            </c:txPr>
            <c:showLegendKey val="0"/>
            <c:showVal val="0"/>
            <c:showCatName val="0"/>
            <c:showSerName val="0"/>
            <c:showPercent val="0"/>
            <c:showBubbleSize val="0"/>
            <c:showLeaderLines val="0"/>
          </c:dLbls>
          <c:marker>
            <c:symbol val="circle"/>
            <c:size val="6"/>
            <c:spPr>
              <a:solidFill>
                <a:srgbClr val="5B4B8A"/>
              </a:solidFill>
              <a:ln w="9525" cap="flat">
                <a:solidFill>
                  <a:srgbClr val="5B4B8A"/>
                </a:solidFill>
                <a:prstDash val="solid"/>
                <a:round/>
              </a:ln>
              <a:effectLst/>
            </c:spPr>
          </c:marker>
          <c:cat>
            <c:multiLvlStrRef>
              <c:f>Sheet1!$A$2:$A$12</c:f>
              <c:multiLvlStrCache>
                <c:ptCount val="11"/>
                <c:lvl>
                  <c:pt idx="0">
                    <c:v>0.0</c:v>
                  </c:pt>
                  <c:pt idx="1">
                    <c:v>0.1</c:v>
                  </c:pt>
                  <c:pt idx="2">
                    <c:v>0.2</c:v>
                  </c:pt>
                  <c:pt idx="3">
                    <c:v>0.3</c:v>
                  </c:pt>
                  <c:pt idx="4">
                    <c:v>0.4</c:v>
                  </c:pt>
                  <c:pt idx="5">
                    <c:v>0.5</c:v>
                  </c:pt>
                  <c:pt idx="6">
                    <c:v>0.6</c:v>
                  </c:pt>
                  <c:pt idx="7">
                    <c:v>0.7</c:v>
                  </c:pt>
                  <c:pt idx="8">
                    <c:v>0.8</c:v>
                  </c:pt>
                  <c:pt idx="9">
                    <c:v>0.9</c:v>
                  </c:pt>
                  <c:pt idx="10">
                    <c:v>1.0</c:v>
                  </c:pt>
                </c:lvl>
              </c:multiLvlStrCache>
            </c:multiLvlStrRef>
          </c:cat>
          <c:val>
            <c:numRef>
              <c:f>Sheet1!$B$2:$B$12</c:f>
              <c:numCache>
                <c:formatCode>General</c:formatCode>
                <c:ptCount val="11"/>
                <c:pt idx="0">
                  <c:v>0.015276934928054325</c:v>
                </c:pt>
                <c:pt idx="1">
                  <c:v>0.017125610020085568</c:v>
                </c:pt>
                <c:pt idx="2">
                  <c:v>0.023057007947824563</c:v>
                </c:pt>
                <c:pt idx="3">
                  <c:v>0.027196110167264285</c:v>
                </c:pt>
                <c:pt idx="4">
                  <c:v>0.030945507019775314</c:v>
                </c:pt>
                <c:pt idx="5">
                  <c:v>0.033266517728465485</c:v>
                </c:pt>
                <c:pt idx="6">
                  <c:v>0.03516586965014616</c:v>
                </c:pt>
                <c:pt idx="7">
                  <c:v>0.03579724083383022</c:v>
                </c:pt>
                <c:pt idx="8">
                  <c:v>0.0341570746903186</c:v>
                </c:pt>
                <c:pt idx="9">
                  <c:v>0.031649259105856566</c:v>
                </c:pt>
                <c:pt idx="10">
                  <c:v>0.0284022426379765</c:v>
                </c:pt>
              </c:numCache>
            </c:numRef>
          </c:val>
          <c:smooth val="0"/>
        </c:ser>
        <c:ser>
          <c:idx val="1"/>
          <c:order val="1"/>
          <c:tx>
            <c:strRef>
              <c:f>Sheet1!$C$1</c:f>
              <c:strCache>
                <c:ptCount val="1"/>
                <c:pt idx="0">
                  <c:v>Test (reference only)</c:v>
                </c:pt>
              </c:strCache>
            </c:strRef>
          </c:tx>
          <c:spPr>
            <a:solidFill>
              <a:srgbClr val="2A7F8E"/>
            </a:solidFill>
            <a:ln w="38100" cap="flat">
              <a:solidFill>
                <a:srgbClr val="2A7F8E"/>
              </a:solidFill>
              <a:prstDash val="solid"/>
              <a:round/>
            </a:ln>
            <a:effectLst/>
          </c:spPr>
          <c:invertIfNegative val="0"/>
          <c:dLbls>
            <c:numFmt formatCode="#,##0" sourceLinked="0"/>
            <c:txPr>
              <a:bodyPr/>
              <a:lstStyle/>
              <a:p>
                <a:pPr>
                  <a:defRPr b="0" i="0" strike="noStrike" sz="1000" u="none">
                    <a:solidFill>
                      <a:srgbClr val="1F1B2B"/>
                    </a:solidFill>
                    <a:latin typeface="+mn-lt"/>
                  </a:defRPr>
                </a:pPr>
              </a:p>
            </c:txPr>
            <c:showLegendKey val="0"/>
            <c:showVal val="0"/>
            <c:showCatName val="0"/>
            <c:showSerName val="0"/>
            <c:showPercent val="0"/>
            <c:showBubbleSize val="0"/>
            <c:showLeaderLines val="0"/>
          </c:dLbls>
          <c:marker>
            <c:symbol val="circle"/>
            <c:size val="6"/>
            <c:spPr>
              <a:solidFill>
                <a:srgbClr val="2A7F8E"/>
              </a:solidFill>
              <a:ln w="9525" cap="flat">
                <a:solidFill>
                  <a:srgbClr val="2A7F8E"/>
                </a:solidFill>
                <a:prstDash val="solid"/>
                <a:round/>
              </a:ln>
              <a:effectLst/>
            </c:spPr>
          </c:marker>
          <c:cat>
            <c:multiLvlStrRef>
              <c:f>Sheet1!$A$2:$A$12</c:f>
              <c:multiLvlStrCache>
                <c:ptCount val="11"/>
                <c:lvl>
                  <c:pt idx="0">
                    <c:v>0.0</c:v>
                  </c:pt>
                  <c:pt idx="1">
                    <c:v>0.1</c:v>
                  </c:pt>
                  <c:pt idx="2">
                    <c:v>0.2</c:v>
                  </c:pt>
                  <c:pt idx="3">
                    <c:v>0.3</c:v>
                  </c:pt>
                  <c:pt idx="4">
                    <c:v>0.4</c:v>
                  </c:pt>
                  <c:pt idx="5">
                    <c:v>0.5</c:v>
                  </c:pt>
                  <c:pt idx="6">
                    <c:v>0.6</c:v>
                  </c:pt>
                  <c:pt idx="7">
                    <c:v>0.7</c:v>
                  </c:pt>
                  <c:pt idx="8">
                    <c:v>0.8</c:v>
                  </c:pt>
                  <c:pt idx="9">
                    <c:v>0.9</c:v>
                  </c:pt>
                  <c:pt idx="10">
                    <c:v>1.0</c:v>
                  </c:pt>
                </c:lvl>
              </c:multiLvlStrCache>
            </c:multiLvlStrRef>
          </c:cat>
          <c:val>
            <c:numRef>
              <c:f>Sheet1!$C$2:$C$12</c:f>
              <c:numCache>
                <c:formatCode>General</c:formatCode>
                <c:ptCount val="11"/>
                <c:pt idx="0">
                  <c:v>0.015550602609698256</c:v>
                </c:pt>
                <c:pt idx="1">
                  <c:v>0.01734153982957102</c:v>
                </c:pt>
                <c:pt idx="2">
                  <c:v>0.021760915821367757</c:v>
                </c:pt>
                <c:pt idx="3">
                  <c:v>0.025758012464393965</c:v>
                </c:pt>
                <c:pt idx="4">
                  <c:v>0.029725851365003286</c:v>
                </c:pt>
                <c:pt idx="5">
                  <c:v>0.0314390147801895</c:v>
                </c:pt>
                <c:pt idx="6">
                  <c:v>0.03173317748497394</c:v>
                </c:pt>
                <c:pt idx="7">
                  <c:v>0.030307196281542534</c:v>
                </c:pt>
                <c:pt idx="8">
                  <c:v>0.03153019451799889</c:v>
                </c:pt>
                <c:pt idx="9">
                  <c:v>0.02865674229719038</c:v>
                </c:pt>
                <c:pt idx="10">
                  <c:v>0.02737358575176091</c:v>
                </c:pt>
              </c:numCache>
            </c:numRef>
          </c:val>
          <c:smooth val="0"/>
        </c:ser>
        <c:dLbls>
          <c:numFmt formatCode="#,##0" sourceLinked="0"/>
          <c:txPr>
            <a:bodyPr/>
            <a:lstStyle/>
            <a:p>
              <a:pPr>
                <a:defRPr b="0" i="0" strike="noStrike" sz="1000" u="none">
                  <a:solidFill>
                    <a:srgbClr val="1F1B2B"/>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4A4458"/>
                    </a:solidFill>
                    <a:latin typeface="Arial"/>
                  </a:defRPr>
                </a:pPr>
                <a:r>
                  <a:rPr sz="1000" b="0" i="0" u="none" strike="noStrike">
                    <a:solidFill>
                      <a:srgbClr val="4A4458"/>
                    </a:solidFill>
                    <a:latin typeface="Arial"/>
                  </a:rPr>
                  <a:t>α (weight on MF)</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4458"/>
                </a:solidFill>
                <a:latin typeface="+mn-lt"/>
              </a:defRPr>
            </a:pPr>
            <a:endParaRPr lang="en-US"/>
          </a:p>
        </c:txPr>
        <c:crossAx val="2094734552"/>
        <c:crosses val="autoZero"/>
        <c:auto val="1"/>
        <c:lblAlgn val="ctr"/>
        <c:noMultiLvlLbl val="1"/>
      </c:catAx>
      <c:valAx>
        <c:axId val="2094734552"/>
        <c:scaling>
          <c:orientation val="minMax"/>
          <c:max val="0.04"/>
          <c:min val="0.01"/>
        </c:scaling>
        <c:delete val="0"/>
        <c:axPos val="l"/>
        <c:majorGridlines>
          <c:spPr>
            <a:ln w="9525" cap="flat">
              <a:solidFill>
                <a:srgbClr val="E4DCC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000" b="0" i="0" u="none" strike="noStrike">
                <a:solidFill>
                  <a:srgbClr val="4A4458"/>
                </a:solidFill>
                <a:latin typeface="+mn-lt"/>
              </a:defRPr>
            </a:pPr>
            <a:endParaRPr lang="en-US"/>
          </a:p>
        </c:txPr>
        <c:crossAx val="2094734554"/>
        <c:crosses val="autoZero"/>
        <c:crossBetween val="between"/>
        <c:majorUnit val="0.01"/>
      </c:valAx>
      <c:spPr>
        <a:noFill/>
        <a:ln>
          <a:noFill/>
        </a:ln>
        <a:effectLst/>
      </c:spPr>
    </c:plotArea>
    <c:legend>
      <c:legendPos val="b"/>
      <c:overlay val="0"/>
      <c:txPr>
        <a:bodyPr/>
        <a:lstStyle/>
        <a:p>
          <a:pPr>
            <a:defRPr sz="1100">
              <a:solidFill>
                <a:srgbClr val="4A445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1B2B"/>
                </a:solidFill>
                <a:latin typeface="+mn-lt"/>
              </a:defRPr>
            </a:pPr>
            <a:r>
              <a:rPr sz="1200" b="0" i="0" u="none" strike="noStrike">
                <a:solidFill>
                  <a:srgbClr val="1F1B2B"/>
                </a:solidFill>
                <a:latin typeface="+mn-lt"/>
              </a:rPr>
              <a:t>Users per arm vs relative lift</a:t>
            </a:r>
          </a:p>
        </c:rich>
      </c:tx>
      <c:layout/>
      <c:overlay val="0"/>
    </c:title>
    <c:autoTitleDeleted val="0"/>
    <c:plotArea>
      <c:layout/>
      <c:barChart>
        <c:barDir val="col"/>
        <c:grouping val="clustered"/>
        <c:varyColors val="0"/>
        <c:ser>
          <c:idx val="0"/>
          <c:order val="0"/>
          <c:tx>
            <c:strRef>
              <c:f>Sheet1!$B$1</c:f>
              <c:strCache>
                <c:ptCount val="1"/>
                <c:pt idx="0">
                  <c:v>Users per arm</c:v>
                </c:pt>
              </c:strCache>
            </c:strRef>
          </c:tx>
          <c:spPr>
            <a:solidFill>
              <a:srgbClr val="5B4B8A"/>
            </a:solidFill>
            <a:effectLst/>
          </c:spPr>
          <c:invertIfNegative val="0"/>
          <c:dLbls>
            <c:numFmt formatCode="#,##0" sourceLinked="0"/>
            <c:txPr>
              <a:bodyPr/>
              <a:lstStyle/>
              <a:p>
                <a:pPr>
                  <a:defRPr b="0" i="0" strike="noStrike" sz="900" u="none">
                    <a:solidFill>
                      <a:srgbClr val="1F1B2B"/>
                    </a:solidFill>
                    <a:latin typeface="+mn-lt"/>
                  </a:defRPr>
                </a:pPr>
              </a:p>
            </c:txPr>
            <c:showLegendKey val="0"/>
            <c:showVal val="1"/>
            <c:showCatName val="0"/>
            <c:showSerName val="0"/>
            <c:showPercent val="0"/>
            <c:showBubbleSize val="0"/>
            <c:showLeaderLines val="0"/>
          </c:dLbls>
          <c:cat>
            <c:multiLvlStrRef>
              <c:f>Sheet1!$A$2:$A$5</c:f>
              <c:multiLvlStrCache>
                <c:ptCount val="4"/>
                <c:lvl>
                  <c:pt idx="0">
                    <c:v>1%</c:v>
                  </c:pt>
                  <c:pt idx="1">
                    <c:v>2%</c:v>
                  </c:pt>
                  <c:pt idx="2">
                    <c:v>5%</c:v>
                  </c:pt>
                  <c:pt idx="3">
                    <c:v>10%</c:v>
                  </c:pt>
                </c:lvl>
              </c:multiLvlStrCache>
            </c:multiLvlStrRef>
          </c:cat>
          <c:val>
            <c:numRef>
              <c:f>Sheet1!$B$2:$B$5</c:f>
              <c:numCache>
                <c:formatCode>General</c:formatCode>
                <c:ptCount val="4"/>
                <c:pt idx="0">
                  <c:v>1813479</c:v>
                </c:pt>
                <c:pt idx="1">
                  <c:v>455427</c:v>
                </c:pt>
                <c:pt idx="2">
                  <c:v>73853</c:v>
                </c:pt>
                <c:pt idx="3">
                  <c:v>18872</c:v>
                </c:pt>
              </c:numCache>
            </c:numRef>
          </c:val>
        </c:ser>
        <c:dLbls>
          <c:numFmt formatCode="#,##0" sourceLinked="0"/>
          <c:txPr>
            <a:bodyPr/>
            <a:lstStyle/>
            <a:p>
              <a:pPr>
                <a:defRPr b="0" i="0" strike="noStrike" sz="900" u="none">
                  <a:solidFill>
                    <a:srgbClr val="1F1B2B"/>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4A4458"/>
                    </a:solidFill>
                    <a:latin typeface="Arial"/>
                  </a:defRPr>
                </a:pPr>
                <a:r>
                  <a:rPr sz="1000" b="0" i="0" u="none" strike="noStrike">
                    <a:solidFill>
                      <a:srgbClr val="4A4458"/>
                    </a:solidFill>
                    <a:latin typeface="Arial"/>
                  </a:rPr>
                  <a:t>Relative lift to detect</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4458"/>
                </a:solidFill>
                <a:latin typeface="+mn-lt"/>
              </a:defRPr>
            </a:pPr>
            <a:endParaRPr lang="en-US"/>
          </a:p>
        </c:txPr>
        <c:crossAx val="2094734552"/>
        <c:crosses val="autoZero"/>
        <c:auto val="1"/>
        <c:lblAlgn val="ctr"/>
        <c:noMultiLvlLbl val="1"/>
      </c:catAx>
      <c:valAx>
        <c:axId val="2094734552"/>
        <c:scaling>
          <c:logBase val="10"/>
          <c:orientation val="minMax"/>
          <c:max val="10000000"/>
          <c:min val="1000"/>
        </c:scaling>
        <c:delete val="0"/>
        <c:axPos val="l"/>
        <c:majorGridlines>
          <c:spPr>
            <a:ln w="9525" cap="flat">
              <a:solidFill>
                <a:srgbClr val="E4DCCB"/>
              </a:solidFill>
              <a:prstDash val="solid"/>
              <a:round/>
            </a:ln>
          </c:spPr>
        </c:majorGridlines>
        <c:numFmt formatCode="#,##0" sourceLinked="0"/>
        <c:majorTickMark val="out"/>
        <c:minorTickMark val="none"/>
        <c:tickLblPos val="nextTo"/>
        <c:spPr>
          <a:ln w="12700" cap="flat">
            <a:noFill/>
            <a:prstDash val="solid"/>
            <a:round/>
          </a:ln>
        </c:spPr>
        <c:txPr>
          <a:bodyPr/>
          <a:lstStyle/>
          <a:p>
            <a:pPr>
              <a:defRPr sz="900" b="0" i="0" u="none" strike="noStrike">
                <a:solidFill>
                  <a:srgbClr val="4A445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1B2B"/>
                </a:solidFill>
                <a:latin typeface="+mn-lt"/>
              </a:defRPr>
            </a:pPr>
            <a:r>
              <a:rPr sz="1200" b="0" i="0" u="none" strike="noStrike">
                <a:solidFill>
                  <a:srgbClr val="1F1B2B"/>
                </a:solidFill>
                <a:latin typeface="+mn-lt"/>
              </a:rPr>
              <a:t>NDCG@10 of the same MF model, by split (coral = leaky)</a:t>
            </a:r>
          </a:p>
        </c:rich>
      </c:tx>
      <c:layout/>
      <c:overlay val="0"/>
    </c:title>
    <c:autoTitleDeleted val="0"/>
    <c:plotArea>
      <c:layout/>
      <c:barChart>
        <c:barDir val="col"/>
        <c:grouping val="clustered"/>
        <c:varyColors val="0"/>
        <c:ser>
          <c:idx val="0"/>
          <c:order val="0"/>
          <c:tx>
            <c:strRef>
              <c:f>Sheet1!$B$1</c:f>
              <c:strCache>
                <c:ptCount val="1"/>
                <c:pt idx="0">
                  <c:v>NDCG@10</c:v>
                </c:pt>
              </c:strCache>
            </c:strRef>
          </c:tx>
          <c:spPr>
            <a:solidFill>
              <a:srgbClr val="D1495B"/>
            </a:solidFill>
            <a:effectLst/>
          </c:spPr>
          <c:invertIfNegative val="0"/>
          <c:dLbls>
            <c:numFmt formatCode="0.000" sourceLinked="0"/>
            <c:txPr>
              <a:bodyPr/>
              <a:lstStyle/>
              <a:p>
                <a:pPr>
                  <a:defRPr b="0" i="0" strike="noStrike" sz="1000" u="none">
                    <a:solidFill>
                      <a:srgbClr val="1F1B2B"/>
                    </a:solidFill>
                    <a:latin typeface="+mn-lt"/>
                  </a:defRPr>
                </a:pPr>
              </a:p>
            </c:txPr>
            <c:showLegendKey val="0"/>
            <c:showVal val="1"/>
            <c:showCatName val="0"/>
            <c:showSerName val="0"/>
            <c:showPercent val="0"/>
            <c:showBubbleSize val="0"/>
            <c:showLeaderLines val="0"/>
          </c:dLbls>
          <c:dPt>
            <c:idx val="0"/>
            <c:invertIfNegative val="0"/>
            <c:bubble3D val="0"/>
            <c:spPr>
              <a:solidFill>
                <a:srgbClr val="D1495B"/>
              </a:solidFill>
              <a:effectLst/>
            </c:spPr>
          </c:dPt>
          <c:dPt>
            <c:idx val="1"/>
            <c:invertIfNegative val="0"/>
            <c:bubble3D val="0"/>
            <c:spPr>
              <a:solidFill>
                <a:srgbClr val="2A7F8E"/>
              </a:solidFill>
              <a:effectLst/>
            </c:spPr>
          </c:dPt>
          <c:dPt>
            <c:idx val="2"/>
            <c:invertIfNegative val="0"/>
            <c:bubble3D val="0"/>
            <c:spPr>
              <a:solidFill>
                <a:srgbClr val="2A7F8E"/>
              </a:solidFill>
              <a:effectLst/>
            </c:spPr>
          </c:dPt>
          <c:dPt>
            <c:idx val="3"/>
            <c:invertIfNegative val="0"/>
            <c:bubble3D val="0"/>
            <c:spPr>
              <a:solidFill>
                <a:srgbClr val="D1495B"/>
              </a:solidFill>
              <a:effectLst/>
            </c:spPr>
          </c:dPt>
          <c:cat>
            <c:multiLvlStrRef>
              <c:f>Sheet1!$A$2:$A$5</c:f>
              <c:multiLvlStrCache>
                <c:ptCount val="4"/>
                <c:lvl>
                  <c:pt idx="0">
                    <c:v>Naive random</c:v>
                  </c:pt>
                  <c:pt idx="1">
                    <c:v>Temporal</c:v>
                  </c:pt>
                  <c:pt idx="2">
                    <c:v>Leave-one-out</c:v>
                  </c:pt>
                  <c:pt idx="3">
                    <c:v>Per-user random</c:v>
                  </c:pt>
                </c:lvl>
              </c:multiLvlStrCache>
            </c:multiLvlStrRef>
          </c:cat>
          <c:val>
            <c:numRef>
              <c:f>Sheet1!$B$2:$B$5</c:f>
              <c:numCache>
                <c:formatCode>General</c:formatCode>
                <c:ptCount val="4"/>
                <c:pt idx="0">
                  <c:v>0.0525111699</c:v>
                </c:pt>
                <c:pt idx="1">
                  <c:v>0.0273735858</c:v>
                </c:pt>
                <c:pt idx="2">
                  <c:v>0.0197284574</c:v>
                </c:pt>
                <c:pt idx="3">
                  <c:v>0.0603086355</c:v>
                </c:pt>
              </c:numCache>
            </c:numRef>
          </c:val>
        </c:ser>
        <c:dLbls>
          <c:numFmt formatCode="0.000" sourceLinked="0"/>
          <c:txPr>
            <a:bodyPr/>
            <a:lstStyle/>
            <a:p>
              <a:pPr>
                <a:defRPr b="0" i="0" strike="noStrike" sz="1000" u="none">
                  <a:solidFill>
                    <a:srgbClr val="1F1B2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4458"/>
                </a:solidFill>
                <a:latin typeface="+mn-lt"/>
              </a:defRPr>
            </a:pPr>
            <a:endParaRPr lang="en-US"/>
          </a:p>
        </c:txPr>
        <c:crossAx val="2094734552"/>
        <c:crosses val="autoZero"/>
        <c:auto val="1"/>
        <c:lblAlgn val="ctr"/>
        <c:noMultiLvlLbl val="1"/>
      </c:catAx>
      <c:valAx>
        <c:axId val="2094734552"/>
        <c:scaling>
          <c:orientation val="minMax"/>
          <c:max val="0.08"/>
          <c:min val="0"/>
        </c:scaling>
        <c:delete val="0"/>
        <c:axPos val="l"/>
        <c:majorGridlines>
          <c:spPr>
            <a:ln w="9525" cap="flat">
              <a:solidFill>
                <a:srgbClr val="E4DCC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000" b="0" i="0" u="none" strike="noStrike">
                <a:solidFill>
                  <a:srgbClr val="4A4458"/>
                </a:solidFill>
                <a:latin typeface="+mn-lt"/>
              </a:defRPr>
            </a:pPr>
            <a:endParaRPr lang="en-US"/>
          </a:p>
        </c:txPr>
        <c:crossAx val="2094734554"/>
        <c:crosses val="autoZero"/>
        <c:crossBetween val="between"/>
        <c:majorUnit val="0.0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13 continues Task 11 (content-based) and Task 12 (matrix factorization). Instead of building a new model, this task asks how we should evaluate the recommenders we already have - including users and items the model has never seen - and how to combine them. All numbers in this deck come from one run on the real MovieLens ml-latest-small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12 ended with a model and a single number, RMSE. Three questions drive this task: which split is honest, which metric fits the product, and what happens for users and items the model has never seen. The dataset is small and dense by MovieLens standards but still 98.3% sparse.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is organised as eight phases. Phases 1-5 are about measuring honestly, phases 6-7 about the cases where the base model fails and how to combine models, and phase 8 about proving the result online. Five exercises sit on top of the phases.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naive random row split puts a user's later ratings in training and earlier ones in test: 98.9 percent of its test ratings have a later rating by the same user in the training set. The model effectively sees the future, so its RMSE (0.859) is optimistic compared with the temporal split (0.898). Leave-one-out has only 610 test rows, so its RMSE is noisy. A temporal per-user 80/20 split is used for the rest of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temporal test set matrix factorization reaches RMSE 0.898 and MAE 0.690, better than predicting each user's mean (0.967) or the global mean (1.069). But the error is not spread evenly: ratings of 2 stars or lower are about 15 percent of test ratings and cause about 52 percent of the squared error. A single RMSE hides who is being served badly.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top-K list the question changes from 'how close was the predicted rating' to 'how many of the recommended titles did the user actually like'. Precision falls slightly as K grows while recall rises, and F1 balances the two. All values are low in absolute terms because each user has about 33 held-out ratings out of 9.7 thousand titles; what matters is comparison between models on the same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Precision and recall ignore order. The worked example is user 585, who has 12 relevant held-out titles. The model places three of them in its top 10, at ranks 5, 8 and 10. AP@10 is the mean of the precision at each hit, 0.2, 0.25 and 0.3, divided by min(10, 12) giving 0.075. NDCG uses gains 2 to the rating minus 1 with a 1 over log2(rank plus 1) discount: DCG 22.48 over an ideal DCG of 120.36 gives 0.187. The right-hand table shows the order blindness: two lists with the same three hits have identical precision and recall, but AP is 1.00 for hits at ranks 1 to 3 and 0.22 for ranks 8 to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important finding on the real data: the bias-only model (global mean plus user bias plus item bias) has a worse RMSE (0.929) than matrix factorization (0.898) but ranks almost twice as well (NDCG@10 0.052 against 0.027). In the first version of MF, undamped item biases made rankings no better than random: validation NDCG@10 was 0.0009 against a random baseline of 0.0008 while RMSE was fine at 0.880. A constant penalty on the item bias (lambda_b = 10, chosen on a validation split) lifted validation NDCG@10 to 0.028 at the same RMSE. The final MF model in every result uses that damping.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is only one axis. Popularity is the most accurate model here but covers just 1 percent of the catalog and has the lowest novelty. Content-based reaches the widest part of the catalog (11.6 percent) but its lists are near duplicates (diversity 0.13). Matrix factorization sits in between: diverse (0.76) and novel (5.6 bits) with 5.4 percent coverage. Diversity is one minus the mean cosine similarity of items in a list on genre and decade features; novelty is the mean of minus log2 popularity; serendipity is the share of the list that is relevant and not in the user's popularity top-K.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test new users without leakage, a random quarter of eligible users (148) were removed from training, then added back with only their first N interactions: matrix factorization folds each of them in by solving for a user vector from those N ratings. Popularity needs no history, so it is flat at NDCG 0.068. MF with a single interaction scores 0.049, dips, and recovers to 0.043 with full history, still below popularity. Content-based stays below 0.017 at every history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item: a brand-new movie with no ratings has no latent vector, so matrix factorization cannot score it at all; the same applies to the 1,503 catalog movies with no training ratings, which never appear in a top 10. A content-based model scores it from its genres and decade the moment it is added, but with only two genres the score is coarse: median rank 5,897 of 9,742, best rank 68. New system: training on only a fraction of the data. Content-based matches or beats MF with 5 percent of the data or less, and popularity leads at every size. Mitigations are listed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Weighted hybrid: scores from MF and the content model are z-normalised per user and blended, alpha times MF plus one minus alpha times content. Alpha is chosen on an inner validation split (best 0.7, validation NDCG 0.0358) and the test curve, shown for reference only, is flat around the optimum. The hybrid scores NDCG@10 0.0303 against 0.0274 for MF (+10.7 percent) and 0.0156 for content. Popularity (0.072) is still the accuracy ceiling to beat. The switching hybrid, tuned on one half of the users and checked on the other, picks N = 1 on both halves, so it degenerates to pure MF on this data. A cascade where content shortlists 500 titles (5 percent of the catalog) and MF re-ranks them reaches 0.0272, close to MF on the full catalog (0.0274) while scoring 20 times fewer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Offline metrics are the cheap screen; the A/B test is the verdict. Control is the Task 12 matrix factorization, treatment is the Phase 7 weighted hybrid. Users are randomised by hashing the user ID, so nobody sees both variants. The primary metric is the share of exposed users with at least one click on a recommended title, tested with a two-proportion Z-test at alpha 0.05 and 80 percent power; guardrails include session length, churn, latency, coverage and diversity. The sample-size chart uses an ASSUMED baseline click-through rate of 8 percent, a planning assumption and not a measurement from this dataset: detecting a 5 percent relative lift needs about 73,900 users per arm, and a 1 percent lift needs 1.8 million.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1: popularity is the strongest accuracy baseline on this dataset. Exercise 2: MRR and MAP agree on the model order here but measure different things, as the toy example shows: a single early hit has RR 1.0 but AP 0.20, while five hits starting at rank 2 have RR 0.5 but AP 0.71. Exercise 3 is a design only, not trained. Exercise 4: re-ranking the hybrid's top 50 with MMR at lambda 0.4 raises intra-list diversity from 0.610 to 0.784 (+28.5 percent) with identical Precision@10 (0.027) and NDCG@10 moving from 0.0303 to 0.0296; the precision change confidence interval contains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5 re-runs the same model under four splits. The two random splits, in which 99 percent of test ratings have a later training rating by the same user, produce NDCG@10 of 0.0525 and 0.0603, 1.9 and 2.2 times the leak-free temporal value of 0.0274. RMSE moves only about 4 percent between the same splits, so ranking metrics are far more sensitive to leakage than RMSE. Leave-one-out has only 363 eligible users and Precision@10 of 0.003, so it is too noisy for model selection.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things to remember. Caveats: all results come from one dataset (ml-latest-small), one temporal split and a single run; the A/B sample sizes rest on an assumed 8 percent baseline click-through rate; the real online test has not been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7F3E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502920"/>
            <a:ext cx="8229600" cy="640080"/>
          </a:xfrm>
          <a:prstGeom prst="rect">
            <a:avLst/>
          </a:prstGeom>
          <a:noFill/>
          <a:ln/>
        </p:spPr>
        <p:txBody>
          <a:bodyPr wrap="square" rtlCol="0"/>
          <a:lstStyle>
            <a:lvl1pPr algn="l" indent="0" marL="0">
              <a:buNone/>
              <a:defRPr lang="en-US" sz="2400" b="1" dirty="0">
                <a:solidFill>
                  <a:schemeClr val="tx1"/>
                </a:solidFill>
              </a:defRPr>
            </a:lvl1pPr>
          </a:lstStyle>
          <a:p>
            <a:pPr algn="l" indent="0" marL="0">
              <a:buNone/>
            </a:pPr>
            <a:endParaRPr lang="en-US" sz="2400" dirty="0"/>
          </a:p>
        </p:txBody>
      </p:sp>
      <p:sp>
        <p:nvSpPr>
          <p:cNvPr id="3" name="Text 0"/>
          <p:cNvSpPr/>
          <p:nvPr/>
        </p:nvSpPr>
        <p:spPr>
          <a:xfrm>
            <a:off x="457200" y="4791456"/>
            <a:ext cx="5486400" cy="237744"/>
          </a:xfrm>
          <a:prstGeom prst="rect">
            <a:avLst/>
          </a:prstGeom>
          <a:noFill/>
          <a:ln/>
        </p:spPr>
        <p:txBody>
          <a:bodyPr wrap="square" lIns="0" tIns="0" rIns="0" bIns="0" rtlCol="0" anchor="ctr"/>
          <a:lstStyle/>
          <a:p>
            <a:pPr indent="0" marL="0">
              <a:buNone/>
            </a:pPr>
            <a:r>
              <a:rPr lang="en-US" sz="1000" dirty="0">
                <a:solidFill>
                  <a:schemeClr val="accent5"/>
                </a:solidFill>
              </a:rPr>
              <a:t>Task 13 · Evaluation, cold start &amp; hybrid recommenders</a:t>
            </a:r>
            <a:endParaRPr lang="en-US" sz="10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2B1F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60120"/>
            <a:ext cx="5303520" cy="1554480"/>
          </a:xfrm>
          <a:prstGeom prst="rect">
            <a:avLst/>
          </a:prstGeom>
          <a:noFill/>
          <a:ln/>
        </p:spPr>
        <p:txBody>
          <a:bodyPr wrap="square" rtlCol="0"/>
          <a:lstStyle>
            <a:lvl1pPr algn="l" indent="0" marL="0">
              <a:buNone/>
              <a:defRPr lang="en-US" sz="3400" b="1" dirty="0">
                <a:solidFill>
                  <a:schemeClr val="bg2"/>
                </a:solidFill>
              </a:defRPr>
            </a:lvl1pPr>
          </a:lstStyle>
          <a:p>
            <a:pPr algn="l" indent="0" marL="0">
              <a:buNone/>
            </a:pPr>
            <a:endParaRPr lang="en-US" sz="3400" dirty="0"/>
          </a:p>
        </p:txBody>
      </p:sp>
      <p:sp>
        <p:nvSpPr>
          <p:cNvPr id="3" name="Text 0"/>
          <p:cNvSpPr/>
          <p:nvPr>
            <p:ph idx="101" type="body" hasCustomPrompt="1"/>
          </p:nvPr>
        </p:nvSpPr>
        <p:spPr>
          <a:xfrm>
            <a:off x="548640" y="2697480"/>
            <a:ext cx="5120640" cy="100584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SIDE">
    <p:bg>
      <p:bgPr>
        <a:solidFill>
          <a:srgbClr val="2B1F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48640"/>
            <a:ext cx="2468880" cy="1463040"/>
          </a:xfrm>
          <a:prstGeom prst="rect">
            <a:avLst/>
          </a:prstGeom>
          <a:noFill/>
          <a:ln/>
        </p:spPr>
        <p:txBody>
          <a:bodyPr wrap="square" rtlCol="0"/>
          <a:lstStyle>
            <a:lvl1pPr algn="l" indent="0" marL="0">
              <a:buNone/>
              <a:defRPr lang="en-US" sz="3200" b="1" dirty="0">
                <a:solidFill>
                  <a:schemeClr val="bg2"/>
                </a:solidFill>
              </a:defRPr>
            </a:lvl1pPr>
          </a:lstStyle>
          <a:p>
            <a:pPr algn="l"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0" type="title" hasCustomPrompt="1"/>
          </p:nvPr>
        </p:nvSpPr>
        <p:spPr>
          <a:xfrm>
            <a:off x="548640" y="960120"/>
            <a:ext cx="5303520" cy="1554480"/>
          </a:xfrm>
          <a:prstGeom prst="rect">
            <a:avLst/>
          </a:prstGeom>
          <a:noFill/>
          <a:ln/>
        </p:spPr>
        <p:txBody>
          <a:bodyPr wrap="square" lIns="0" tIns="0" rIns="0" bIns="0" rtlCol="0" anchor="t"/>
          <a:lstStyle/>
          <a:p>
            <a:pPr algn="l" indent="0" marL="0">
              <a:buNone/>
            </a:pPr>
            <a:r>
              <a:rPr lang="en-US" sz="3400" b="1" dirty="0">
                <a:solidFill>
                  <a:schemeClr val="bg2"/>
                </a:solidFill>
              </a:rPr>
              <a:t>Evaluation Metrics, Cold Start &amp; Hybrid Systems</a:t>
            </a:r>
            <a:endParaRPr lang="en-US" sz="3400" dirty="0"/>
          </a:p>
        </p:txBody>
      </p:sp>
      <p:sp>
        <p:nvSpPr>
          <p:cNvPr id="4" name="Text 0"/>
          <p:cNvSpPr/>
          <p:nvPr>
            <p:ph idx="101" type="body" hasCustomPrompt="1"/>
          </p:nvPr>
        </p:nvSpPr>
        <p:spPr>
          <a:xfrm>
            <a:off x="548640" y="2697480"/>
            <a:ext cx="5120640" cy="1005840"/>
          </a:xfrm>
          <a:prstGeom prst="rect">
            <a:avLst/>
          </a:prstGeom>
          <a:noFill/>
          <a:ln/>
        </p:spPr>
        <p:txBody>
          <a:bodyPr wrap="square" lIns="0" tIns="0" rIns="0" bIns="0" rtlCol="0" anchor="t"/>
          <a:lstStyle/>
          <a:p>
            <a:pPr indent="0" marL="0">
              <a:buNone/>
            </a:pPr>
            <a:r>
              <a:rPr lang="en-US" sz="1600" b="1" dirty="0">
                <a:solidFill>
                  <a:schemeClr val="bg2"/>
                </a:solidFill>
              </a:rPr>
              <a:t>Machine Learning · Task 13</a:t>
            </a:r>
            <a:endParaRPr lang="en-US" sz="1600" dirty="0"/>
          </a:p>
          <a:p>
            <a:pPr indent="0" marL="0">
              <a:buNone/>
            </a:pPr>
            <a:r>
              <a:rPr lang="en-US" sz="1600" dirty="0">
                <a:solidFill>
                  <a:schemeClr val="bg2"/>
                </a:solidFill>
              </a:rPr>
              <a:t>Movie recommendations on MovieLens ml-latest-small, continuing Task 11 (content-based) and Task 12 (matrix factorization)</a:t>
            </a:r>
            <a:endParaRPr lang="en-US" sz="1600" dirty="0"/>
          </a:p>
        </p:txBody>
      </p:sp>
      <p:sp>
        <p:nvSpPr>
          <p:cNvPr id="5" name="Stat card ratings"/>
          <p:cNvSpPr/>
          <p:nvPr/>
        </p:nvSpPr>
        <p:spPr>
          <a:xfrm>
            <a:off x="6309360" y="914400"/>
            <a:ext cx="2377440" cy="1005840"/>
          </a:xfrm>
          <a:prstGeom prst="roundRect">
            <a:avLst>
              <a:gd name="adj" fmla="val 7273"/>
            </a:avLst>
          </a:prstGeom>
          <a:solidFill>
            <a:srgbClr val="3B2D54"/>
          </a:solidFill>
          <a:ln/>
        </p:spPr>
      </p:sp>
      <p:sp>
        <p:nvSpPr>
          <p:cNvPr id="6" name="Stat ratings"/>
          <p:cNvSpPr txBox="1"/>
          <p:nvPr/>
        </p:nvSpPr>
        <p:spPr>
          <a:xfrm>
            <a:off x="6492240" y="1005840"/>
            <a:ext cx="2011680" cy="502920"/>
          </a:xfrm>
          <a:prstGeom prst="rect">
            <a:avLst/>
          </a:prstGeom>
          <a:noFill/>
          <a:ln/>
        </p:spPr>
        <p:txBody>
          <a:bodyPr wrap="square" lIns="0" tIns="0" rIns="0" bIns="0" rtlCol="0" anchor="ctr"/>
          <a:lstStyle/>
          <a:p>
            <a:pPr indent="0" marL="0">
              <a:buNone/>
            </a:pPr>
            <a:r>
              <a:rPr lang="en-US" sz="3200" b="1" dirty="0">
                <a:solidFill>
                  <a:schemeClr val="accent2"/>
                </a:solidFill>
                <a:latin typeface="+mj-lt" pitchFamily="34" charset="0"/>
                <a:ea typeface="+mj-lt" pitchFamily="34" charset="-122"/>
                <a:cs typeface="+mj-lt" pitchFamily="34" charset="-120"/>
              </a:rPr>
              <a:t>100,836</a:t>
            </a:r>
            <a:endParaRPr lang="en-US" sz="3200" dirty="0"/>
          </a:p>
        </p:txBody>
      </p:sp>
      <p:sp>
        <p:nvSpPr>
          <p:cNvPr id="7" name="Stat label ratings"/>
          <p:cNvSpPr txBox="1"/>
          <p:nvPr/>
        </p:nvSpPr>
        <p:spPr>
          <a:xfrm>
            <a:off x="6492240" y="1508760"/>
            <a:ext cx="2011680" cy="274320"/>
          </a:xfrm>
          <a:prstGeom prst="rect">
            <a:avLst/>
          </a:prstGeom>
          <a:noFill/>
          <a:ln/>
        </p:spPr>
        <p:txBody>
          <a:bodyPr wrap="square" lIns="0" tIns="0" rIns="0" bIns="0" rtlCol="0" anchor="t"/>
          <a:lstStyle/>
          <a:p>
            <a:pPr indent="0" marL="0">
              <a:buNone/>
            </a:pPr>
            <a:r>
              <a:rPr lang="en-US" sz="1400" dirty="0">
                <a:solidFill>
                  <a:schemeClr val="bg2"/>
                </a:solidFill>
              </a:rPr>
              <a:t>ratings</a:t>
            </a:r>
            <a:endParaRPr lang="en-US" sz="1400" dirty="0"/>
          </a:p>
        </p:txBody>
      </p:sp>
      <p:sp>
        <p:nvSpPr>
          <p:cNvPr id="8" name="Stat card users"/>
          <p:cNvSpPr/>
          <p:nvPr/>
        </p:nvSpPr>
        <p:spPr>
          <a:xfrm>
            <a:off x="6309360" y="2103120"/>
            <a:ext cx="2377440" cy="1005840"/>
          </a:xfrm>
          <a:prstGeom prst="roundRect">
            <a:avLst>
              <a:gd name="adj" fmla="val 7273"/>
            </a:avLst>
          </a:prstGeom>
          <a:solidFill>
            <a:srgbClr val="3B2D54"/>
          </a:solidFill>
          <a:ln/>
        </p:spPr>
      </p:sp>
      <p:sp>
        <p:nvSpPr>
          <p:cNvPr id="9" name="Stat users"/>
          <p:cNvSpPr txBox="1"/>
          <p:nvPr/>
        </p:nvSpPr>
        <p:spPr>
          <a:xfrm>
            <a:off x="6492240" y="2194560"/>
            <a:ext cx="2011680" cy="502920"/>
          </a:xfrm>
          <a:prstGeom prst="rect">
            <a:avLst/>
          </a:prstGeom>
          <a:noFill/>
          <a:ln/>
        </p:spPr>
        <p:txBody>
          <a:bodyPr wrap="square" lIns="0" tIns="0" rIns="0" bIns="0" rtlCol="0" anchor="ctr"/>
          <a:lstStyle/>
          <a:p>
            <a:pPr indent="0" marL="0">
              <a:buNone/>
            </a:pPr>
            <a:r>
              <a:rPr lang="en-US" sz="3200" b="1" dirty="0">
                <a:solidFill>
                  <a:schemeClr val="accent2"/>
                </a:solidFill>
                <a:latin typeface="+mj-lt" pitchFamily="34" charset="0"/>
                <a:ea typeface="+mj-lt" pitchFamily="34" charset="-122"/>
                <a:cs typeface="+mj-lt" pitchFamily="34" charset="-120"/>
              </a:rPr>
              <a:t>610</a:t>
            </a:r>
            <a:endParaRPr lang="en-US" sz="3200" dirty="0"/>
          </a:p>
        </p:txBody>
      </p:sp>
      <p:sp>
        <p:nvSpPr>
          <p:cNvPr id="10" name="Stat label users"/>
          <p:cNvSpPr txBox="1"/>
          <p:nvPr/>
        </p:nvSpPr>
        <p:spPr>
          <a:xfrm>
            <a:off x="6492240" y="2697480"/>
            <a:ext cx="2011680" cy="274320"/>
          </a:xfrm>
          <a:prstGeom prst="rect">
            <a:avLst/>
          </a:prstGeom>
          <a:noFill/>
          <a:ln/>
        </p:spPr>
        <p:txBody>
          <a:bodyPr wrap="square" lIns="0" tIns="0" rIns="0" bIns="0" rtlCol="0" anchor="t"/>
          <a:lstStyle/>
          <a:p>
            <a:pPr indent="0" marL="0">
              <a:buNone/>
            </a:pPr>
            <a:r>
              <a:rPr lang="en-US" sz="1400" dirty="0">
                <a:solidFill>
                  <a:schemeClr val="bg2"/>
                </a:solidFill>
              </a:rPr>
              <a:t>users</a:t>
            </a:r>
            <a:endParaRPr lang="en-US" sz="1400" dirty="0"/>
          </a:p>
        </p:txBody>
      </p:sp>
      <p:sp>
        <p:nvSpPr>
          <p:cNvPr id="11" name="Stat card movies"/>
          <p:cNvSpPr/>
          <p:nvPr/>
        </p:nvSpPr>
        <p:spPr>
          <a:xfrm>
            <a:off x="6309360" y="3291840"/>
            <a:ext cx="2377440" cy="1005840"/>
          </a:xfrm>
          <a:prstGeom prst="roundRect">
            <a:avLst>
              <a:gd name="adj" fmla="val 7273"/>
            </a:avLst>
          </a:prstGeom>
          <a:solidFill>
            <a:srgbClr val="3B2D54"/>
          </a:solidFill>
          <a:ln/>
        </p:spPr>
      </p:sp>
      <p:sp>
        <p:nvSpPr>
          <p:cNvPr id="12" name="Stat movies"/>
          <p:cNvSpPr txBox="1"/>
          <p:nvPr/>
        </p:nvSpPr>
        <p:spPr>
          <a:xfrm>
            <a:off x="6492240" y="3383280"/>
            <a:ext cx="2011680" cy="502920"/>
          </a:xfrm>
          <a:prstGeom prst="rect">
            <a:avLst/>
          </a:prstGeom>
          <a:noFill/>
          <a:ln/>
        </p:spPr>
        <p:txBody>
          <a:bodyPr wrap="square" lIns="0" tIns="0" rIns="0" bIns="0" rtlCol="0" anchor="ctr"/>
          <a:lstStyle/>
          <a:p>
            <a:pPr indent="0" marL="0">
              <a:buNone/>
            </a:pPr>
            <a:r>
              <a:rPr lang="en-US" sz="3200" b="1" dirty="0">
                <a:solidFill>
                  <a:schemeClr val="accent2"/>
                </a:solidFill>
                <a:latin typeface="+mj-lt" pitchFamily="34" charset="0"/>
                <a:ea typeface="+mj-lt" pitchFamily="34" charset="-122"/>
                <a:cs typeface="+mj-lt" pitchFamily="34" charset="-120"/>
              </a:rPr>
              <a:t>9,742</a:t>
            </a:r>
            <a:endParaRPr lang="en-US" sz="3200" dirty="0"/>
          </a:p>
        </p:txBody>
      </p:sp>
      <p:sp>
        <p:nvSpPr>
          <p:cNvPr id="13" name="Stat label movies"/>
          <p:cNvSpPr txBox="1"/>
          <p:nvPr/>
        </p:nvSpPr>
        <p:spPr>
          <a:xfrm>
            <a:off x="6492240" y="3886200"/>
            <a:ext cx="2011680" cy="274320"/>
          </a:xfrm>
          <a:prstGeom prst="rect">
            <a:avLst/>
          </a:prstGeom>
          <a:noFill/>
          <a:ln/>
        </p:spPr>
        <p:txBody>
          <a:bodyPr wrap="square" lIns="0" tIns="0" rIns="0" bIns="0" rtlCol="0" anchor="t"/>
          <a:lstStyle/>
          <a:p>
            <a:pPr indent="0" marL="0">
              <a:buNone/>
            </a:pPr>
            <a:r>
              <a:rPr lang="en-US" sz="1400" dirty="0">
                <a:solidFill>
                  <a:schemeClr val="bg2"/>
                </a:solidFill>
              </a:rPr>
              <a:t>movies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Section pill"/>
          <p:cNvSpPr/>
          <p:nvPr/>
        </p:nvSpPr>
        <p:spPr>
          <a:xfrm>
            <a:off x="457200" y="228600"/>
            <a:ext cx="804672" cy="237744"/>
          </a:xfrm>
          <a:prstGeom prst="roundRect">
            <a:avLst>
              <a:gd name="adj" fmla="val 50000"/>
            </a:avLst>
          </a:prstGeom>
          <a:solidFill>
            <a:schemeClr val="accent2"/>
          </a:solidFill>
          <a:ln/>
        </p:spPr>
      </p:sp>
      <p:sp>
        <p:nvSpPr>
          <p:cNvPr id="4" name="Section pill text"/>
          <p:cNvSpPr txBox="1"/>
          <p:nvPr/>
        </p:nvSpPr>
        <p:spPr>
          <a:xfrm>
            <a:off x="457200" y="228600"/>
            <a:ext cx="804672" cy="237744"/>
          </a:xfrm>
          <a:prstGeom prst="rect">
            <a:avLst/>
          </a:prstGeom>
          <a:noFill/>
          <a:ln/>
        </p:spPr>
        <p:txBody>
          <a:bodyPr wrap="square" lIns="0" tIns="0" rIns="0" bIns="0" rtlCol="0" anchor="ctr"/>
          <a:lstStyle/>
          <a:p>
            <a:pPr algn="ctr" indent="0" marL="0">
              <a:buNone/>
            </a:pPr>
            <a:r>
              <a:rPr lang="en-US" sz="1000" b="1" dirty="0">
                <a:solidFill>
                  <a:schemeClr val="tx1"/>
                </a:solidFill>
              </a:rPr>
              <a:t>OVERVIEW</a:t>
            </a:r>
            <a:endParaRPr lang="en-US" sz="1000" dirty="0"/>
          </a:p>
        </p:txBody>
      </p:sp>
      <p:sp>
        <p:nvSpPr>
          <p:cNvPr id="5" name="Text 0"/>
          <p:cNvSpPr/>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Is the recommender any good, and for whom?</a:t>
            </a:r>
            <a:endParaRPr lang="en-US" sz="2400" dirty="0"/>
          </a:p>
        </p:txBody>
      </p:sp>
      <p:sp>
        <p:nvSpPr>
          <p:cNvPr id="6" name="Question card 1"/>
          <p:cNvSpPr/>
          <p:nvPr/>
        </p:nvSpPr>
        <p:spPr>
          <a:xfrm>
            <a:off x="457200" y="1325880"/>
            <a:ext cx="4846320" cy="932688"/>
          </a:xfrm>
          <a:prstGeom prst="roundRect">
            <a:avLst>
              <a:gd name="adj" fmla="val 7843"/>
            </a:avLst>
          </a:prstGeom>
          <a:solidFill>
            <a:schemeClr val="bg1"/>
          </a:solidFill>
          <a:ln w="9525">
            <a:solidFill>
              <a:srgbClr val="E4DCCB"/>
            </a:solidFill>
            <a:prstDash val="solid"/>
          </a:ln>
        </p:spPr>
      </p:sp>
      <p:sp>
        <p:nvSpPr>
          <p:cNvPr id="7" name="Number circle 1"/>
          <p:cNvSpPr/>
          <p:nvPr/>
        </p:nvSpPr>
        <p:spPr>
          <a:xfrm>
            <a:off x="621792" y="1563624"/>
            <a:ext cx="457200" cy="457200"/>
          </a:xfrm>
          <a:prstGeom prst="ellipse">
            <a:avLst/>
          </a:prstGeom>
          <a:solidFill>
            <a:schemeClr val="accent2"/>
          </a:solidFill>
          <a:ln/>
        </p:spPr>
      </p:sp>
      <p:sp>
        <p:nvSpPr>
          <p:cNvPr id="8" name="Number 1"/>
          <p:cNvSpPr txBox="1"/>
          <p:nvPr/>
        </p:nvSpPr>
        <p:spPr>
          <a:xfrm>
            <a:off x="621792" y="1563624"/>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9" name="Question 1"/>
          <p:cNvSpPr txBox="1"/>
          <p:nvPr/>
        </p:nvSpPr>
        <p:spPr>
          <a:xfrm>
            <a:off x="1280160" y="1435608"/>
            <a:ext cx="3931920" cy="329184"/>
          </a:xfrm>
          <a:prstGeom prst="rect">
            <a:avLst/>
          </a:prstGeom>
          <a:noFill/>
          <a:ln/>
        </p:spPr>
        <p:txBody>
          <a:bodyPr wrap="square" lIns="0" tIns="0" rIns="0" bIns="0" rtlCol="0" anchor="ctr"/>
          <a:lstStyle/>
          <a:p>
            <a:pPr indent="0" marL="0">
              <a:buNone/>
            </a:pPr>
            <a:r>
              <a:rPr lang="en-US" sz="1600" b="1" dirty="0">
                <a:solidFill>
                  <a:schemeClr val="tx1"/>
                </a:solidFill>
              </a:rPr>
              <a:t>Which split is honest?</a:t>
            </a:r>
            <a:endParaRPr lang="en-US" sz="1600" dirty="0"/>
          </a:p>
        </p:txBody>
      </p:sp>
      <p:sp>
        <p:nvSpPr>
          <p:cNvPr id="10" name="Question detail 1"/>
          <p:cNvSpPr txBox="1"/>
          <p:nvPr/>
        </p:nvSpPr>
        <p:spPr>
          <a:xfrm>
            <a:off x="1280160" y="1783080"/>
            <a:ext cx="3931920" cy="402336"/>
          </a:xfrm>
          <a:prstGeom prst="rect">
            <a:avLst/>
          </a:prstGeom>
          <a:noFill/>
          <a:ln/>
        </p:spPr>
        <p:txBody>
          <a:bodyPr wrap="square" lIns="0" tIns="0" rIns="0" bIns="0" rtlCol="0" anchor="t"/>
          <a:lstStyle/>
          <a:p>
            <a:pPr indent="0" marL="0">
              <a:buNone/>
            </a:pPr>
            <a:r>
              <a:rPr lang="en-US" sz="1300" dirty="0">
                <a:solidFill>
                  <a:srgbClr val="4A4458"/>
                </a:solidFill>
              </a:rPr>
              <a:t>Temporal vs random vs leave-one-out: where does leakage hide?</a:t>
            </a:r>
            <a:endParaRPr lang="en-US" sz="1300" dirty="0"/>
          </a:p>
        </p:txBody>
      </p:sp>
      <p:sp>
        <p:nvSpPr>
          <p:cNvPr id="11" name="Question card 2"/>
          <p:cNvSpPr/>
          <p:nvPr/>
        </p:nvSpPr>
        <p:spPr>
          <a:xfrm>
            <a:off x="457200" y="2404872"/>
            <a:ext cx="4846320" cy="932688"/>
          </a:xfrm>
          <a:prstGeom prst="roundRect">
            <a:avLst>
              <a:gd name="adj" fmla="val 7843"/>
            </a:avLst>
          </a:prstGeom>
          <a:solidFill>
            <a:schemeClr val="bg1"/>
          </a:solidFill>
          <a:ln w="9525">
            <a:solidFill>
              <a:srgbClr val="E4DCCB"/>
            </a:solidFill>
            <a:prstDash val="solid"/>
          </a:ln>
        </p:spPr>
      </p:sp>
      <p:sp>
        <p:nvSpPr>
          <p:cNvPr id="12" name="Number circle 2"/>
          <p:cNvSpPr/>
          <p:nvPr/>
        </p:nvSpPr>
        <p:spPr>
          <a:xfrm>
            <a:off x="621792" y="2642616"/>
            <a:ext cx="457200" cy="457200"/>
          </a:xfrm>
          <a:prstGeom prst="ellipse">
            <a:avLst/>
          </a:prstGeom>
          <a:solidFill>
            <a:schemeClr val="accent2"/>
          </a:solidFill>
          <a:ln/>
        </p:spPr>
      </p:sp>
      <p:sp>
        <p:nvSpPr>
          <p:cNvPr id="13" name="Number 2"/>
          <p:cNvSpPr txBox="1"/>
          <p:nvPr/>
        </p:nvSpPr>
        <p:spPr>
          <a:xfrm>
            <a:off x="621792" y="2642616"/>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4" name="Question 2"/>
          <p:cNvSpPr txBox="1"/>
          <p:nvPr/>
        </p:nvSpPr>
        <p:spPr>
          <a:xfrm>
            <a:off x="1280160" y="2514600"/>
            <a:ext cx="3931920" cy="329184"/>
          </a:xfrm>
          <a:prstGeom prst="rect">
            <a:avLst/>
          </a:prstGeom>
          <a:noFill/>
          <a:ln/>
        </p:spPr>
        <p:txBody>
          <a:bodyPr wrap="square" lIns="0" tIns="0" rIns="0" bIns="0" rtlCol="0" anchor="ctr"/>
          <a:lstStyle/>
          <a:p>
            <a:pPr indent="0" marL="0">
              <a:buNone/>
            </a:pPr>
            <a:r>
              <a:rPr lang="en-US" sz="1600" b="1" dirty="0">
                <a:solidFill>
                  <a:schemeClr val="tx1"/>
                </a:solidFill>
              </a:rPr>
              <a:t>Which metric fits the product?</a:t>
            </a:r>
            <a:endParaRPr lang="en-US" sz="1600" dirty="0"/>
          </a:p>
        </p:txBody>
      </p:sp>
      <p:sp>
        <p:nvSpPr>
          <p:cNvPr id="15" name="Question detail 2"/>
          <p:cNvSpPr txBox="1"/>
          <p:nvPr/>
        </p:nvSpPr>
        <p:spPr>
          <a:xfrm>
            <a:off x="1280160" y="2862072"/>
            <a:ext cx="3931920" cy="402336"/>
          </a:xfrm>
          <a:prstGeom prst="rect">
            <a:avLst/>
          </a:prstGeom>
          <a:noFill/>
          <a:ln/>
        </p:spPr>
        <p:txBody>
          <a:bodyPr wrap="square" lIns="0" tIns="0" rIns="0" bIns="0" rtlCol="0" anchor="t"/>
          <a:lstStyle/>
          <a:p>
            <a:pPr indent="0" marL="0">
              <a:buNone/>
            </a:pPr>
            <a:r>
              <a:rPr lang="en-US" sz="1300" dirty="0">
                <a:solidFill>
                  <a:srgbClr val="4A4458"/>
                </a:solidFill>
              </a:rPr>
              <a:t>RMSE rates predictions; Precision, NDCG and MRR rate top-K lists.</a:t>
            </a:r>
            <a:endParaRPr lang="en-US" sz="1300" dirty="0"/>
          </a:p>
        </p:txBody>
      </p:sp>
      <p:sp>
        <p:nvSpPr>
          <p:cNvPr id="16" name="Question card 3"/>
          <p:cNvSpPr/>
          <p:nvPr/>
        </p:nvSpPr>
        <p:spPr>
          <a:xfrm>
            <a:off x="457200" y="3483864"/>
            <a:ext cx="4846320" cy="932688"/>
          </a:xfrm>
          <a:prstGeom prst="roundRect">
            <a:avLst>
              <a:gd name="adj" fmla="val 7843"/>
            </a:avLst>
          </a:prstGeom>
          <a:solidFill>
            <a:schemeClr val="bg1"/>
          </a:solidFill>
          <a:ln w="9525">
            <a:solidFill>
              <a:srgbClr val="E4DCCB"/>
            </a:solidFill>
            <a:prstDash val="solid"/>
          </a:ln>
        </p:spPr>
      </p:sp>
      <p:sp>
        <p:nvSpPr>
          <p:cNvPr id="17" name="Number circle 3"/>
          <p:cNvSpPr/>
          <p:nvPr/>
        </p:nvSpPr>
        <p:spPr>
          <a:xfrm>
            <a:off x="621792" y="3721608"/>
            <a:ext cx="457200" cy="457200"/>
          </a:xfrm>
          <a:prstGeom prst="ellipse">
            <a:avLst/>
          </a:prstGeom>
          <a:solidFill>
            <a:schemeClr val="accent2"/>
          </a:solidFill>
          <a:ln/>
        </p:spPr>
      </p:sp>
      <p:sp>
        <p:nvSpPr>
          <p:cNvPr id="18" name="Number 3"/>
          <p:cNvSpPr txBox="1"/>
          <p:nvPr/>
        </p:nvSpPr>
        <p:spPr>
          <a:xfrm>
            <a:off x="621792" y="3721608"/>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9" name="Question 3"/>
          <p:cNvSpPr txBox="1"/>
          <p:nvPr/>
        </p:nvSpPr>
        <p:spPr>
          <a:xfrm>
            <a:off x="1280160" y="3593592"/>
            <a:ext cx="3931920" cy="329184"/>
          </a:xfrm>
          <a:prstGeom prst="rect">
            <a:avLst/>
          </a:prstGeom>
          <a:noFill/>
          <a:ln/>
        </p:spPr>
        <p:txBody>
          <a:bodyPr wrap="square" lIns="0" tIns="0" rIns="0" bIns="0" rtlCol="0" anchor="ctr"/>
          <a:lstStyle/>
          <a:p>
            <a:pPr indent="0" marL="0">
              <a:buNone/>
            </a:pPr>
            <a:r>
              <a:rPr lang="en-US" sz="1600" b="1" dirty="0">
                <a:solidFill>
                  <a:schemeClr val="tx1"/>
                </a:solidFill>
              </a:rPr>
              <a:t>What happens off the happy path?</a:t>
            </a:r>
            <a:endParaRPr lang="en-US" sz="1600" dirty="0"/>
          </a:p>
        </p:txBody>
      </p:sp>
      <p:sp>
        <p:nvSpPr>
          <p:cNvPr id="20" name="Question detail 3"/>
          <p:cNvSpPr txBox="1"/>
          <p:nvPr/>
        </p:nvSpPr>
        <p:spPr>
          <a:xfrm>
            <a:off x="1280160" y="3941064"/>
            <a:ext cx="3931920" cy="402336"/>
          </a:xfrm>
          <a:prstGeom prst="rect">
            <a:avLst/>
          </a:prstGeom>
          <a:noFill/>
          <a:ln/>
        </p:spPr>
        <p:txBody>
          <a:bodyPr wrap="square" lIns="0" tIns="0" rIns="0" bIns="0" rtlCol="0" anchor="t"/>
          <a:lstStyle/>
          <a:p>
            <a:pPr indent="0" marL="0">
              <a:buNone/>
            </a:pPr>
            <a:r>
              <a:rPr lang="en-US" sz="1300" dirty="0">
                <a:solidFill>
                  <a:srgbClr val="4A4458"/>
                </a:solidFill>
              </a:rPr>
              <a:t>Cold-start users and items, hybrids, and the online A/B test.</a:t>
            </a:r>
            <a:endParaRPr lang="en-US" sz="1300" dirty="0"/>
          </a:p>
        </p:txBody>
      </p:sp>
      <p:sp>
        <p:nvSpPr>
          <p:cNvPr id="21" name="Stat tile ratings"/>
          <p:cNvSpPr/>
          <p:nvPr/>
        </p:nvSpPr>
        <p:spPr>
          <a:xfrm>
            <a:off x="5577840" y="1325880"/>
            <a:ext cx="1508760" cy="1298448"/>
          </a:xfrm>
          <a:prstGeom prst="roundRect">
            <a:avLst>
              <a:gd name="adj" fmla="val 5634"/>
            </a:avLst>
          </a:prstGeom>
          <a:solidFill>
            <a:schemeClr val="bg1"/>
          </a:solidFill>
          <a:ln w="9525">
            <a:solidFill>
              <a:srgbClr val="E4DCCB"/>
            </a:solidFill>
            <a:prstDash val="solid"/>
          </a:ln>
        </p:spPr>
      </p:sp>
      <p:sp>
        <p:nvSpPr>
          <p:cNvPr id="22" name="Stat ratings"/>
          <p:cNvSpPr txBox="1"/>
          <p:nvPr/>
        </p:nvSpPr>
        <p:spPr>
          <a:xfrm>
            <a:off x="5687568" y="1463040"/>
            <a:ext cx="1325880" cy="457200"/>
          </a:xfrm>
          <a:prstGeom prst="rect">
            <a:avLst/>
          </a:prstGeom>
          <a:noFill/>
          <a:ln/>
        </p:spPr>
        <p:txBody>
          <a:bodyPr wrap="square" lIns="0" tIns="0" rIns="0" bIns="0" rtlCol="0" anchor="ctr"/>
          <a:lstStyle/>
          <a:p>
            <a:pPr algn="l" indent="0" marL="0">
              <a:buNone/>
            </a:pPr>
            <a:r>
              <a:rPr lang="en-US" sz="2400" b="1" dirty="0">
                <a:solidFill>
                  <a:schemeClr val="accent1"/>
                </a:solidFill>
                <a:latin typeface="+mj-lt" pitchFamily="34" charset="0"/>
                <a:ea typeface="+mj-lt" pitchFamily="34" charset="-122"/>
                <a:cs typeface="+mj-lt" pitchFamily="34" charset="-120"/>
              </a:rPr>
              <a:t>100,836</a:t>
            </a:r>
            <a:endParaRPr lang="en-US" sz="2400" dirty="0"/>
          </a:p>
        </p:txBody>
      </p:sp>
      <p:sp>
        <p:nvSpPr>
          <p:cNvPr id="23" name="Stat label ratings"/>
          <p:cNvSpPr txBox="1"/>
          <p:nvPr/>
        </p:nvSpPr>
        <p:spPr>
          <a:xfrm>
            <a:off x="5687568" y="1920240"/>
            <a:ext cx="1325880" cy="594360"/>
          </a:xfrm>
          <a:prstGeom prst="rect">
            <a:avLst/>
          </a:prstGeom>
          <a:noFill/>
          <a:ln/>
        </p:spPr>
        <p:txBody>
          <a:bodyPr wrap="square" lIns="0" tIns="0" rIns="0" bIns="0" rtlCol="0" anchor="t"/>
          <a:lstStyle/>
          <a:p>
            <a:pPr algn="l" indent="0" marL="0">
              <a:buNone/>
            </a:pPr>
            <a:r>
              <a:rPr lang="en-US" sz="1200" dirty="0">
                <a:solidFill>
                  <a:schemeClr val="tx1"/>
                </a:solidFill>
              </a:rPr>
              <a:t>ratings</a:t>
            </a:r>
            <a:endParaRPr lang="en-US" sz="1200" dirty="0"/>
          </a:p>
        </p:txBody>
      </p:sp>
      <p:sp>
        <p:nvSpPr>
          <p:cNvPr id="24" name="Stat tile users"/>
          <p:cNvSpPr/>
          <p:nvPr/>
        </p:nvSpPr>
        <p:spPr>
          <a:xfrm>
            <a:off x="7178040" y="1325880"/>
            <a:ext cx="1508760" cy="1298448"/>
          </a:xfrm>
          <a:prstGeom prst="roundRect">
            <a:avLst>
              <a:gd name="adj" fmla="val 5634"/>
            </a:avLst>
          </a:prstGeom>
          <a:solidFill>
            <a:schemeClr val="bg1"/>
          </a:solidFill>
          <a:ln w="9525">
            <a:solidFill>
              <a:srgbClr val="E4DCCB"/>
            </a:solidFill>
            <a:prstDash val="solid"/>
          </a:ln>
        </p:spPr>
      </p:sp>
      <p:sp>
        <p:nvSpPr>
          <p:cNvPr id="25" name="Stat users"/>
          <p:cNvSpPr txBox="1"/>
          <p:nvPr/>
        </p:nvSpPr>
        <p:spPr>
          <a:xfrm>
            <a:off x="7287768" y="1463040"/>
            <a:ext cx="1325880" cy="457200"/>
          </a:xfrm>
          <a:prstGeom prst="rect">
            <a:avLst/>
          </a:prstGeom>
          <a:noFill/>
          <a:ln/>
        </p:spPr>
        <p:txBody>
          <a:bodyPr wrap="square" lIns="0" tIns="0" rIns="0" bIns="0" rtlCol="0" anchor="ctr"/>
          <a:lstStyle/>
          <a:p>
            <a:pPr algn="l" indent="0" marL="0">
              <a:buNone/>
            </a:pPr>
            <a:r>
              <a:rPr lang="en-US" sz="2400" b="1" dirty="0">
                <a:solidFill>
                  <a:schemeClr val="accent1"/>
                </a:solidFill>
                <a:latin typeface="+mj-lt" pitchFamily="34" charset="0"/>
                <a:ea typeface="+mj-lt" pitchFamily="34" charset="-122"/>
                <a:cs typeface="+mj-lt" pitchFamily="34" charset="-120"/>
              </a:rPr>
              <a:t>610</a:t>
            </a:r>
            <a:endParaRPr lang="en-US" sz="2400" dirty="0"/>
          </a:p>
        </p:txBody>
      </p:sp>
      <p:sp>
        <p:nvSpPr>
          <p:cNvPr id="26" name="Stat label users"/>
          <p:cNvSpPr txBox="1"/>
          <p:nvPr/>
        </p:nvSpPr>
        <p:spPr>
          <a:xfrm>
            <a:off x="7287768" y="1920240"/>
            <a:ext cx="1325880" cy="594360"/>
          </a:xfrm>
          <a:prstGeom prst="rect">
            <a:avLst/>
          </a:prstGeom>
          <a:noFill/>
          <a:ln/>
        </p:spPr>
        <p:txBody>
          <a:bodyPr wrap="square" lIns="0" tIns="0" rIns="0" bIns="0" rtlCol="0" anchor="t"/>
          <a:lstStyle/>
          <a:p>
            <a:pPr algn="l" indent="0" marL="0">
              <a:buNone/>
            </a:pPr>
            <a:r>
              <a:rPr lang="en-US" sz="1200" dirty="0">
                <a:solidFill>
                  <a:schemeClr val="tx1"/>
                </a:solidFill>
              </a:rPr>
              <a:t>users</a:t>
            </a:r>
            <a:endParaRPr lang="en-US" sz="1200" dirty="0"/>
          </a:p>
        </p:txBody>
      </p:sp>
      <p:sp>
        <p:nvSpPr>
          <p:cNvPr id="27" name="Stat tile movies"/>
          <p:cNvSpPr/>
          <p:nvPr/>
        </p:nvSpPr>
        <p:spPr>
          <a:xfrm>
            <a:off x="5577840" y="2743200"/>
            <a:ext cx="1508760" cy="1298448"/>
          </a:xfrm>
          <a:prstGeom prst="roundRect">
            <a:avLst>
              <a:gd name="adj" fmla="val 5634"/>
            </a:avLst>
          </a:prstGeom>
          <a:solidFill>
            <a:schemeClr val="bg1"/>
          </a:solidFill>
          <a:ln w="9525">
            <a:solidFill>
              <a:srgbClr val="E4DCCB"/>
            </a:solidFill>
            <a:prstDash val="solid"/>
          </a:ln>
        </p:spPr>
      </p:sp>
      <p:sp>
        <p:nvSpPr>
          <p:cNvPr id="28" name="Stat movies"/>
          <p:cNvSpPr txBox="1"/>
          <p:nvPr/>
        </p:nvSpPr>
        <p:spPr>
          <a:xfrm>
            <a:off x="5687568" y="2880360"/>
            <a:ext cx="1325880" cy="457200"/>
          </a:xfrm>
          <a:prstGeom prst="rect">
            <a:avLst/>
          </a:prstGeom>
          <a:noFill/>
          <a:ln/>
        </p:spPr>
        <p:txBody>
          <a:bodyPr wrap="square" lIns="0" tIns="0" rIns="0" bIns="0" rtlCol="0" anchor="ctr"/>
          <a:lstStyle/>
          <a:p>
            <a:pPr algn="l" indent="0" marL="0">
              <a:buNone/>
            </a:pPr>
            <a:r>
              <a:rPr lang="en-US" sz="2400" b="1" dirty="0">
                <a:solidFill>
                  <a:schemeClr val="accent1"/>
                </a:solidFill>
                <a:latin typeface="+mj-lt" pitchFamily="34" charset="0"/>
                <a:ea typeface="+mj-lt" pitchFamily="34" charset="-122"/>
                <a:cs typeface="+mj-lt" pitchFamily="34" charset="-120"/>
              </a:rPr>
              <a:t>9,742</a:t>
            </a:r>
            <a:endParaRPr lang="en-US" sz="2400" dirty="0"/>
          </a:p>
        </p:txBody>
      </p:sp>
      <p:sp>
        <p:nvSpPr>
          <p:cNvPr id="29" name="Stat label movies"/>
          <p:cNvSpPr txBox="1"/>
          <p:nvPr/>
        </p:nvSpPr>
        <p:spPr>
          <a:xfrm>
            <a:off x="5687568" y="3337560"/>
            <a:ext cx="1325880" cy="594360"/>
          </a:xfrm>
          <a:prstGeom prst="rect">
            <a:avLst/>
          </a:prstGeom>
          <a:noFill/>
          <a:ln/>
        </p:spPr>
        <p:txBody>
          <a:bodyPr wrap="square" lIns="0" tIns="0" rIns="0" bIns="0" rtlCol="0" anchor="t"/>
          <a:lstStyle/>
          <a:p>
            <a:pPr algn="l" indent="0" marL="0">
              <a:buNone/>
            </a:pPr>
            <a:r>
              <a:rPr lang="en-US" sz="1200" dirty="0">
                <a:solidFill>
                  <a:schemeClr val="tx1"/>
                </a:solidFill>
              </a:rPr>
              <a:t>movies</a:t>
            </a:r>
            <a:endParaRPr lang="en-US" sz="1200" dirty="0"/>
          </a:p>
        </p:txBody>
      </p:sp>
      <p:sp>
        <p:nvSpPr>
          <p:cNvPr id="30" name="Stat tile of the user × movie matrix is empty"/>
          <p:cNvSpPr/>
          <p:nvPr/>
        </p:nvSpPr>
        <p:spPr>
          <a:xfrm>
            <a:off x="7178040" y="2743200"/>
            <a:ext cx="1508760" cy="1298448"/>
          </a:xfrm>
          <a:prstGeom prst="roundRect">
            <a:avLst>
              <a:gd name="adj" fmla="val 5634"/>
            </a:avLst>
          </a:prstGeom>
          <a:solidFill>
            <a:schemeClr val="bg1"/>
          </a:solidFill>
          <a:ln w="9525">
            <a:solidFill>
              <a:srgbClr val="E4DCCB"/>
            </a:solidFill>
            <a:prstDash val="solid"/>
          </a:ln>
        </p:spPr>
      </p:sp>
      <p:sp>
        <p:nvSpPr>
          <p:cNvPr id="31" name="Stat of the user × movie matrix is empty"/>
          <p:cNvSpPr txBox="1"/>
          <p:nvPr/>
        </p:nvSpPr>
        <p:spPr>
          <a:xfrm>
            <a:off x="7287768" y="2880360"/>
            <a:ext cx="1325880" cy="457200"/>
          </a:xfrm>
          <a:prstGeom prst="rect">
            <a:avLst/>
          </a:prstGeom>
          <a:noFill/>
          <a:ln/>
        </p:spPr>
        <p:txBody>
          <a:bodyPr wrap="square" lIns="0" tIns="0" rIns="0" bIns="0" rtlCol="0" anchor="ctr"/>
          <a:lstStyle/>
          <a:p>
            <a:pPr algn="l" indent="0" marL="0">
              <a:buNone/>
            </a:pPr>
            <a:r>
              <a:rPr lang="en-US" sz="2400" b="1" dirty="0">
                <a:solidFill>
                  <a:schemeClr val="accent1"/>
                </a:solidFill>
                <a:latin typeface="+mj-lt" pitchFamily="34" charset="0"/>
                <a:ea typeface="+mj-lt" pitchFamily="34" charset="-122"/>
                <a:cs typeface="+mj-lt" pitchFamily="34" charset="-120"/>
              </a:rPr>
              <a:t>98.3%</a:t>
            </a:r>
            <a:endParaRPr lang="en-US" sz="2400" dirty="0"/>
          </a:p>
        </p:txBody>
      </p:sp>
      <p:sp>
        <p:nvSpPr>
          <p:cNvPr id="32" name="Stat label of the user × movie matrix is empty"/>
          <p:cNvSpPr txBox="1"/>
          <p:nvPr/>
        </p:nvSpPr>
        <p:spPr>
          <a:xfrm>
            <a:off x="7287768" y="3337560"/>
            <a:ext cx="1325880" cy="594360"/>
          </a:xfrm>
          <a:prstGeom prst="rect">
            <a:avLst/>
          </a:prstGeom>
          <a:noFill/>
          <a:ln/>
        </p:spPr>
        <p:txBody>
          <a:bodyPr wrap="square" lIns="0" tIns="0" rIns="0" bIns="0" rtlCol="0" anchor="t"/>
          <a:lstStyle/>
          <a:p>
            <a:pPr algn="l" indent="0" marL="0">
              <a:buNone/>
            </a:pPr>
            <a:r>
              <a:rPr lang="en-US" sz="1200" dirty="0">
                <a:solidFill>
                  <a:schemeClr val="tx1"/>
                </a:solidFill>
              </a:rPr>
              <a:t>of the user × movie matrix is empty</a:t>
            </a:r>
            <a:endParaRPr lang="en-US" sz="1200" dirty="0"/>
          </a:p>
        </p:txBody>
      </p:sp>
      <p:sp>
        <p:nvSpPr>
          <p:cNvPr id="33" name="Setup note"/>
          <p:cNvSpPr txBox="1"/>
          <p:nvPr/>
        </p:nvSpPr>
        <p:spPr>
          <a:xfrm>
            <a:off x="5577840" y="4160520"/>
            <a:ext cx="3108960" cy="457200"/>
          </a:xfrm>
          <a:prstGeom prst="rect">
            <a:avLst/>
          </a:prstGeom>
          <a:noFill/>
          <a:ln/>
        </p:spPr>
        <p:txBody>
          <a:bodyPr wrap="square" lIns="0" tIns="0" rIns="0" bIns="0" rtlCol="0" anchor="t"/>
          <a:lstStyle/>
          <a:p>
            <a:pPr indent="0" marL="0">
              <a:buNone/>
            </a:pPr>
            <a:r>
              <a:rPr lang="en-US" sz="1100" dirty="0">
                <a:solidFill>
                  <a:srgbClr val="4A4458"/>
                </a:solidFill>
              </a:rPr>
              <a:t>Ratings run 0.5-5 stars; a held-out title is relevant if rated ≥ 4★. Default list length K = 10.</a:t>
            </a:r>
            <a:endParaRPr lang="en-US" sz="11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Section pill"/>
          <p:cNvSpPr/>
          <p:nvPr/>
        </p:nvSpPr>
        <p:spPr>
          <a:xfrm>
            <a:off x="457200" y="228600"/>
            <a:ext cx="804672" cy="237744"/>
          </a:xfrm>
          <a:prstGeom prst="roundRect">
            <a:avLst>
              <a:gd name="adj" fmla="val 50000"/>
            </a:avLst>
          </a:prstGeom>
          <a:solidFill>
            <a:schemeClr val="accent2"/>
          </a:solidFill>
          <a:ln/>
        </p:spPr>
      </p:sp>
      <p:sp>
        <p:nvSpPr>
          <p:cNvPr id="4" name="Section pill text"/>
          <p:cNvSpPr txBox="1"/>
          <p:nvPr/>
        </p:nvSpPr>
        <p:spPr>
          <a:xfrm>
            <a:off x="457200" y="228600"/>
            <a:ext cx="804672" cy="237744"/>
          </a:xfrm>
          <a:prstGeom prst="rect">
            <a:avLst/>
          </a:prstGeom>
          <a:noFill/>
          <a:ln/>
        </p:spPr>
        <p:txBody>
          <a:bodyPr wrap="square" lIns="0" tIns="0" rIns="0" bIns="0" rtlCol="0" anchor="ctr"/>
          <a:lstStyle/>
          <a:p>
            <a:pPr algn="ctr" indent="0" marL="0">
              <a:buNone/>
            </a:pPr>
            <a:r>
              <a:rPr lang="en-US" sz="1000" b="1" dirty="0">
                <a:solidFill>
                  <a:schemeClr val="tx1"/>
                </a:solidFill>
              </a:rPr>
              <a:t>PIPELINE</a:t>
            </a:r>
            <a:endParaRPr lang="en-US" sz="1000" dirty="0"/>
          </a:p>
        </p:txBody>
      </p:sp>
      <p:sp>
        <p:nvSpPr>
          <p:cNvPr id="5" name="Text 0"/>
          <p:cNvSpPr/>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Eight phases, from one number to a full evaluation</a:t>
            </a:r>
            <a:endParaRPr lang="en-US" sz="2400" dirty="0"/>
          </a:p>
        </p:txBody>
      </p:sp>
      <p:sp>
        <p:nvSpPr>
          <p:cNvPr id="6" name="Phase card 1"/>
          <p:cNvSpPr/>
          <p:nvPr/>
        </p:nvSpPr>
        <p:spPr>
          <a:xfrm>
            <a:off x="457200" y="1325880"/>
            <a:ext cx="1920240" cy="1325880"/>
          </a:xfrm>
          <a:prstGeom prst="roundRect">
            <a:avLst>
              <a:gd name="adj" fmla="val 5517"/>
            </a:avLst>
          </a:prstGeom>
          <a:solidFill>
            <a:schemeClr val="bg1"/>
          </a:solidFill>
          <a:ln w="9525">
            <a:solidFill>
              <a:srgbClr val="E4DCCB"/>
            </a:solidFill>
            <a:prstDash val="solid"/>
          </a:ln>
        </p:spPr>
      </p:sp>
      <p:sp>
        <p:nvSpPr>
          <p:cNvPr id="7" name="Phase circle 1"/>
          <p:cNvSpPr/>
          <p:nvPr/>
        </p:nvSpPr>
        <p:spPr>
          <a:xfrm>
            <a:off x="594360" y="1463040"/>
            <a:ext cx="384048" cy="384048"/>
          </a:xfrm>
          <a:prstGeom prst="ellipse">
            <a:avLst/>
          </a:prstGeom>
          <a:solidFill>
            <a:schemeClr val="accent2"/>
          </a:solidFill>
          <a:ln/>
        </p:spPr>
      </p:sp>
      <p:sp>
        <p:nvSpPr>
          <p:cNvPr id="8" name="Phase number 1"/>
          <p:cNvSpPr txBox="1"/>
          <p:nvPr/>
        </p:nvSpPr>
        <p:spPr>
          <a:xfrm>
            <a:off x="594360" y="1463040"/>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1</a:t>
            </a:r>
            <a:endParaRPr lang="en-US" sz="1500" dirty="0"/>
          </a:p>
        </p:txBody>
      </p:sp>
      <p:sp>
        <p:nvSpPr>
          <p:cNvPr id="9" name="Phase name 1"/>
          <p:cNvSpPr txBox="1"/>
          <p:nvPr/>
        </p:nvSpPr>
        <p:spPr>
          <a:xfrm>
            <a:off x="1051560" y="1463040"/>
            <a:ext cx="1234440" cy="384048"/>
          </a:xfrm>
          <a:prstGeom prst="rect">
            <a:avLst/>
          </a:prstGeom>
          <a:noFill/>
          <a:ln/>
        </p:spPr>
        <p:txBody>
          <a:bodyPr wrap="square" lIns="0" tIns="0" rIns="0" bIns="0" rtlCol="0" anchor="ctr"/>
          <a:lstStyle/>
          <a:p>
            <a:pPr indent="0" marL="0">
              <a:buNone/>
            </a:pPr>
            <a:r>
              <a:rPr lang="en-US" sz="1400" b="1" dirty="0">
                <a:solidFill>
                  <a:schemeClr val="tx1"/>
                </a:solidFill>
              </a:rPr>
              <a:t>Splits</a:t>
            </a:r>
            <a:endParaRPr lang="en-US" sz="1400" dirty="0"/>
          </a:p>
        </p:txBody>
      </p:sp>
      <p:sp>
        <p:nvSpPr>
          <p:cNvPr id="10" name="Phase detail 1"/>
          <p:cNvSpPr txBox="1"/>
          <p:nvPr/>
        </p:nvSpPr>
        <p:spPr>
          <a:xfrm>
            <a:off x="594360" y="1947672"/>
            <a:ext cx="1664208" cy="640080"/>
          </a:xfrm>
          <a:prstGeom prst="rect">
            <a:avLst/>
          </a:prstGeom>
          <a:noFill/>
          <a:ln/>
        </p:spPr>
        <p:txBody>
          <a:bodyPr wrap="square" lIns="0" tIns="0" rIns="0" bIns="0" rtlCol="0" anchor="t"/>
          <a:lstStyle/>
          <a:p>
            <a:pPr indent="0" marL="0">
              <a:buNone/>
            </a:pPr>
            <a:r>
              <a:rPr lang="en-US" sz="1200" dirty="0">
                <a:solidFill>
                  <a:srgbClr val="4A4458"/>
                </a:solidFill>
              </a:rPr>
              <a:t>Temporal, leave-one-out, random: which are leak-free?</a:t>
            </a:r>
            <a:endParaRPr lang="en-US" sz="1200" dirty="0"/>
          </a:p>
        </p:txBody>
      </p:sp>
      <p:sp>
        <p:nvSpPr>
          <p:cNvPr id="11" name="Phase card 2"/>
          <p:cNvSpPr/>
          <p:nvPr/>
        </p:nvSpPr>
        <p:spPr>
          <a:xfrm>
            <a:off x="2560320" y="1325880"/>
            <a:ext cx="1920240" cy="1325880"/>
          </a:xfrm>
          <a:prstGeom prst="roundRect">
            <a:avLst>
              <a:gd name="adj" fmla="val 5517"/>
            </a:avLst>
          </a:prstGeom>
          <a:solidFill>
            <a:schemeClr val="bg1"/>
          </a:solidFill>
          <a:ln w="9525">
            <a:solidFill>
              <a:srgbClr val="E4DCCB"/>
            </a:solidFill>
            <a:prstDash val="solid"/>
          </a:ln>
        </p:spPr>
      </p:sp>
      <p:sp>
        <p:nvSpPr>
          <p:cNvPr id="12" name="Phase circle 2"/>
          <p:cNvSpPr/>
          <p:nvPr/>
        </p:nvSpPr>
        <p:spPr>
          <a:xfrm>
            <a:off x="2697480" y="1463040"/>
            <a:ext cx="384048" cy="384048"/>
          </a:xfrm>
          <a:prstGeom prst="ellipse">
            <a:avLst/>
          </a:prstGeom>
          <a:solidFill>
            <a:schemeClr val="accent2"/>
          </a:solidFill>
          <a:ln/>
        </p:spPr>
      </p:sp>
      <p:sp>
        <p:nvSpPr>
          <p:cNvPr id="13" name="Phase number 2"/>
          <p:cNvSpPr txBox="1"/>
          <p:nvPr/>
        </p:nvSpPr>
        <p:spPr>
          <a:xfrm>
            <a:off x="2697480" y="1463040"/>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2</a:t>
            </a:r>
            <a:endParaRPr lang="en-US" sz="1500" dirty="0"/>
          </a:p>
        </p:txBody>
      </p:sp>
      <p:sp>
        <p:nvSpPr>
          <p:cNvPr id="14" name="Phase name 2"/>
          <p:cNvSpPr txBox="1"/>
          <p:nvPr/>
        </p:nvSpPr>
        <p:spPr>
          <a:xfrm>
            <a:off x="3154680" y="1463040"/>
            <a:ext cx="1234440" cy="384048"/>
          </a:xfrm>
          <a:prstGeom prst="rect">
            <a:avLst/>
          </a:prstGeom>
          <a:noFill/>
          <a:ln/>
        </p:spPr>
        <p:txBody>
          <a:bodyPr wrap="square" lIns="0" tIns="0" rIns="0" bIns="0" rtlCol="0" anchor="ctr"/>
          <a:lstStyle/>
          <a:p>
            <a:pPr indent="0" marL="0">
              <a:buNone/>
            </a:pPr>
            <a:r>
              <a:rPr lang="en-US" sz="1400" b="1" dirty="0">
                <a:solidFill>
                  <a:schemeClr val="tx1"/>
                </a:solidFill>
              </a:rPr>
              <a:t>Rating error</a:t>
            </a:r>
            <a:endParaRPr lang="en-US" sz="1400" dirty="0"/>
          </a:p>
        </p:txBody>
      </p:sp>
      <p:sp>
        <p:nvSpPr>
          <p:cNvPr id="15" name="Phase detail 2"/>
          <p:cNvSpPr txBox="1"/>
          <p:nvPr/>
        </p:nvSpPr>
        <p:spPr>
          <a:xfrm>
            <a:off x="2697480" y="1947672"/>
            <a:ext cx="1664208" cy="640080"/>
          </a:xfrm>
          <a:prstGeom prst="rect">
            <a:avLst/>
          </a:prstGeom>
          <a:noFill/>
          <a:ln/>
        </p:spPr>
        <p:txBody>
          <a:bodyPr wrap="square" lIns="0" tIns="0" rIns="0" bIns="0" rtlCol="0" anchor="t"/>
          <a:lstStyle/>
          <a:p>
            <a:pPr indent="0" marL="0">
              <a:buNone/>
            </a:pPr>
            <a:r>
              <a:rPr lang="en-US" sz="1200" dirty="0">
                <a:solidFill>
                  <a:srgbClr val="4A4458"/>
                </a:solidFill>
              </a:rPr>
              <a:t>RMSE and MAE against mean baselines</a:t>
            </a:r>
            <a:endParaRPr lang="en-US" sz="1200" dirty="0"/>
          </a:p>
        </p:txBody>
      </p:sp>
      <p:sp>
        <p:nvSpPr>
          <p:cNvPr id="16" name="Phase card 3"/>
          <p:cNvSpPr/>
          <p:nvPr/>
        </p:nvSpPr>
        <p:spPr>
          <a:xfrm>
            <a:off x="4663440" y="1325880"/>
            <a:ext cx="1920240" cy="1325880"/>
          </a:xfrm>
          <a:prstGeom prst="roundRect">
            <a:avLst>
              <a:gd name="adj" fmla="val 5517"/>
            </a:avLst>
          </a:prstGeom>
          <a:solidFill>
            <a:schemeClr val="bg1"/>
          </a:solidFill>
          <a:ln w="9525">
            <a:solidFill>
              <a:srgbClr val="E4DCCB"/>
            </a:solidFill>
            <a:prstDash val="solid"/>
          </a:ln>
        </p:spPr>
      </p:sp>
      <p:sp>
        <p:nvSpPr>
          <p:cNvPr id="17" name="Phase circle 3"/>
          <p:cNvSpPr/>
          <p:nvPr/>
        </p:nvSpPr>
        <p:spPr>
          <a:xfrm>
            <a:off x="4800600" y="1463040"/>
            <a:ext cx="384048" cy="384048"/>
          </a:xfrm>
          <a:prstGeom prst="ellipse">
            <a:avLst/>
          </a:prstGeom>
          <a:solidFill>
            <a:schemeClr val="accent2"/>
          </a:solidFill>
          <a:ln/>
        </p:spPr>
      </p:sp>
      <p:sp>
        <p:nvSpPr>
          <p:cNvPr id="18" name="Phase number 3"/>
          <p:cNvSpPr txBox="1"/>
          <p:nvPr/>
        </p:nvSpPr>
        <p:spPr>
          <a:xfrm>
            <a:off x="4800600" y="1463040"/>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3</a:t>
            </a:r>
            <a:endParaRPr lang="en-US" sz="1500" dirty="0"/>
          </a:p>
        </p:txBody>
      </p:sp>
      <p:sp>
        <p:nvSpPr>
          <p:cNvPr id="19" name="Phase name 3"/>
          <p:cNvSpPr txBox="1"/>
          <p:nvPr/>
        </p:nvSpPr>
        <p:spPr>
          <a:xfrm>
            <a:off x="5257800" y="1463040"/>
            <a:ext cx="1234440" cy="384048"/>
          </a:xfrm>
          <a:prstGeom prst="rect">
            <a:avLst/>
          </a:prstGeom>
          <a:noFill/>
          <a:ln/>
        </p:spPr>
        <p:txBody>
          <a:bodyPr wrap="square" lIns="0" tIns="0" rIns="0" bIns="0" rtlCol="0" anchor="ctr"/>
          <a:lstStyle/>
          <a:p>
            <a:pPr indent="0" marL="0">
              <a:buNone/>
            </a:pPr>
            <a:r>
              <a:rPr lang="en-US" sz="1400" b="1" dirty="0">
                <a:solidFill>
                  <a:schemeClr val="tx1"/>
                </a:solidFill>
              </a:rPr>
              <a:t>Top-K lists</a:t>
            </a:r>
            <a:endParaRPr lang="en-US" sz="1400" dirty="0"/>
          </a:p>
        </p:txBody>
      </p:sp>
      <p:sp>
        <p:nvSpPr>
          <p:cNvPr id="20" name="Phase detail 3"/>
          <p:cNvSpPr txBox="1"/>
          <p:nvPr/>
        </p:nvSpPr>
        <p:spPr>
          <a:xfrm>
            <a:off x="4800600" y="1947672"/>
            <a:ext cx="1664208" cy="640080"/>
          </a:xfrm>
          <a:prstGeom prst="rect">
            <a:avLst/>
          </a:prstGeom>
          <a:noFill/>
          <a:ln/>
        </p:spPr>
        <p:txBody>
          <a:bodyPr wrap="square" lIns="0" tIns="0" rIns="0" bIns="0" rtlCol="0" anchor="t"/>
          <a:lstStyle/>
          <a:p>
            <a:pPr indent="0" marL="0">
              <a:buNone/>
            </a:pPr>
            <a:r>
              <a:rPr lang="en-US" sz="1200" dirty="0">
                <a:solidFill>
                  <a:srgbClr val="4A4458"/>
                </a:solidFill>
              </a:rPr>
              <a:t>Precision, Recall and F1 at K</a:t>
            </a:r>
            <a:endParaRPr lang="en-US" sz="1200" dirty="0"/>
          </a:p>
        </p:txBody>
      </p:sp>
      <p:sp>
        <p:nvSpPr>
          <p:cNvPr id="21" name="Phase card 4"/>
          <p:cNvSpPr/>
          <p:nvPr/>
        </p:nvSpPr>
        <p:spPr>
          <a:xfrm>
            <a:off x="6766560" y="1325880"/>
            <a:ext cx="1920240" cy="1325880"/>
          </a:xfrm>
          <a:prstGeom prst="roundRect">
            <a:avLst>
              <a:gd name="adj" fmla="val 5517"/>
            </a:avLst>
          </a:prstGeom>
          <a:solidFill>
            <a:schemeClr val="bg1"/>
          </a:solidFill>
          <a:ln w="9525">
            <a:solidFill>
              <a:srgbClr val="E4DCCB"/>
            </a:solidFill>
            <a:prstDash val="solid"/>
          </a:ln>
        </p:spPr>
      </p:sp>
      <p:sp>
        <p:nvSpPr>
          <p:cNvPr id="22" name="Phase circle 4"/>
          <p:cNvSpPr/>
          <p:nvPr/>
        </p:nvSpPr>
        <p:spPr>
          <a:xfrm>
            <a:off x="6903720" y="1463040"/>
            <a:ext cx="384048" cy="384048"/>
          </a:xfrm>
          <a:prstGeom prst="ellipse">
            <a:avLst/>
          </a:prstGeom>
          <a:solidFill>
            <a:schemeClr val="accent2"/>
          </a:solidFill>
          <a:ln/>
        </p:spPr>
      </p:sp>
      <p:sp>
        <p:nvSpPr>
          <p:cNvPr id="23" name="Phase number 4"/>
          <p:cNvSpPr txBox="1"/>
          <p:nvPr/>
        </p:nvSpPr>
        <p:spPr>
          <a:xfrm>
            <a:off x="6903720" y="1463040"/>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4</a:t>
            </a:r>
            <a:endParaRPr lang="en-US" sz="1500" dirty="0"/>
          </a:p>
        </p:txBody>
      </p:sp>
      <p:sp>
        <p:nvSpPr>
          <p:cNvPr id="24" name="Phase name 4"/>
          <p:cNvSpPr txBox="1"/>
          <p:nvPr/>
        </p:nvSpPr>
        <p:spPr>
          <a:xfrm>
            <a:off x="7360920" y="1463040"/>
            <a:ext cx="1234440" cy="384048"/>
          </a:xfrm>
          <a:prstGeom prst="rect">
            <a:avLst/>
          </a:prstGeom>
          <a:noFill/>
          <a:ln/>
        </p:spPr>
        <p:txBody>
          <a:bodyPr wrap="square" lIns="0" tIns="0" rIns="0" bIns="0" rtlCol="0" anchor="ctr"/>
          <a:lstStyle/>
          <a:p>
            <a:pPr indent="0" marL="0">
              <a:buNone/>
            </a:pPr>
            <a:r>
              <a:rPr lang="en-US" sz="1400" b="1" dirty="0">
                <a:solidFill>
                  <a:schemeClr val="tx1"/>
                </a:solidFill>
              </a:rPr>
              <a:t>Rank-aware</a:t>
            </a:r>
            <a:endParaRPr lang="en-US" sz="1400" dirty="0"/>
          </a:p>
        </p:txBody>
      </p:sp>
      <p:sp>
        <p:nvSpPr>
          <p:cNvPr id="25" name="Phase detail 4"/>
          <p:cNvSpPr txBox="1"/>
          <p:nvPr/>
        </p:nvSpPr>
        <p:spPr>
          <a:xfrm>
            <a:off x="6903720" y="1947672"/>
            <a:ext cx="1664208" cy="640080"/>
          </a:xfrm>
          <a:prstGeom prst="rect">
            <a:avLst/>
          </a:prstGeom>
          <a:noFill/>
          <a:ln/>
        </p:spPr>
        <p:txBody>
          <a:bodyPr wrap="square" lIns="0" tIns="0" rIns="0" bIns="0" rtlCol="0" anchor="t"/>
          <a:lstStyle/>
          <a:p>
            <a:pPr indent="0" marL="0">
              <a:buNone/>
            </a:pPr>
            <a:r>
              <a:rPr lang="en-US" sz="1200" dirty="0">
                <a:solidFill>
                  <a:srgbClr val="4A4458"/>
                </a:solidFill>
              </a:rPr>
              <a:t>AP / MAP, NDCG and MRR</a:t>
            </a:r>
            <a:endParaRPr lang="en-US" sz="1200" dirty="0"/>
          </a:p>
        </p:txBody>
      </p:sp>
      <p:sp>
        <p:nvSpPr>
          <p:cNvPr id="26" name="Phase card 5"/>
          <p:cNvSpPr/>
          <p:nvPr/>
        </p:nvSpPr>
        <p:spPr>
          <a:xfrm>
            <a:off x="457200" y="2788920"/>
            <a:ext cx="1920240" cy="1325880"/>
          </a:xfrm>
          <a:prstGeom prst="roundRect">
            <a:avLst>
              <a:gd name="adj" fmla="val 5517"/>
            </a:avLst>
          </a:prstGeom>
          <a:solidFill>
            <a:schemeClr val="bg1"/>
          </a:solidFill>
          <a:ln w="9525">
            <a:solidFill>
              <a:srgbClr val="E4DCCB"/>
            </a:solidFill>
            <a:prstDash val="solid"/>
          </a:ln>
        </p:spPr>
      </p:sp>
      <p:sp>
        <p:nvSpPr>
          <p:cNvPr id="27" name="Phase circle 5"/>
          <p:cNvSpPr/>
          <p:nvPr/>
        </p:nvSpPr>
        <p:spPr>
          <a:xfrm>
            <a:off x="594360" y="2926080"/>
            <a:ext cx="384048" cy="384048"/>
          </a:xfrm>
          <a:prstGeom prst="ellipse">
            <a:avLst/>
          </a:prstGeom>
          <a:solidFill>
            <a:schemeClr val="accent2"/>
          </a:solidFill>
          <a:ln/>
        </p:spPr>
      </p:sp>
      <p:sp>
        <p:nvSpPr>
          <p:cNvPr id="28" name="Phase number 5"/>
          <p:cNvSpPr txBox="1"/>
          <p:nvPr/>
        </p:nvSpPr>
        <p:spPr>
          <a:xfrm>
            <a:off x="594360" y="2926080"/>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5</a:t>
            </a:r>
            <a:endParaRPr lang="en-US" sz="1500" dirty="0"/>
          </a:p>
        </p:txBody>
      </p:sp>
      <p:sp>
        <p:nvSpPr>
          <p:cNvPr id="29" name="Phase name 5"/>
          <p:cNvSpPr txBox="1"/>
          <p:nvPr/>
        </p:nvSpPr>
        <p:spPr>
          <a:xfrm>
            <a:off x="1051560" y="2926080"/>
            <a:ext cx="1234440" cy="384048"/>
          </a:xfrm>
          <a:prstGeom prst="rect">
            <a:avLst/>
          </a:prstGeom>
          <a:noFill/>
          <a:ln/>
        </p:spPr>
        <p:txBody>
          <a:bodyPr wrap="square" lIns="0" tIns="0" rIns="0" bIns="0" rtlCol="0" anchor="ctr"/>
          <a:lstStyle/>
          <a:p>
            <a:pPr indent="0" marL="0">
              <a:buNone/>
            </a:pPr>
            <a:r>
              <a:rPr lang="en-US" sz="1400" b="1" dirty="0">
                <a:solidFill>
                  <a:schemeClr val="tx1"/>
                </a:solidFill>
              </a:rPr>
              <a:t>Beyond accuracy</a:t>
            </a:r>
            <a:endParaRPr lang="en-US" sz="1400" dirty="0"/>
          </a:p>
        </p:txBody>
      </p:sp>
      <p:sp>
        <p:nvSpPr>
          <p:cNvPr id="30" name="Phase detail 5"/>
          <p:cNvSpPr txBox="1"/>
          <p:nvPr/>
        </p:nvSpPr>
        <p:spPr>
          <a:xfrm>
            <a:off x="594360" y="3410712"/>
            <a:ext cx="1664208" cy="640080"/>
          </a:xfrm>
          <a:prstGeom prst="rect">
            <a:avLst/>
          </a:prstGeom>
          <a:noFill/>
          <a:ln/>
        </p:spPr>
        <p:txBody>
          <a:bodyPr wrap="square" lIns="0" tIns="0" rIns="0" bIns="0" rtlCol="0" anchor="t"/>
          <a:lstStyle/>
          <a:p>
            <a:pPr indent="0" marL="0">
              <a:buNone/>
            </a:pPr>
            <a:r>
              <a:rPr lang="en-US" sz="1200" dirty="0">
                <a:solidFill>
                  <a:srgbClr val="4A4458"/>
                </a:solidFill>
              </a:rPr>
              <a:t>Coverage, diversity, novelty, serendipity</a:t>
            </a:r>
            <a:endParaRPr lang="en-US" sz="1200" dirty="0"/>
          </a:p>
        </p:txBody>
      </p:sp>
      <p:sp>
        <p:nvSpPr>
          <p:cNvPr id="31" name="Phase card 6"/>
          <p:cNvSpPr/>
          <p:nvPr/>
        </p:nvSpPr>
        <p:spPr>
          <a:xfrm>
            <a:off x="2560320" y="2788920"/>
            <a:ext cx="1920240" cy="1325880"/>
          </a:xfrm>
          <a:prstGeom prst="roundRect">
            <a:avLst>
              <a:gd name="adj" fmla="val 5517"/>
            </a:avLst>
          </a:prstGeom>
          <a:solidFill>
            <a:schemeClr val="bg1"/>
          </a:solidFill>
          <a:ln w="9525">
            <a:solidFill>
              <a:srgbClr val="E4DCCB"/>
            </a:solidFill>
            <a:prstDash val="solid"/>
          </a:ln>
        </p:spPr>
      </p:sp>
      <p:sp>
        <p:nvSpPr>
          <p:cNvPr id="32" name="Phase circle 6"/>
          <p:cNvSpPr/>
          <p:nvPr/>
        </p:nvSpPr>
        <p:spPr>
          <a:xfrm>
            <a:off x="2697480" y="2926080"/>
            <a:ext cx="384048" cy="384048"/>
          </a:xfrm>
          <a:prstGeom prst="ellipse">
            <a:avLst/>
          </a:prstGeom>
          <a:solidFill>
            <a:schemeClr val="accent2"/>
          </a:solidFill>
          <a:ln/>
        </p:spPr>
      </p:sp>
      <p:sp>
        <p:nvSpPr>
          <p:cNvPr id="33" name="Phase number 6"/>
          <p:cNvSpPr txBox="1"/>
          <p:nvPr/>
        </p:nvSpPr>
        <p:spPr>
          <a:xfrm>
            <a:off x="2697480" y="2926080"/>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6</a:t>
            </a:r>
            <a:endParaRPr lang="en-US" sz="1500" dirty="0"/>
          </a:p>
        </p:txBody>
      </p:sp>
      <p:sp>
        <p:nvSpPr>
          <p:cNvPr id="34" name="Phase name 6"/>
          <p:cNvSpPr txBox="1"/>
          <p:nvPr/>
        </p:nvSpPr>
        <p:spPr>
          <a:xfrm>
            <a:off x="3154680" y="2926080"/>
            <a:ext cx="1234440" cy="384048"/>
          </a:xfrm>
          <a:prstGeom prst="rect">
            <a:avLst/>
          </a:prstGeom>
          <a:noFill/>
          <a:ln/>
        </p:spPr>
        <p:txBody>
          <a:bodyPr wrap="square" lIns="0" tIns="0" rIns="0" bIns="0" rtlCol="0" anchor="ctr"/>
          <a:lstStyle/>
          <a:p>
            <a:pPr indent="0" marL="0">
              <a:buNone/>
            </a:pPr>
            <a:r>
              <a:rPr lang="en-US" sz="1400" b="1" dirty="0">
                <a:solidFill>
                  <a:schemeClr val="tx1"/>
                </a:solidFill>
              </a:rPr>
              <a:t>Cold start</a:t>
            </a:r>
            <a:endParaRPr lang="en-US" sz="1400" dirty="0"/>
          </a:p>
        </p:txBody>
      </p:sp>
      <p:sp>
        <p:nvSpPr>
          <p:cNvPr id="35" name="Phase detail 6"/>
          <p:cNvSpPr txBox="1"/>
          <p:nvPr/>
        </p:nvSpPr>
        <p:spPr>
          <a:xfrm>
            <a:off x="2697480" y="3410712"/>
            <a:ext cx="1664208" cy="640080"/>
          </a:xfrm>
          <a:prstGeom prst="rect">
            <a:avLst/>
          </a:prstGeom>
          <a:noFill/>
          <a:ln/>
        </p:spPr>
        <p:txBody>
          <a:bodyPr wrap="square" lIns="0" tIns="0" rIns="0" bIns="0" rtlCol="0" anchor="t"/>
          <a:lstStyle/>
          <a:p>
            <a:pPr indent="0" marL="0">
              <a:buNone/>
            </a:pPr>
            <a:r>
              <a:rPr lang="en-US" sz="1200" dirty="0">
                <a:solidFill>
                  <a:srgbClr val="4A4458"/>
                </a:solidFill>
              </a:rPr>
              <a:t>New user, new item, new system</a:t>
            </a:r>
            <a:endParaRPr lang="en-US" sz="1200" dirty="0"/>
          </a:p>
        </p:txBody>
      </p:sp>
      <p:sp>
        <p:nvSpPr>
          <p:cNvPr id="36" name="Phase card 7"/>
          <p:cNvSpPr/>
          <p:nvPr/>
        </p:nvSpPr>
        <p:spPr>
          <a:xfrm>
            <a:off x="4663440" y="2788920"/>
            <a:ext cx="1920240" cy="1325880"/>
          </a:xfrm>
          <a:prstGeom prst="roundRect">
            <a:avLst>
              <a:gd name="adj" fmla="val 5517"/>
            </a:avLst>
          </a:prstGeom>
          <a:solidFill>
            <a:schemeClr val="bg1"/>
          </a:solidFill>
          <a:ln w="9525">
            <a:solidFill>
              <a:srgbClr val="E4DCCB"/>
            </a:solidFill>
            <a:prstDash val="solid"/>
          </a:ln>
        </p:spPr>
      </p:sp>
      <p:sp>
        <p:nvSpPr>
          <p:cNvPr id="37" name="Phase circle 7"/>
          <p:cNvSpPr/>
          <p:nvPr/>
        </p:nvSpPr>
        <p:spPr>
          <a:xfrm>
            <a:off x="4800600" y="2926080"/>
            <a:ext cx="384048" cy="384048"/>
          </a:xfrm>
          <a:prstGeom prst="ellipse">
            <a:avLst/>
          </a:prstGeom>
          <a:solidFill>
            <a:schemeClr val="accent2"/>
          </a:solidFill>
          <a:ln/>
        </p:spPr>
      </p:sp>
      <p:sp>
        <p:nvSpPr>
          <p:cNvPr id="38" name="Phase number 7"/>
          <p:cNvSpPr txBox="1"/>
          <p:nvPr/>
        </p:nvSpPr>
        <p:spPr>
          <a:xfrm>
            <a:off x="4800600" y="2926080"/>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7</a:t>
            </a:r>
            <a:endParaRPr lang="en-US" sz="1500" dirty="0"/>
          </a:p>
        </p:txBody>
      </p:sp>
      <p:sp>
        <p:nvSpPr>
          <p:cNvPr id="39" name="Phase name 7"/>
          <p:cNvSpPr txBox="1"/>
          <p:nvPr/>
        </p:nvSpPr>
        <p:spPr>
          <a:xfrm>
            <a:off x="5257800" y="2926080"/>
            <a:ext cx="1234440" cy="384048"/>
          </a:xfrm>
          <a:prstGeom prst="rect">
            <a:avLst/>
          </a:prstGeom>
          <a:noFill/>
          <a:ln/>
        </p:spPr>
        <p:txBody>
          <a:bodyPr wrap="square" lIns="0" tIns="0" rIns="0" bIns="0" rtlCol="0" anchor="ctr"/>
          <a:lstStyle/>
          <a:p>
            <a:pPr indent="0" marL="0">
              <a:buNone/>
            </a:pPr>
            <a:r>
              <a:rPr lang="en-US" sz="1400" b="1" dirty="0">
                <a:solidFill>
                  <a:schemeClr val="tx1"/>
                </a:solidFill>
              </a:rPr>
              <a:t>Hybrids</a:t>
            </a:r>
            <a:endParaRPr lang="en-US" sz="1400" dirty="0"/>
          </a:p>
        </p:txBody>
      </p:sp>
      <p:sp>
        <p:nvSpPr>
          <p:cNvPr id="40" name="Phase detail 7"/>
          <p:cNvSpPr txBox="1"/>
          <p:nvPr/>
        </p:nvSpPr>
        <p:spPr>
          <a:xfrm>
            <a:off x="4800600" y="3410712"/>
            <a:ext cx="1664208" cy="640080"/>
          </a:xfrm>
          <a:prstGeom prst="rect">
            <a:avLst/>
          </a:prstGeom>
          <a:noFill/>
          <a:ln/>
        </p:spPr>
        <p:txBody>
          <a:bodyPr wrap="square" lIns="0" tIns="0" rIns="0" bIns="0" rtlCol="0" anchor="t"/>
          <a:lstStyle/>
          <a:p>
            <a:pPr indent="0" marL="0">
              <a:buNone/>
            </a:pPr>
            <a:r>
              <a:rPr lang="en-US" sz="1200" dirty="0">
                <a:solidFill>
                  <a:srgbClr val="4A4458"/>
                </a:solidFill>
              </a:rPr>
              <a:t>Weighted, switching and cascade</a:t>
            </a:r>
            <a:endParaRPr lang="en-US" sz="1200" dirty="0"/>
          </a:p>
        </p:txBody>
      </p:sp>
      <p:sp>
        <p:nvSpPr>
          <p:cNvPr id="41" name="Phase card 8"/>
          <p:cNvSpPr/>
          <p:nvPr/>
        </p:nvSpPr>
        <p:spPr>
          <a:xfrm>
            <a:off x="6766560" y="2788920"/>
            <a:ext cx="1920240" cy="1325880"/>
          </a:xfrm>
          <a:prstGeom prst="roundRect">
            <a:avLst>
              <a:gd name="adj" fmla="val 5517"/>
            </a:avLst>
          </a:prstGeom>
          <a:solidFill>
            <a:schemeClr val="bg1"/>
          </a:solidFill>
          <a:ln w="9525">
            <a:solidFill>
              <a:srgbClr val="E4DCCB"/>
            </a:solidFill>
            <a:prstDash val="solid"/>
          </a:ln>
        </p:spPr>
      </p:sp>
      <p:sp>
        <p:nvSpPr>
          <p:cNvPr id="42" name="Phase circle 8"/>
          <p:cNvSpPr/>
          <p:nvPr/>
        </p:nvSpPr>
        <p:spPr>
          <a:xfrm>
            <a:off x="6903720" y="2926080"/>
            <a:ext cx="384048" cy="384048"/>
          </a:xfrm>
          <a:prstGeom prst="ellipse">
            <a:avLst/>
          </a:prstGeom>
          <a:solidFill>
            <a:schemeClr val="accent2"/>
          </a:solidFill>
          <a:ln/>
        </p:spPr>
      </p:sp>
      <p:sp>
        <p:nvSpPr>
          <p:cNvPr id="43" name="Phase number 8"/>
          <p:cNvSpPr txBox="1"/>
          <p:nvPr/>
        </p:nvSpPr>
        <p:spPr>
          <a:xfrm>
            <a:off x="6903720" y="2926080"/>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8</a:t>
            </a:r>
            <a:endParaRPr lang="en-US" sz="1500" dirty="0"/>
          </a:p>
        </p:txBody>
      </p:sp>
      <p:sp>
        <p:nvSpPr>
          <p:cNvPr id="44" name="Phase name 8"/>
          <p:cNvSpPr txBox="1"/>
          <p:nvPr/>
        </p:nvSpPr>
        <p:spPr>
          <a:xfrm>
            <a:off x="7360920" y="2926080"/>
            <a:ext cx="1234440" cy="384048"/>
          </a:xfrm>
          <a:prstGeom prst="rect">
            <a:avLst/>
          </a:prstGeom>
          <a:noFill/>
          <a:ln/>
        </p:spPr>
        <p:txBody>
          <a:bodyPr wrap="square" lIns="0" tIns="0" rIns="0" bIns="0" rtlCol="0" anchor="ctr"/>
          <a:lstStyle/>
          <a:p>
            <a:pPr indent="0" marL="0">
              <a:buNone/>
            </a:pPr>
            <a:r>
              <a:rPr lang="en-US" sz="1400" b="1" dirty="0">
                <a:solidFill>
                  <a:schemeClr val="tx1"/>
                </a:solidFill>
              </a:rPr>
              <a:t>A/B test</a:t>
            </a:r>
            <a:endParaRPr lang="en-US" sz="1400" dirty="0"/>
          </a:p>
        </p:txBody>
      </p:sp>
      <p:sp>
        <p:nvSpPr>
          <p:cNvPr id="45" name="Phase detail 8"/>
          <p:cNvSpPr txBox="1"/>
          <p:nvPr/>
        </p:nvSpPr>
        <p:spPr>
          <a:xfrm>
            <a:off x="6903720" y="3410712"/>
            <a:ext cx="1664208" cy="640080"/>
          </a:xfrm>
          <a:prstGeom prst="rect">
            <a:avLst/>
          </a:prstGeom>
          <a:noFill/>
          <a:ln/>
        </p:spPr>
        <p:txBody>
          <a:bodyPr wrap="square" lIns="0" tIns="0" rIns="0" bIns="0" rtlCol="0" anchor="t"/>
          <a:lstStyle/>
          <a:p>
            <a:pPr indent="0" marL="0">
              <a:buNone/>
            </a:pPr>
            <a:r>
              <a:rPr lang="en-US" sz="1200" dirty="0">
                <a:solidFill>
                  <a:srgbClr val="4A4458"/>
                </a:solidFill>
              </a:rPr>
              <a:t>Design, sample size, Z-test, pitfalls</a:t>
            </a:r>
            <a:endParaRPr lang="en-US" sz="1200" dirty="0"/>
          </a:p>
        </p:txBody>
      </p:sp>
      <p:sp>
        <p:nvSpPr>
          <p:cNvPr id="46" name="Exercises strip"/>
          <p:cNvSpPr/>
          <p:nvPr/>
        </p:nvSpPr>
        <p:spPr>
          <a:xfrm>
            <a:off x="457200" y="4297680"/>
            <a:ext cx="8229600" cy="384048"/>
          </a:xfrm>
          <a:prstGeom prst="roundRect">
            <a:avLst>
              <a:gd name="adj" fmla="val 19048"/>
            </a:avLst>
          </a:prstGeom>
          <a:solidFill>
            <a:srgbClr val="3B2D54"/>
          </a:solidFill>
          <a:ln/>
        </p:spPr>
      </p:sp>
      <p:sp>
        <p:nvSpPr>
          <p:cNvPr id="47" name="Exercises strip text"/>
          <p:cNvSpPr txBox="1"/>
          <p:nvPr/>
        </p:nvSpPr>
        <p:spPr>
          <a:xfrm>
            <a:off x="640080" y="4297680"/>
            <a:ext cx="7863840" cy="384048"/>
          </a:xfrm>
          <a:prstGeom prst="rect">
            <a:avLst/>
          </a:prstGeom>
          <a:noFill/>
          <a:ln/>
        </p:spPr>
        <p:txBody>
          <a:bodyPr wrap="square" lIns="0" tIns="0" rIns="0" bIns="0" rtlCol="0" anchor="ctr"/>
          <a:lstStyle/>
          <a:p>
            <a:pPr indent="0" marL="0">
              <a:buNone/>
            </a:pPr>
            <a:r>
              <a:rPr lang="en-US" sz="1300" dirty="0">
                <a:solidFill>
                  <a:schemeClr val="bg2"/>
                </a:solidFill>
              </a:rPr>
              <a:t>Plus five exercises: popularity baseline · MRR vs MAP · 3-way switching design · MMR re-ranking · split audit</a:t>
            </a:r>
            <a:endParaRPr lang="en-US" sz="13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Section pill"/>
          <p:cNvSpPr/>
          <p:nvPr/>
        </p:nvSpPr>
        <p:spPr>
          <a:xfrm>
            <a:off x="457200" y="228600"/>
            <a:ext cx="1426464" cy="237744"/>
          </a:xfrm>
          <a:prstGeom prst="roundRect">
            <a:avLst>
              <a:gd name="adj" fmla="val 50000"/>
            </a:avLst>
          </a:prstGeom>
          <a:solidFill>
            <a:schemeClr val="accent2"/>
          </a:solidFill>
          <a:ln/>
        </p:spPr>
      </p:sp>
      <p:sp>
        <p:nvSpPr>
          <p:cNvPr id="4" name="Section pill text"/>
          <p:cNvSpPr txBox="1"/>
          <p:nvPr/>
        </p:nvSpPr>
        <p:spPr>
          <a:xfrm>
            <a:off x="457200" y="228600"/>
            <a:ext cx="1426464" cy="237744"/>
          </a:xfrm>
          <a:prstGeom prst="rect">
            <a:avLst/>
          </a:prstGeom>
          <a:noFill/>
          <a:ln/>
        </p:spPr>
        <p:txBody>
          <a:bodyPr wrap="square" lIns="0" tIns="0" rIns="0" bIns="0" rtlCol="0" anchor="ctr"/>
          <a:lstStyle/>
          <a:p>
            <a:pPr algn="ctr" indent="0" marL="0">
              <a:buNone/>
            </a:pPr>
            <a:r>
              <a:rPr lang="en-US" sz="1000" b="1" dirty="0">
                <a:solidFill>
                  <a:schemeClr val="tx1"/>
                </a:solidFill>
              </a:rPr>
              <a:t>PHASE 1 · SPLITS</a:t>
            </a:r>
            <a:endParaRPr lang="en-US" sz="1000" dirty="0"/>
          </a:p>
        </p:txBody>
      </p:sp>
      <p:sp>
        <p:nvSpPr>
          <p:cNvPr id="5" name="Text 0"/>
          <p:cNvSpPr/>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The split you choose decides what you measure</a:t>
            </a:r>
            <a:endParaRPr lang="en-US" sz="2400" dirty="0"/>
          </a:p>
        </p:txBody>
      </p:sp>
      <p:graphicFrame>
        <p:nvGraphicFramePr>
          <p:cNvPr id="5" name="Split table"/>
          <p:cNvGraphicFramePr>
            <a:graphicFrameLocks noGrp="1"/>
          </p:cNvGraphicFramePr>
          <p:nvPr>
            <p:extLst>
              <p:ext uri="{D42A27DB-BD31-4B8C-83A1-F6EECF244321}">
                <p14:modId xmlns:p14="http://schemas.microsoft.com/office/powerpoint/2010/main" val="1579011935"/>
              </p:ext>
            </p:extLst>
          </p:nvPr>
        </p:nvGraphicFramePr>
        <p:xfrm>
          <a:off x="457200" y="1325880"/>
          <a:ext cx="5212080" cy="914400"/>
        </p:xfrm>
        <a:graphic>
          <a:graphicData uri="http://schemas.openxmlformats.org/drawingml/2006/table">
            <a:tbl>
              <a:tblPr/>
              <a:tblGrid>
                <a:gridCol w="1828800"/>
                <a:gridCol w="868680"/>
                <a:gridCol w="1691640"/>
                <a:gridCol w="822960"/>
              </a:tblGrid>
              <a:tr h="640080">
                <a:tc>
                  <a:txBody>
                    <a:bodyPr/>
                    <a:lstStyle/>
                    <a:p>
                      <a:pPr algn="l" indent="0" marL="0">
                        <a:buNone/>
                      </a:pPr>
                      <a:r>
                        <a:rPr lang="en-US" sz="1100" b="1" dirty="0">
                          <a:solidFill>
                            <a:srgbClr val="FFFFFF"/>
                          </a:solidFill>
                        </a:rPr>
                        <a:t>Split</a:t>
                      </a:r>
                      <a:endParaRPr lang="en-US" sz="11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B1F3D"/>
                    </a:solidFill>
                  </a:tcPr>
                </a:tc>
                <a:tc>
                  <a:txBody>
                    <a:bodyPr/>
                    <a:lstStyle/>
                    <a:p>
                      <a:pPr algn="ctr" indent="0" marL="0">
                        <a:buNone/>
                      </a:pPr>
                      <a:r>
                        <a:rPr lang="en-US" sz="1100" b="1" dirty="0">
                          <a:solidFill>
                            <a:srgbClr val="FFFFFF"/>
                          </a:solidFill>
                        </a:rPr>
                        <a:t>Test rows</a:t>
                      </a:r>
                      <a:endParaRPr lang="en-US" sz="11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B1F3D"/>
                    </a:solidFill>
                  </a:tcPr>
                </a:tc>
                <a:tc>
                  <a:txBody>
                    <a:bodyPr/>
                    <a:lstStyle/>
                    <a:p>
                      <a:pPr algn="ctr" indent="0" marL="0">
                        <a:buNone/>
                      </a:pPr>
                      <a:r>
                        <a:rPr lang="en-US" sz="1100" b="1" dirty="0">
                          <a:solidFill>
                            <a:srgbClr val="FFFFFF"/>
                          </a:solidFill>
                        </a:rPr>
                        <a:t>Test ratings with a later train rating</a:t>
                      </a:r>
                      <a:endParaRPr lang="en-US" sz="11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B1F3D"/>
                    </a:solidFill>
                  </a:tcPr>
                </a:tc>
                <a:tc>
                  <a:txBody>
                    <a:bodyPr/>
                    <a:lstStyle/>
                    <a:p>
                      <a:pPr algn="ctr" indent="0" marL="0">
                        <a:buNone/>
                      </a:pPr>
                      <a:r>
                        <a:rPr lang="en-US" sz="1100" b="1" dirty="0">
                          <a:solidFill>
                            <a:srgbClr val="FFFFFF"/>
                          </a:solidFill>
                        </a:rPr>
                        <a:t>RMSE</a:t>
                      </a:r>
                      <a:endParaRPr lang="en-US" sz="11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B1F3D"/>
                    </a:solidFill>
                  </a:tcPr>
                </a:tc>
              </a:tr>
              <a:tr h="457200">
                <a:tc>
                  <a:txBody>
                    <a:bodyPr/>
                    <a:lstStyle/>
                    <a:p>
                      <a:pPr algn="l" indent="0" marL="0">
                        <a:buNone/>
                      </a:pPr>
                      <a:r>
                        <a:rPr lang="en-US" sz="1200" b="1" dirty="0">
                          <a:solidFill>
                            <a:srgbClr val="1F1B2B"/>
                          </a:solidFill>
                        </a:rPr>
                        <a:t>Naive random rows</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c>
                  <a:txBody>
                    <a:bodyPr/>
                    <a:lstStyle/>
                    <a:p>
                      <a:pPr algn="ctr" indent="0" marL="0">
                        <a:buNone/>
                      </a:pPr>
                      <a:r>
                        <a:rPr lang="en-US" sz="1200" dirty="0">
                          <a:solidFill>
                            <a:srgbClr val="1F1B2B"/>
                          </a:solidFill>
                        </a:rPr>
                        <a:t>20,057</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c>
                  <a:txBody>
                    <a:bodyPr/>
                    <a:lstStyle/>
                    <a:p>
                      <a:pPr algn="ctr" indent="0" marL="0">
                        <a:buNone/>
                      </a:pPr>
                      <a:r>
                        <a:rPr lang="en-US" sz="1200" b="1" dirty="0">
                          <a:solidFill>
                            <a:srgbClr val="1F1B2B"/>
                          </a:solidFill>
                        </a:rPr>
                        <a:t>98.9%</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6D9DD"/>
                    </a:solidFill>
                  </a:tcPr>
                </a:tc>
                <a:tc>
                  <a:txBody>
                    <a:bodyPr/>
                    <a:lstStyle/>
                    <a:p>
                      <a:pPr algn="ctr" indent="0" marL="0">
                        <a:buNone/>
                      </a:pPr>
                      <a:r>
                        <a:rPr lang="en-US" sz="1200" b="1" dirty="0">
                          <a:solidFill>
                            <a:srgbClr val="1F1B2B"/>
                          </a:solidFill>
                        </a:rPr>
                        <a:t>0.859</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r>
              <a:tr h="457200">
                <a:tc>
                  <a:txBody>
                    <a:bodyPr/>
                    <a:lstStyle/>
                    <a:p>
                      <a:pPr algn="l" indent="0" marL="0">
                        <a:buNone/>
                      </a:pPr>
                      <a:r>
                        <a:rPr lang="en-US" sz="1200" b="1" dirty="0">
                          <a:solidFill>
                            <a:srgbClr val="1F1B2B"/>
                          </a:solidFill>
                        </a:rPr>
                        <a:t>Temporal (per-user 80/20)</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c>
                  <a:txBody>
                    <a:bodyPr/>
                    <a:lstStyle/>
                    <a:p>
                      <a:pPr algn="ctr" indent="0" marL="0">
                        <a:buNone/>
                      </a:pPr>
                      <a:r>
                        <a:rPr lang="en-US" sz="1200" dirty="0">
                          <a:solidFill>
                            <a:srgbClr val="1F1B2B"/>
                          </a:solidFill>
                        </a:rPr>
                        <a:t>20,164</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c>
                  <a:txBody>
                    <a:bodyPr/>
                    <a:lstStyle/>
                    <a:p>
                      <a:pPr algn="ctr" indent="0" marL="0">
                        <a:buNone/>
                      </a:pPr>
                      <a:r>
                        <a:rPr lang="en-US" sz="1200" b="1" dirty="0">
                          <a:solidFill>
                            <a:srgbClr val="1F1B2B"/>
                          </a:solidFill>
                        </a:rPr>
                        <a:t>0.0%</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D5EAEE"/>
                    </a:solidFill>
                  </a:tcPr>
                </a:tc>
                <a:tc>
                  <a:txBody>
                    <a:bodyPr/>
                    <a:lstStyle/>
                    <a:p>
                      <a:pPr algn="ctr" indent="0" marL="0">
                        <a:buNone/>
                      </a:pPr>
                      <a:r>
                        <a:rPr lang="en-US" sz="1200" b="1" dirty="0">
                          <a:solidFill>
                            <a:srgbClr val="1F1B2B"/>
                          </a:solidFill>
                        </a:rPr>
                        <a:t>0.898</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r>
              <a:tr h="457200">
                <a:tc>
                  <a:txBody>
                    <a:bodyPr/>
                    <a:lstStyle/>
                    <a:p>
                      <a:pPr algn="l" indent="0" marL="0">
                        <a:buNone/>
                      </a:pPr>
                      <a:r>
                        <a:rPr lang="en-US" sz="1200" b="1" dirty="0">
                          <a:solidFill>
                            <a:srgbClr val="1F1B2B"/>
                          </a:solidFill>
                        </a:rPr>
                        <a:t>Leave-one-out</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c>
                  <a:txBody>
                    <a:bodyPr/>
                    <a:lstStyle/>
                    <a:p>
                      <a:pPr algn="ctr" indent="0" marL="0">
                        <a:buNone/>
                      </a:pPr>
                      <a:r>
                        <a:rPr lang="en-US" sz="1200" dirty="0">
                          <a:solidFill>
                            <a:srgbClr val="1F1B2B"/>
                          </a:solidFill>
                        </a:rPr>
                        <a:t>610</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c>
                  <a:txBody>
                    <a:bodyPr/>
                    <a:lstStyle/>
                    <a:p>
                      <a:pPr algn="ctr" indent="0" marL="0">
                        <a:buNone/>
                      </a:pPr>
                      <a:r>
                        <a:rPr lang="en-US" sz="1200" b="1" dirty="0">
                          <a:solidFill>
                            <a:srgbClr val="1F1B2B"/>
                          </a:solidFill>
                        </a:rPr>
                        <a:t>0.0%</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D5EAEE"/>
                    </a:solidFill>
                  </a:tcPr>
                </a:tc>
                <a:tc>
                  <a:txBody>
                    <a:bodyPr/>
                    <a:lstStyle/>
                    <a:p>
                      <a:pPr algn="ctr" indent="0" marL="0">
                        <a:buNone/>
                      </a:pPr>
                      <a:r>
                        <a:rPr lang="en-US" sz="1200" b="1" dirty="0">
                          <a:solidFill>
                            <a:srgbClr val="1F1B2B"/>
                          </a:solidFill>
                        </a:rPr>
                        <a:t>0.956</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r>
              <a:tr h="457200">
                <a:tc>
                  <a:txBody>
                    <a:bodyPr/>
                    <a:lstStyle/>
                    <a:p>
                      <a:pPr algn="l" indent="0" marL="0">
                        <a:buNone/>
                      </a:pPr>
                      <a:r>
                        <a:rPr lang="en-US" sz="1200" b="1" dirty="0">
                          <a:solidFill>
                            <a:srgbClr val="1F1B2B"/>
                          </a:solidFill>
                        </a:rPr>
                        <a:t>Per-user random 20%</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c>
                  <a:txBody>
                    <a:bodyPr/>
                    <a:lstStyle/>
                    <a:p>
                      <a:pPr algn="ctr" indent="0" marL="0">
                        <a:buNone/>
                      </a:pPr>
                      <a:r>
                        <a:rPr lang="en-US" sz="1200" dirty="0">
                          <a:solidFill>
                            <a:srgbClr val="1F1B2B"/>
                          </a:solidFill>
                        </a:rPr>
                        <a:t>20,164</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c>
                  <a:txBody>
                    <a:bodyPr/>
                    <a:lstStyle/>
                    <a:p>
                      <a:pPr algn="ctr" indent="0" marL="0">
                        <a:buNone/>
                      </a:pPr>
                      <a:r>
                        <a:rPr lang="en-US" sz="1200" b="1" dirty="0">
                          <a:solidFill>
                            <a:srgbClr val="1F1B2B"/>
                          </a:solidFill>
                        </a:rPr>
                        <a:t>98.9%</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6D9DD"/>
                    </a:solidFill>
                  </a:tcPr>
                </a:tc>
                <a:tc>
                  <a:txBody>
                    <a:bodyPr/>
                    <a:lstStyle/>
                    <a:p>
                      <a:pPr algn="ctr" indent="0" marL="0">
                        <a:buNone/>
                      </a:pPr>
                      <a:r>
                        <a:rPr lang="en-US" sz="1200" b="1" dirty="0">
                          <a:solidFill>
                            <a:srgbClr val="1F1B2B"/>
                          </a:solidFill>
                        </a:rPr>
                        <a:t>0.862</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r>
            </a:tbl>
          </a:graphicData>
        </a:graphic>
      </p:graphicFrame>
      <p:sp>
        <p:nvSpPr>
          <p:cNvPr id="7" name="Insight card"/>
          <p:cNvSpPr/>
          <p:nvPr/>
        </p:nvSpPr>
        <p:spPr>
          <a:xfrm>
            <a:off x="457200" y="3931920"/>
            <a:ext cx="5212080" cy="685800"/>
          </a:xfrm>
          <a:prstGeom prst="roundRect">
            <a:avLst>
              <a:gd name="adj" fmla="val 10667"/>
            </a:avLst>
          </a:prstGeom>
          <a:solidFill>
            <a:schemeClr val="bg1"/>
          </a:solidFill>
          <a:ln w="9525">
            <a:solidFill>
              <a:srgbClr val="E4DCCB"/>
            </a:solidFill>
            <a:prstDash val="solid"/>
          </a:ln>
        </p:spPr>
      </p:sp>
      <p:sp>
        <p:nvSpPr>
          <p:cNvPr id="8" name="Insight text"/>
          <p:cNvSpPr txBox="1"/>
          <p:nvPr/>
        </p:nvSpPr>
        <p:spPr>
          <a:xfrm>
            <a:off x="594360" y="3931920"/>
            <a:ext cx="4937760" cy="685800"/>
          </a:xfrm>
          <a:prstGeom prst="rect">
            <a:avLst/>
          </a:prstGeom>
          <a:noFill/>
          <a:ln/>
        </p:spPr>
        <p:txBody>
          <a:bodyPr wrap="square" lIns="0" tIns="0" rIns="0" bIns="0" rtlCol="0" anchor="ctr"/>
          <a:lstStyle/>
          <a:p>
            <a:pPr indent="0" marL="0">
              <a:buNone/>
            </a:pPr>
            <a:r>
              <a:rPr lang="en-US" sz="1300" dirty="0">
                <a:solidFill>
                  <a:schemeClr val="tx1"/>
                </a:solidFill>
              </a:rPr>
              <a:t>Random splits let the model see a user's future: RMSE looks about 4% better than the leak-free temporal split.</a:t>
            </a:r>
            <a:endParaRPr lang="en-US" sz="1300" dirty="0"/>
          </a:p>
        </p:txBody>
      </p:sp>
      <p:sp>
        <p:nvSpPr>
          <p:cNvPr id="9" name="Chart card"/>
          <p:cNvSpPr/>
          <p:nvPr/>
        </p:nvSpPr>
        <p:spPr>
          <a:xfrm>
            <a:off x="5852160" y="1325880"/>
            <a:ext cx="2834640" cy="3291840"/>
          </a:xfrm>
          <a:prstGeom prst="roundRect">
            <a:avLst>
              <a:gd name="adj" fmla="val 2581"/>
            </a:avLst>
          </a:prstGeom>
          <a:solidFill>
            <a:schemeClr val="bg1"/>
          </a:solidFill>
          <a:ln w="9525">
            <a:solidFill>
              <a:srgbClr val="E4DCCB"/>
            </a:solidFill>
            <a:prstDash val="solid"/>
          </a:ln>
        </p:spPr>
      </p:sp>
      <p:graphicFrame>
        <p:nvGraphicFramePr>
          <p:cNvPr id="10" name="RMSE by split chart" descr=""/>
          <p:cNvGraphicFramePr/>
          <p:nvPr/>
        </p:nvGraphicFramePr>
        <p:xfrm>
          <a:off x="5897880" y="1371600"/>
          <a:ext cx="2743200" cy="320040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Section pill"/>
          <p:cNvSpPr/>
          <p:nvPr/>
        </p:nvSpPr>
        <p:spPr>
          <a:xfrm>
            <a:off x="457200" y="228600"/>
            <a:ext cx="1892808" cy="237744"/>
          </a:xfrm>
          <a:prstGeom prst="roundRect">
            <a:avLst>
              <a:gd name="adj" fmla="val 50000"/>
            </a:avLst>
          </a:prstGeom>
          <a:solidFill>
            <a:schemeClr val="accent2"/>
          </a:solidFill>
          <a:ln/>
        </p:spPr>
      </p:sp>
      <p:sp>
        <p:nvSpPr>
          <p:cNvPr id="4" name="Section pill text"/>
          <p:cNvSpPr txBox="1"/>
          <p:nvPr/>
        </p:nvSpPr>
        <p:spPr>
          <a:xfrm>
            <a:off x="457200" y="228600"/>
            <a:ext cx="1892808" cy="237744"/>
          </a:xfrm>
          <a:prstGeom prst="rect">
            <a:avLst/>
          </a:prstGeom>
          <a:noFill/>
          <a:ln/>
        </p:spPr>
        <p:txBody>
          <a:bodyPr wrap="square" lIns="0" tIns="0" rIns="0" bIns="0" rtlCol="0" anchor="ctr"/>
          <a:lstStyle/>
          <a:p>
            <a:pPr algn="ctr" indent="0" marL="0">
              <a:buNone/>
            </a:pPr>
            <a:r>
              <a:rPr lang="en-US" sz="1000" b="1" dirty="0">
                <a:solidFill>
                  <a:schemeClr val="tx1"/>
                </a:solidFill>
              </a:rPr>
              <a:t>PHASE 2 · RATING ERROR</a:t>
            </a:r>
            <a:endParaRPr lang="en-US" sz="1000" dirty="0"/>
          </a:p>
        </p:txBody>
      </p:sp>
      <p:sp>
        <p:nvSpPr>
          <p:cNvPr id="5" name="Text 0"/>
          <p:cNvSpPr/>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Low ratings carry half of the squared error</a:t>
            </a:r>
            <a:endParaRPr lang="en-US" sz="2400" dirty="0"/>
          </a:p>
        </p:txBody>
      </p:sp>
      <p:sp>
        <p:nvSpPr>
          <p:cNvPr id="6" name="Chart card left"/>
          <p:cNvSpPr/>
          <p:nvPr/>
        </p:nvSpPr>
        <p:spPr>
          <a:xfrm>
            <a:off x="457200" y="1325880"/>
            <a:ext cx="3840480" cy="2743200"/>
          </a:xfrm>
          <a:prstGeom prst="roundRect">
            <a:avLst>
              <a:gd name="adj" fmla="val 2667"/>
            </a:avLst>
          </a:prstGeom>
          <a:solidFill>
            <a:schemeClr val="bg1"/>
          </a:solidFill>
          <a:ln w="9525">
            <a:solidFill>
              <a:srgbClr val="E4DCCB"/>
            </a:solidFill>
            <a:prstDash val="solid"/>
          </a:ln>
        </p:spPr>
      </p:sp>
      <p:graphicFrame>
        <p:nvGraphicFramePr>
          <p:cNvPr id="7" name="Error vs baselines chart" descr=""/>
          <p:cNvGraphicFramePr/>
          <p:nvPr/>
        </p:nvGraphicFramePr>
        <p:xfrm>
          <a:off x="502920" y="1371600"/>
          <a:ext cx="3749040" cy="2651760"/>
        </p:xfrm>
        <a:graphic xmlns:a="http://schemas.openxmlformats.org/drawingml/2006/main">
          <a:graphicData uri="http://schemas.openxmlformats.org/drawingml/2006/chart">
            <c:chart xmlns:c="http://schemas.openxmlformats.org/drawingml/2006/chart" r:id="rId1"/>
          </a:graphicData>
        </a:graphic>
      </p:graphicFrame>
      <p:sp>
        <p:nvSpPr>
          <p:cNvPr id="8" name="Chart card right"/>
          <p:cNvSpPr/>
          <p:nvPr/>
        </p:nvSpPr>
        <p:spPr>
          <a:xfrm>
            <a:off x="4480560" y="1325880"/>
            <a:ext cx="4206240" cy="2743200"/>
          </a:xfrm>
          <a:prstGeom prst="roundRect">
            <a:avLst>
              <a:gd name="adj" fmla="val 2667"/>
            </a:avLst>
          </a:prstGeom>
          <a:solidFill>
            <a:schemeClr val="bg1"/>
          </a:solidFill>
          <a:ln w="9525">
            <a:solidFill>
              <a:srgbClr val="E4DCCB"/>
            </a:solidFill>
            <a:prstDash val="solid"/>
          </a:ln>
        </p:spPr>
      </p:sp>
      <p:graphicFrame>
        <p:nvGraphicFramePr>
          <p:cNvPr id="9" name="Error by rating chart" descr=""/>
          <p:cNvGraphicFramePr/>
          <p:nvPr/>
        </p:nvGraphicFramePr>
        <p:xfrm>
          <a:off x="4526280" y="1371600"/>
          <a:ext cx="4114800" cy="2651760"/>
        </p:xfrm>
        <a:graphic xmlns:a="http://schemas.openxmlformats.org/drawingml/2006/main">
          <a:graphicData uri="http://schemas.openxmlformats.org/drawingml/2006/chart">
            <c:chart xmlns:c="http://schemas.openxmlformats.org/drawingml/2006/chart" r:id="rId2"/>
          </a:graphicData>
        </a:graphic>
      </p:graphicFrame>
      <p:sp>
        <p:nvSpPr>
          <p:cNvPr id="10" name="Takeaway strip"/>
          <p:cNvSpPr/>
          <p:nvPr/>
        </p:nvSpPr>
        <p:spPr>
          <a:xfrm>
            <a:off x="457200" y="4187952"/>
            <a:ext cx="8229600" cy="502920"/>
          </a:xfrm>
          <a:prstGeom prst="roundRect">
            <a:avLst>
              <a:gd name="adj" fmla="val 14545"/>
            </a:avLst>
          </a:prstGeom>
          <a:solidFill>
            <a:srgbClr val="3B2D54"/>
          </a:solidFill>
          <a:ln/>
        </p:spPr>
      </p:sp>
      <p:sp>
        <p:nvSpPr>
          <p:cNvPr id="11" name="Takeaway text"/>
          <p:cNvSpPr txBox="1"/>
          <p:nvPr/>
        </p:nvSpPr>
        <p:spPr>
          <a:xfrm>
            <a:off x="640080" y="4187952"/>
            <a:ext cx="7863840" cy="502920"/>
          </a:xfrm>
          <a:prstGeom prst="rect">
            <a:avLst/>
          </a:prstGeom>
          <a:noFill/>
          <a:ln/>
        </p:spPr>
        <p:txBody>
          <a:bodyPr wrap="square" lIns="0" tIns="0" rIns="0" bIns="0" rtlCol="0" anchor="ctr"/>
          <a:lstStyle/>
          <a:p>
            <a:pPr indent="0" marL="0">
              <a:buNone/>
            </a:pPr>
            <a:r>
              <a:rPr lang="en-US" sz="1500" b="1" dirty="0">
                <a:solidFill>
                  <a:schemeClr val="bg2"/>
                </a:solidFill>
              </a:rPr>
              <a:t>Ratings of ≤ 2★ are 14.9% of the test set but 51.6% of all squared error.</a:t>
            </a:r>
            <a:endParaRPr lang="en-US" sz="15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Section pill"/>
          <p:cNvSpPr/>
          <p:nvPr/>
        </p:nvSpPr>
        <p:spPr>
          <a:xfrm>
            <a:off x="457200" y="228600"/>
            <a:ext cx="1348740" cy="237744"/>
          </a:xfrm>
          <a:prstGeom prst="roundRect">
            <a:avLst>
              <a:gd name="adj" fmla="val 50000"/>
            </a:avLst>
          </a:prstGeom>
          <a:solidFill>
            <a:schemeClr val="accent2"/>
          </a:solidFill>
          <a:ln/>
        </p:spPr>
      </p:sp>
      <p:sp>
        <p:nvSpPr>
          <p:cNvPr id="4" name="Section pill text"/>
          <p:cNvSpPr txBox="1"/>
          <p:nvPr/>
        </p:nvSpPr>
        <p:spPr>
          <a:xfrm>
            <a:off x="457200" y="228600"/>
            <a:ext cx="1348740" cy="237744"/>
          </a:xfrm>
          <a:prstGeom prst="rect">
            <a:avLst/>
          </a:prstGeom>
          <a:noFill/>
          <a:ln/>
        </p:spPr>
        <p:txBody>
          <a:bodyPr wrap="square" lIns="0" tIns="0" rIns="0" bIns="0" rtlCol="0" anchor="ctr"/>
          <a:lstStyle/>
          <a:p>
            <a:pPr algn="ctr" indent="0" marL="0">
              <a:buNone/>
            </a:pPr>
            <a:r>
              <a:rPr lang="en-US" sz="1000" b="1" dirty="0">
                <a:solidFill>
                  <a:schemeClr val="tx1"/>
                </a:solidFill>
              </a:rPr>
              <a:t>PHASE 3 · TOP-K</a:t>
            </a:r>
            <a:endParaRPr lang="en-US" sz="1000" dirty="0"/>
          </a:p>
        </p:txBody>
      </p:sp>
      <p:sp>
        <p:nvSpPr>
          <p:cNvPr id="5" name="Text 0"/>
          <p:cNvSpPr/>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Precision stalls, recall climbs as the list grows</a:t>
            </a:r>
            <a:endParaRPr lang="en-US" sz="2400" dirty="0"/>
          </a:p>
        </p:txBody>
      </p:sp>
      <p:sp>
        <p:nvSpPr>
          <p:cNvPr id="6" name="Chart card"/>
          <p:cNvSpPr/>
          <p:nvPr/>
        </p:nvSpPr>
        <p:spPr>
          <a:xfrm>
            <a:off x="457200" y="1325880"/>
            <a:ext cx="5029200" cy="3291840"/>
          </a:xfrm>
          <a:prstGeom prst="roundRect">
            <a:avLst>
              <a:gd name="adj" fmla="val 2222"/>
            </a:avLst>
          </a:prstGeom>
          <a:solidFill>
            <a:schemeClr val="bg1"/>
          </a:solidFill>
          <a:ln w="9525">
            <a:solidFill>
              <a:srgbClr val="E4DCCB"/>
            </a:solidFill>
            <a:prstDash val="solid"/>
          </a:ln>
        </p:spPr>
      </p:sp>
      <p:graphicFrame>
        <p:nvGraphicFramePr>
          <p:cNvPr id="7" name="PRF chart" descr=""/>
          <p:cNvGraphicFramePr/>
          <p:nvPr/>
        </p:nvGraphicFramePr>
        <p:xfrm>
          <a:off x="502920" y="1371600"/>
          <a:ext cx="4937760" cy="3200400"/>
        </p:xfrm>
        <a:graphic xmlns:a="http://schemas.openxmlformats.org/drawingml/2006/main">
          <a:graphicData uri="http://schemas.openxmlformats.org/drawingml/2006/chart">
            <c:chart xmlns:c="http://schemas.openxmlformats.org/drawingml/2006/chart" r:id="rId1"/>
          </a:graphicData>
        </a:graphic>
      </p:graphicFrame>
      <p:sp>
        <p:nvSpPr>
          <p:cNvPr id="8" name="Definition card 1"/>
          <p:cNvSpPr/>
          <p:nvPr/>
        </p:nvSpPr>
        <p:spPr>
          <a:xfrm>
            <a:off x="5669280" y="1325880"/>
            <a:ext cx="3017520" cy="804672"/>
          </a:xfrm>
          <a:prstGeom prst="roundRect">
            <a:avLst>
              <a:gd name="adj" fmla="val 9091"/>
            </a:avLst>
          </a:prstGeom>
          <a:solidFill>
            <a:schemeClr val="bg1"/>
          </a:solidFill>
          <a:ln w="9525">
            <a:solidFill>
              <a:srgbClr val="E4DCCB"/>
            </a:solidFill>
            <a:prstDash val="solid"/>
          </a:ln>
        </p:spPr>
      </p:sp>
      <p:sp>
        <p:nvSpPr>
          <p:cNvPr id="9" name="Definition name 1"/>
          <p:cNvSpPr txBox="1"/>
          <p:nvPr/>
        </p:nvSpPr>
        <p:spPr>
          <a:xfrm>
            <a:off x="5806440" y="1399032"/>
            <a:ext cx="2743200" cy="256032"/>
          </a:xfrm>
          <a:prstGeom prst="rect">
            <a:avLst/>
          </a:prstGeom>
          <a:noFill/>
          <a:ln/>
        </p:spPr>
        <p:txBody>
          <a:bodyPr wrap="square" lIns="0" tIns="0" rIns="0" bIns="0" rtlCol="0" anchor="t"/>
          <a:lstStyle/>
          <a:p>
            <a:pPr indent="0" marL="0">
              <a:buNone/>
            </a:pPr>
            <a:r>
              <a:rPr lang="en-US" sz="1400" b="1" dirty="0">
                <a:solidFill>
                  <a:schemeClr val="accent1"/>
                </a:solidFill>
              </a:rPr>
              <a:t>Precision@K</a:t>
            </a:r>
            <a:endParaRPr lang="en-US" sz="1400" dirty="0"/>
          </a:p>
        </p:txBody>
      </p:sp>
      <p:sp>
        <p:nvSpPr>
          <p:cNvPr id="10" name="Definition text 1"/>
          <p:cNvSpPr txBox="1"/>
          <p:nvPr/>
        </p:nvSpPr>
        <p:spPr>
          <a:xfrm>
            <a:off x="5806440" y="1673352"/>
            <a:ext cx="2743200" cy="420624"/>
          </a:xfrm>
          <a:prstGeom prst="rect">
            <a:avLst/>
          </a:prstGeom>
          <a:noFill/>
          <a:ln/>
        </p:spPr>
        <p:txBody>
          <a:bodyPr wrap="square" lIns="0" tIns="0" rIns="0" bIns="0" rtlCol="0" anchor="t"/>
          <a:lstStyle/>
          <a:p>
            <a:pPr indent="0" marL="0">
              <a:buNone/>
            </a:pPr>
            <a:r>
              <a:rPr lang="en-US" sz="1200" dirty="0">
                <a:solidFill>
                  <a:schemeClr val="tx1"/>
                </a:solidFill>
              </a:rPr>
              <a:t>hits in the top-K ÷ K: how clean is the list?</a:t>
            </a:r>
            <a:endParaRPr lang="en-US" sz="1200" dirty="0"/>
          </a:p>
        </p:txBody>
      </p:sp>
      <p:sp>
        <p:nvSpPr>
          <p:cNvPr id="11" name="Definition card 2"/>
          <p:cNvSpPr/>
          <p:nvPr/>
        </p:nvSpPr>
        <p:spPr>
          <a:xfrm>
            <a:off x="5669280" y="2221992"/>
            <a:ext cx="3017520" cy="804672"/>
          </a:xfrm>
          <a:prstGeom prst="roundRect">
            <a:avLst>
              <a:gd name="adj" fmla="val 9091"/>
            </a:avLst>
          </a:prstGeom>
          <a:solidFill>
            <a:schemeClr val="bg1"/>
          </a:solidFill>
          <a:ln w="9525">
            <a:solidFill>
              <a:srgbClr val="E4DCCB"/>
            </a:solidFill>
            <a:prstDash val="solid"/>
          </a:ln>
        </p:spPr>
      </p:sp>
      <p:sp>
        <p:nvSpPr>
          <p:cNvPr id="12" name="Definition name 2"/>
          <p:cNvSpPr txBox="1"/>
          <p:nvPr/>
        </p:nvSpPr>
        <p:spPr>
          <a:xfrm>
            <a:off x="5806440" y="2295144"/>
            <a:ext cx="2743200" cy="256032"/>
          </a:xfrm>
          <a:prstGeom prst="rect">
            <a:avLst/>
          </a:prstGeom>
          <a:noFill/>
          <a:ln/>
        </p:spPr>
        <p:txBody>
          <a:bodyPr wrap="square" lIns="0" tIns="0" rIns="0" bIns="0" rtlCol="0" anchor="t"/>
          <a:lstStyle/>
          <a:p>
            <a:pPr indent="0" marL="0">
              <a:buNone/>
            </a:pPr>
            <a:r>
              <a:rPr lang="en-US" sz="1400" b="1" dirty="0">
                <a:solidFill>
                  <a:schemeClr val="accent2"/>
                </a:solidFill>
              </a:rPr>
              <a:t>Recall@K</a:t>
            </a:r>
            <a:endParaRPr lang="en-US" sz="1400" dirty="0"/>
          </a:p>
        </p:txBody>
      </p:sp>
      <p:sp>
        <p:nvSpPr>
          <p:cNvPr id="13" name="Definition text 2"/>
          <p:cNvSpPr txBox="1"/>
          <p:nvPr/>
        </p:nvSpPr>
        <p:spPr>
          <a:xfrm>
            <a:off x="5806440" y="2569464"/>
            <a:ext cx="2743200" cy="420624"/>
          </a:xfrm>
          <a:prstGeom prst="rect">
            <a:avLst/>
          </a:prstGeom>
          <a:noFill/>
          <a:ln/>
        </p:spPr>
        <p:txBody>
          <a:bodyPr wrap="square" lIns="0" tIns="0" rIns="0" bIns="0" rtlCol="0" anchor="t"/>
          <a:lstStyle/>
          <a:p>
            <a:pPr indent="0" marL="0">
              <a:buNone/>
            </a:pPr>
            <a:r>
              <a:rPr lang="en-US" sz="1200" dirty="0">
                <a:solidFill>
                  <a:schemeClr val="tx1"/>
                </a:solidFill>
              </a:rPr>
              <a:t>hits ÷ all relevant held-out titles: how much did we find?</a:t>
            </a:r>
            <a:endParaRPr lang="en-US" sz="1200" dirty="0"/>
          </a:p>
        </p:txBody>
      </p:sp>
      <p:sp>
        <p:nvSpPr>
          <p:cNvPr id="14" name="Definition card 3"/>
          <p:cNvSpPr/>
          <p:nvPr/>
        </p:nvSpPr>
        <p:spPr>
          <a:xfrm>
            <a:off x="5669280" y="3118104"/>
            <a:ext cx="3017520" cy="804672"/>
          </a:xfrm>
          <a:prstGeom prst="roundRect">
            <a:avLst>
              <a:gd name="adj" fmla="val 9091"/>
            </a:avLst>
          </a:prstGeom>
          <a:solidFill>
            <a:schemeClr val="bg1"/>
          </a:solidFill>
          <a:ln w="9525">
            <a:solidFill>
              <a:srgbClr val="E4DCCB"/>
            </a:solidFill>
            <a:prstDash val="solid"/>
          </a:ln>
        </p:spPr>
      </p:sp>
      <p:sp>
        <p:nvSpPr>
          <p:cNvPr id="15" name="Definition name 3"/>
          <p:cNvSpPr txBox="1"/>
          <p:nvPr/>
        </p:nvSpPr>
        <p:spPr>
          <a:xfrm>
            <a:off x="5806440" y="3191256"/>
            <a:ext cx="2743200" cy="256032"/>
          </a:xfrm>
          <a:prstGeom prst="rect">
            <a:avLst/>
          </a:prstGeom>
          <a:noFill/>
          <a:ln/>
        </p:spPr>
        <p:txBody>
          <a:bodyPr wrap="square" lIns="0" tIns="0" rIns="0" bIns="0" rtlCol="0" anchor="t"/>
          <a:lstStyle/>
          <a:p>
            <a:pPr indent="0" marL="0">
              <a:buNone/>
            </a:pPr>
            <a:r>
              <a:rPr lang="en-US" sz="1400" b="1" dirty="0">
                <a:solidFill>
                  <a:schemeClr val="accent4"/>
                </a:solidFill>
              </a:rPr>
              <a:t>F1@K</a:t>
            </a:r>
            <a:endParaRPr lang="en-US" sz="1400" dirty="0"/>
          </a:p>
        </p:txBody>
      </p:sp>
      <p:sp>
        <p:nvSpPr>
          <p:cNvPr id="16" name="Definition text 3"/>
          <p:cNvSpPr txBox="1"/>
          <p:nvPr/>
        </p:nvSpPr>
        <p:spPr>
          <a:xfrm>
            <a:off x="5806440" y="3465576"/>
            <a:ext cx="2743200" cy="420624"/>
          </a:xfrm>
          <a:prstGeom prst="rect">
            <a:avLst/>
          </a:prstGeom>
          <a:noFill/>
          <a:ln/>
        </p:spPr>
        <p:txBody>
          <a:bodyPr wrap="square" lIns="0" tIns="0" rIns="0" bIns="0" rtlCol="0" anchor="t"/>
          <a:lstStyle/>
          <a:p>
            <a:pPr indent="0" marL="0">
              <a:buNone/>
            </a:pPr>
            <a:r>
              <a:rPr lang="en-US" sz="1200" dirty="0">
                <a:solidFill>
                  <a:schemeClr val="tx1"/>
                </a:solidFill>
              </a:rPr>
              <a:t>2·P·R ÷ (P + R): one number for the trade-off</a:t>
            </a:r>
            <a:endParaRPr lang="en-US" sz="1200" dirty="0"/>
          </a:p>
        </p:txBody>
      </p:sp>
      <p:sp>
        <p:nvSpPr>
          <p:cNvPr id="17" name="Setup note"/>
          <p:cNvSpPr txBox="1"/>
          <p:nvPr/>
        </p:nvSpPr>
        <p:spPr>
          <a:xfrm>
            <a:off x="5669280" y="4069080"/>
            <a:ext cx="3017520" cy="548640"/>
          </a:xfrm>
          <a:prstGeom prst="rect">
            <a:avLst/>
          </a:prstGeom>
          <a:noFill/>
          <a:ln/>
        </p:spPr>
        <p:txBody>
          <a:bodyPr wrap="square" lIns="0" tIns="0" rIns="0" bIns="0" rtlCol="0" anchor="t"/>
          <a:lstStyle/>
          <a:p>
            <a:pPr indent="0" marL="0">
              <a:buNone/>
            </a:pPr>
            <a:r>
              <a:rPr lang="en-US" sz="1100" dirty="0">
                <a:solidFill>
                  <a:srgbClr val="4A4458"/>
                </a:solidFill>
              </a:rPr>
              <a:t>Relevant = held-out rating ≥ 4★. At K = 10 about 1 in 40 recommendations is a hit (P = 2.6%).</a:t>
            </a:r>
            <a:endParaRPr lang="en-US" sz="11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Section pill"/>
          <p:cNvSpPr/>
          <p:nvPr/>
        </p:nvSpPr>
        <p:spPr>
          <a:xfrm>
            <a:off x="457200" y="228600"/>
            <a:ext cx="1737360" cy="237744"/>
          </a:xfrm>
          <a:prstGeom prst="roundRect">
            <a:avLst>
              <a:gd name="adj" fmla="val 50000"/>
            </a:avLst>
          </a:prstGeom>
          <a:solidFill>
            <a:schemeClr val="accent2"/>
          </a:solidFill>
          <a:ln/>
        </p:spPr>
      </p:sp>
      <p:sp>
        <p:nvSpPr>
          <p:cNvPr id="4" name="Section pill text"/>
          <p:cNvSpPr txBox="1"/>
          <p:nvPr/>
        </p:nvSpPr>
        <p:spPr>
          <a:xfrm>
            <a:off x="457200" y="228600"/>
            <a:ext cx="1737360" cy="237744"/>
          </a:xfrm>
          <a:prstGeom prst="rect">
            <a:avLst/>
          </a:prstGeom>
          <a:noFill/>
          <a:ln/>
        </p:spPr>
        <p:txBody>
          <a:bodyPr wrap="square" lIns="0" tIns="0" rIns="0" bIns="0" rtlCol="0" anchor="ctr"/>
          <a:lstStyle/>
          <a:p>
            <a:pPr algn="ctr" indent="0" marL="0">
              <a:buNone/>
            </a:pPr>
            <a:r>
              <a:rPr lang="en-US" sz="1000" b="1" dirty="0">
                <a:solidFill>
                  <a:schemeClr val="tx1"/>
                </a:solidFill>
              </a:rPr>
              <a:t>PHASE 4 · RANK-AWARE</a:t>
            </a:r>
            <a:endParaRPr lang="en-US" sz="1000" dirty="0"/>
          </a:p>
        </p:txBody>
      </p:sp>
      <p:sp>
        <p:nvSpPr>
          <p:cNvPr id="5" name="Text 0"/>
          <p:cNvSpPr/>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Rank-aware metrics reward hits near the top</a:t>
            </a:r>
            <a:endParaRPr lang="en-US" sz="2400" dirty="0"/>
          </a:p>
        </p:txBody>
      </p:sp>
      <p:sp>
        <p:nvSpPr>
          <p:cNvPr id="6" name="Worked example card"/>
          <p:cNvSpPr/>
          <p:nvPr/>
        </p:nvSpPr>
        <p:spPr>
          <a:xfrm>
            <a:off x="457200" y="1325880"/>
            <a:ext cx="4846320" cy="3291840"/>
          </a:xfrm>
          <a:prstGeom prst="roundRect">
            <a:avLst>
              <a:gd name="adj" fmla="val 2222"/>
            </a:avLst>
          </a:prstGeom>
          <a:solidFill>
            <a:schemeClr val="bg1"/>
          </a:solidFill>
          <a:ln w="9525">
            <a:solidFill>
              <a:srgbClr val="E4DCCB"/>
            </a:solidFill>
            <a:prstDash val="solid"/>
          </a:ln>
        </p:spPr>
      </p:sp>
      <p:sp>
        <p:nvSpPr>
          <p:cNvPr id="7" name="Worked example heading"/>
          <p:cNvSpPr txBox="1"/>
          <p:nvPr/>
        </p:nvSpPr>
        <p:spPr>
          <a:xfrm>
            <a:off x="621792" y="1417320"/>
            <a:ext cx="4572000" cy="310896"/>
          </a:xfrm>
          <a:prstGeom prst="rect">
            <a:avLst/>
          </a:prstGeom>
          <a:noFill/>
          <a:ln/>
        </p:spPr>
        <p:txBody>
          <a:bodyPr wrap="square" lIns="0" tIns="0" rIns="0" bIns="0" rtlCol="0" anchor="t"/>
          <a:lstStyle/>
          <a:p>
            <a:pPr indent="0" marL="0">
              <a:buNone/>
            </a:pPr>
            <a:r>
              <a:rPr lang="en-US" sz="1400" b="1" dirty="0">
                <a:solidFill>
                  <a:schemeClr val="tx1"/>
                </a:solidFill>
              </a:rPr>
              <a:t>Worked example · user 585, 12 relevant held-out titles</a:t>
            </a:r>
            <a:endParaRPr lang="en-US" sz="1400" dirty="0"/>
          </a:p>
        </p:txBody>
      </p:sp>
      <p:sp>
        <p:nvSpPr>
          <p:cNvPr id="8" name="Rank box 1"/>
          <p:cNvSpPr/>
          <p:nvPr/>
        </p:nvSpPr>
        <p:spPr>
          <a:xfrm>
            <a:off x="621792" y="1828800"/>
            <a:ext cx="384048" cy="384048"/>
          </a:xfrm>
          <a:prstGeom prst="roundRect">
            <a:avLst>
              <a:gd name="adj" fmla="val 14286"/>
            </a:avLst>
          </a:prstGeom>
          <a:solidFill>
            <a:srgbClr val="E9E4F0"/>
          </a:solidFill>
          <a:ln/>
        </p:spPr>
      </p:sp>
      <p:sp>
        <p:nvSpPr>
          <p:cNvPr id="9" name="Rank number 1"/>
          <p:cNvSpPr txBox="1"/>
          <p:nvPr/>
        </p:nvSpPr>
        <p:spPr>
          <a:xfrm>
            <a:off x="621792" y="1828800"/>
            <a:ext cx="384048" cy="384048"/>
          </a:xfrm>
          <a:prstGeom prst="rect">
            <a:avLst/>
          </a:prstGeom>
          <a:noFill/>
          <a:ln/>
        </p:spPr>
        <p:txBody>
          <a:bodyPr wrap="square" lIns="0" tIns="0" rIns="0" bIns="0" rtlCol="0" anchor="ctr"/>
          <a:lstStyle/>
          <a:p>
            <a:pPr algn="ctr" indent="0" marL="0">
              <a:buNone/>
            </a:pPr>
            <a:r>
              <a:rPr lang="en-US" sz="1300" dirty="0">
                <a:solidFill>
                  <a:schemeClr val="accent5"/>
                </a:solidFill>
              </a:rPr>
              <a:t>1</a:t>
            </a:r>
            <a:endParaRPr lang="en-US" sz="1300" dirty="0"/>
          </a:p>
        </p:txBody>
      </p:sp>
      <p:sp>
        <p:nvSpPr>
          <p:cNvPr id="10" name="Rank box 2"/>
          <p:cNvSpPr/>
          <p:nvPr/>
        </p:nvSpPr>
        <p:spPr>
          <a:xfrm>
            <a:off x="1078992" y="1828800"/>
            <a:ext cx="384048" cy="384048"/>
          </a:xfrm>
          <a:prstGeom prst="roundRect">
            <a:avLst>
              <a:gd name="adj" fmla="val 14286"/>
            </a:avLst>
          </a:prstGeom>
          <a:solidFill>
            <a:srgbClr val="E9E4F0"/>
          </a:solidFill>
          <a:ln/>
        </p:spPr>
      </p:sp>
      <p:sp>
        <p:nvSpPr>
          <p:cNvPr id="11" name="Rank number 2"/>
          <p:cNvSpPr txBox="1"/>
          <p:nvPr/>
        </p:nvSpPr>
        <p:spPr>
          <a:xfrm>
            <a:off x="1078992" y="1828800"/>
            <a:ext cx="384048" cy="384048"/>
          </a:xfrm>
          <a:prstGeom prst="rect">
            <a:avLst/>
          </a:prstGeom>
          <a:noFill/>
          <a:ln/>
        </p:spPr>
        <p:txBody>
          <a:bodyPr wrap="square" lIns="0" tIns="0" rIns="0" bIns="0" rtlCol="0" anchor="ctr"/>
          <a:lstStyle/>
          <a:p>
            <a:pPr algn="ctr" indent="0" marL="0">
              <a:buNone/>
            </a:pPr>
            <a:r>
              <a:rPr lang="en-US" sz="1300" dirty="0">
                <a:solidFill>
                  <a:schemeClr val="accent5"/>
                </a:solidFill>
              </a:rPr>
              <a:t>2</a:t>
            </a:r>
            <a:endParaRPr lang="en-US" sz="1300" dirty="0"/>
          </a:p>
        </p:txBody>
      </p:sp>
      <p:sp>
        <p:nvSpPr>
          <p:cNvPr id="12" name="Rank box 3"/>
          <p:cNvSpPr/>
          <p:nvPr/>
        </p:nvSpPr>
        <p:spPr>
          <a:xfrm>
            <a:off x="1536192" y="1828800"/>
            <a:ext cx="384048" cy="384048"/>
          </a:xfrm>
          <a:prstGeom prst="roundRect">
            <a:avLst>
              <a:gd name="adj" fmla="val 14286"/>
            </a:avLst>
          </a:prstGeom>
          <a:solidFill>
            <a:srgbClr val="E9E4F0"/>
          </a:solidFill>
          <a:ln/>
        </p:spPr>
      </p:sp>
      <p:sp>
        <p:nvSpPr>
          <p:cNvPr id="13" name="Rank number 3"/>
          <p:cNvSpPr txBox="1"/>
          <p:nvPr/>
        </p:nvSpPr>
        <p:spPr>
          <a:xfrm>
            <a:off x="1536192" y="1828800"/>
            <a:ext cx="384048" cy="384048"/>
          </a:xfrm>
          <a:prstGeom prst="rect">
            <a:avLst/>
          </a:prstGeom>
          <a:noFill/>
          <a:ln/>
        </p:spPr>
        <p:txBody>
          <a:bodyPr wrap="square" lIns="0" tIns="0" rIns="0" bIns="0" rtlCol="0" anchor="ctr"/>
          <a:lstStyle/>
          <a:p>
            <a:pPr algn="ctr" indent="0" marL="0">
              <a:buNone/>
            </a:pPr>
            <a:r>
              <a:rPr lang="en-US" sz="1300" dirty="0">
                <a:solidFill>
                  <a:schemeClr val="accent5"/>
                </a:solidFill>
              </a:rPr>
              <a:t>3</a:t>
            </a:r>
            <a:endParaRPr lang="en-US" sz="1300" dirty="0"/>
          </a:p>
        </p:txBody>
      </p:sp>
      <p:sp>
        <p:nvSpPr>
          <p:cNvPr id="14" name="Rank box 4"/>
          <p:cNvSpPr/>
          <p:nvPr/>
        </p:nvSpPr>
        <p:spPr>
          <a:xfrm>
            <a:off x="1993392" y="1828800"/>
            <a:ext cx="384048" cy="384048"/>
          </a:xfrm>
          <a:prstGeom prst="roundRect">
            <a:avLst>
              <a:gd name="adj" fmla="val 14286"/>
            </a:avLst>
          </a:prstGeom>
          <a:solidFill>
            <a:srgbClr val="E9E4F0"/>
          </a:solidFill>
          <a:ln/>
        </p:spPr>
      </p:sp>
      <p:sp>
        <p:nvSpPr>
          <p:cNvPr id="15" name="Rank number 4"/>
          <p:cNvSpPr txBox="1"/>
          <p:nvPr/>
        </p:nvSpPr>
        <p:spPr>
          <a:xfrm>
            <a:off x="1993392" y="1828800"/>
            <a:ext cx="384048" cy="384048"/>
          </a:xfrm>
          <a:prstGeom prst="rect">
            <a:avLst/>
          </a:prstGeom>
          <a:noFill/>
          <a:ln/>
        </p:spPr>
        <p:txBody>
          <a:bodyPr wrap="square" lIns="0" tIns="0" rIns="0" bIns="0" rtlCol="0" anchor="ctr"/>
          <a:lstStyle/>
          <a:p>
            <a:pPr algn="ctr" indent="0" marL="0">
              <a:buNone/>
            </a:pPr>
            <a:r>
              <a:rPr lang="en-US" sz="1300" dirty="0">
                <a:solidFill>
                  <a:schemeClr val="accent5"/>
                </a:solidFill>
              </a:rPr>
              <a:t>4</a:t>
            </a:r>
            <a:endParaRPr lang="en-US" sz="1300" dirty="0"/>
          </a:p>
        </p:txBody>
      </p:sp>
      <p:sp>
        <p:nvSpPr>
          <p:cNvPr id="16" name="Rank box 5"/>
          <p:cNvSpPr/>
          <p:nvPr/>
        </p:nvSpPr>
        <p:spPr>
          <a:xfrm>
            <a:off x="2450592" y="1828800"/>
            <a:ext cx="384048" cy="384048"/>
          </a:xfrm>
          <a:prstGeom prst="roundRect">
            <a:avLst>
              <a:gd name="adj" fmla="val 14286"/>
            </a:avLst>
          </a:prstGeom>
          <a:solidFill>
            <a:schemeClr val="accent2"/>
          </a:solidFill>
          <a:ln/>
        </p:spPr>
      </p:sp>
      <p:sp>
        <p:nvSpPr>
          <p:cNvPr id="17" name="Rank number 5"/>
          <p:cNvSpPr txBox="1"/>
          <p:nvPr/>
        </p:nvSpPr>
        <p:spPr>
          <a:xfrm>
            <a:off x="2450592" y="182880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18" name="Rank box 6"/>
          <p:cNvSpPr/>
          <p:nvPr/>
        </p:nvSpPr>
        <p:spPr>
          <a:xfrm>
            <a:off x="2907792" y="1828800"/>
            <a:ext cx="384048" cy="384048"/>
          </a:xfrm>
          <a:prstGeom prst="roundRect">
            <a:avLst>
              <a:gd name="adj" fmla="val 14286"/>
            </a:avLst>
          </a:prstGeom>
          <a:solidFill>
            <a:srgbClr val="E9E4F0"/>
          </a:solidFill>
          <a:ln/>
        </p:spPr>
      </p:sp>
      <p:sp>
        <p:nvSpPr>
          <p:cNvPr id="19" name="Rank number 6"/>
          <p:cNvSpPr txBox="1"/>
          <p:nvPr/>
        </p:nvSpPr>
        <p:spPr>
          <a:xfrm>
            <a:off x="2907792" y="1828800"/>
            <a:ext cx="384048" cy="384048"/>
          </a:xfrm>
          <a:prstGeom prst="rect">
            <a:avLst/>
          </a:prstGeom>
          <a:noFill/>
          <a:ln/>
        </p:spPr>
        <p:txBody>
          <a:bodyPr wrap="square" lIns="0" tIns="0" rIns="0" bIns="0" rtlCol="0" anchor="ctr"/>
          <a:lstStyle/>
          <a:p>
            <a:pPr algn="ctr" indent="0" marL="0">
              <a:buNone/>
            </a:pPr>
            <a:r>
              <a:rPr lang="en-US" sz="1300" dirty="0">
                <a:solidFill>
                  <a:schemeClr val="accent5"/>
                </a:solidFill>
              </a:rPr>
              <a:t>6</a:t>
            </a:r>
            <a:endParaRPr lang="en-US" sz="1300" dirty="0"/>
          </a:p>
        </p:txBody>
      </p:sp>
      <p:sp>
        <p:nvSpPr>
          <p:cNvPr id="20" name="Rank box 7"/>
          <p:cNvSpPr/>
          <p:nvPr/>
        </p:nvSpPr>
        <p:spPr>
          <a:xfrm>
            <a:off x="3364992" y="1828800"/>
            <a:ext cx="384048" cy="384048"/>
          </a:xfrm>
          <a:prstGeom prst="roundRect">
            <a:avLst>
              <a:gd name="adj" fmla="val 14286"/>
            </a:avLst>
          </a:prstGeom>
          <a:solidFill>
            <a:srgbClr val="E9E4F0"/>
          </a:solidFill>
          <a:ln/>
        </p:spPr>
      </p:sp>
      <p:sp>
        <p:nvSpPr>
          <p:cNvPr id="21" name="Rank number 7"/>
          <p:cNvSpPr txBox="1"/>
          <p:nvPr/>
        </p:nvSpPr>
        <p:spPr>
          <a:xfrm>
            <a:off x="3364992" y="1828800"/>
            <a:ext cx="384048" cy="384048"/>
          </a:xfrm>
          <a:prstGeom prst="rect">
            <a:avLst/>
          </a:prstGeom>
          <a:noFill/>
          <a:ln/>
        </p:spPr>
        <p:txBody>
          <a:bodyPr wrap="square" lIns="0" tIns="0" rIns="0" bIns="0" rtlCol="0" anchor="ctr"/>
          <a:lstStyle/>
          <a:p>
            <a:pPr algn="ctr" indent="0" marL="0">
              <a:buNone/>
            </a:pPr>
            <a:r>
              <a:rPr lang="en-US" sz="1300" dirty="0">
                <a:solidFill>
                  <a:schemeClr val="accent5"/>
                </a:solidFill>
              </a:rPr>
              <a:t>7</a:t>
            </a:r>
            <a:endParaRPr lang="en-US" sz="1300" dirty="0"/>
          </a:p>
        </p:txBody>
      </p:sp>
      <p:sp>
        <p:nvSpPr>
          <p:cNvPr id="22" name="Rank box 8"/>
          <p:cNvSpPr/>
          <p:nvPr/>
        </p:nvSpPr>
        <p:spPr>
          <a:xfrm>
            <a:off x="3822192" y="1828800"/>
            <a:ext cx="384048" cy="384048"/>
          </a:xfrm>
          <a:prstGeom prst="roundRect">
            <a:avLst>
              <a:gd name="adj" fmla="val 14286"/>
            </a:avLst>
          </a:prstGeom>
          <a:solidFill>
            <a:schemeClr val="accent2"/>
          </a:solidFill>
          <a:ln/>
        </p:spPr>
      </p:sp>
      <p:sp>
        <p:nvSpPr>
          <p:cNvPr id="23" name="Rank number 8"/>
          <p:cNvSpPr txBox="1"/>
          <p:nvPr/>
        </p:nvSpPr>
        <p:spPr>
          <a:xfrm>
            <a:off x="3822192" y="182880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8</a:t>
            </a:r>
            <a:endParaRPr lang="en-US" sz="1300" dirty="0"/>
          </a:p>
        </p:txBody>
      </p:sp>
      <p:sp>
        <p:nvSpPr>
          <p:cNvPr id="24" name="Rank box 9"/>
          <p:cNvSpPr/>
          <p:nvPr/>
        </p:nvSpPr>
        <p:spPr>
          <a:xfrm>
            <a:off x="4279392" y="1828800"/>
            <a:ext cx="384048" cy="384048"/>
          </a:xfrm>
          <a:prstGeom prst="roundRect">
            <a:avLst>
              <a:gd name="adj" fmla="val 14286"/>
            </a:avLst>
          </a:prstGeom>
          <a:solidFill>
            <a:srgbClr val="E9E4F0"/>
          </a:solidFill>
          <a:ln/>
        </p:spPr>
      </p:sp>
      <p:sp>
        <p:nvSpPr>
          <p:cNvPr id="25" name="Rank number 9"/>
          <p:cNvSpPr txBox="1"/>
          <p:nvPr/>
        </p:nvSpPr>
        <p:spPr>
          <a:xfrm>
            <a:off x="4279392" y="1828800"/>
            <a:ext cx="384048" cy="384048"/>
          </a:xfrm>
          <a:prstGeom prst="rect">
            <a:avLst/>
          </a:prstGeom>
          <a:noFill/>
          <a:ln/>
        </p:spPr>
        <p:txBody>
          <a:bodyPr wrap="square" lIns="0" tIns="0" rIns="0" bIns="0" rtlCol="0" anchor="ctr"/>
          <a:lstStyle/>
          <a:p>
            <a:pPr algn="ctr" indent="0" marL="0">
              <a:buNone/>
            </a:pPr>
            <a:r>
              <a:rPr lang="en-US" sz="1300" dirty="0">
                <a:solidFill>
                  <a:schemeClr val="accent5"/>
                </a:solidFill>
              </a:rPr>
              <a:t>9</a:t>
            </a:r>
            <a:endParaRPr lang="en-US" sz="1300" dirty="0"/>
          </a:p>
        </p:txBody>
      </p:sp>
      <p:sp>
        <p:nvSpPr>
          <p:cNvPr id="26" name="Rank box 10"/>
          <p:cNvSpPr/>
          <p:nvPr/>
        </p:nvSpPr>
        <p:spPr>
          <a:xfrm>
            <a:off x="4736592" y="1828800"/>
            <a:ext cx="384048" cy="384048"/>
          </a:xfrm>
          <a:prstGeom prst="roundRect">
            <a:avLst>
              <a:gd name="adj" fmla="val 14286"/>
            </a:avLst>
          </a:prstGeom>
          <a:solidFill>
            <a:schemeClr val="accent2"/>
          </a:solidFill>
          <a:ln/>
        </p:spPr>
      </p:sp>
      <p:sp>
        <p:nvSpPr>
          <p:cNvPr id="27" name="Rank number 10"/>
          <p:cNvSpPr txBox="1"/>
          <p:nvPr/>
        </p:nvSpPr>
        <p:spPr>
          <a:xfrm>
            <a:off x="4736592" y="182880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10</a:t>
            </a:r>
            <a:endParaRPr lang="en-US" sz="1300" dirty="0"/>
          </a:p>
        </p:txBody>
      </p:sp>
      <p:sp>
        <p:nvSpPr>
          <p:cNvPr id="28" name="Legend"/>
          <p:cNvSpPr txBox="1"/>
          <p:nvPr/>
        </p:nvSpPr>
        <p:spPr>
          <a:xfrm>
            <a:off x="621792" y="2240280"/>
            <a:ext cx="3200400" cy="219456"/>
          </a:xfrm>
          <a:prstGeom prst="rect">
            <a:avLst/>
          </a:prstGeom>
          <a:noFill/>
          <a:ln/>
        </p:spPr>
        <p:txBody>
          <a:bodyPr wrap="square" lIns="0" tIns="0" rIns="0" bIns="0" rtlCol="0" anchor="t"/>
          <a:lstStyle/>
          <a:p>
            <a:pPr indent="0" marL="0">
              <a:buNone/>
            </a:pPr>
            <a:r>
              <a:rPr lang="en-US" sz="1000" dirty="0">
                <a:solidFill>
                  <a:srgbClr val="4A4458"/>
                </a:solidFill>
              </a:rPr>
              <a:t>Top-10 list: amber = hit</a:t>
            </a:r>
            <a:endParaRPr lang="en-US" sz="1000" dirty="0"/>
          </a:p>
        </p:txBody>
      </p:sp>
      <p:sp>
        <p:nvSpPr>
          <p:cNvPr id="29" name="Hit list"/>
          <p:cNvSpPr txBox="1"/>
          <p:nvPr/>
        </p:nvSpPr>
        <p:spPr>
          <a:xfrm>
            <a:off x="621792" y="2542032"/>
            <a:ext cx="4572000" cy="685800"/>
          </a:xfrm>
          <a:prstGeom prst="rect">
            <a:avLst/>
          </a:prstGeom>
          <a:noFill/>
          <a:ln/>
        </p:spPr>
        <p:txBody>
          <a:bodyPr wrap="square" lIns="0" tIns="0" rIns="0" bIns="0" rtlCol="0" anchor="t"/>
          <a:lstStyle/>
          <a:p>
            <a:pPr indent="0" marL="0">
              <a:buNone/>
            </a:pPr>
            <a:r>
              <a:rPr lang="en-US" sz="1200" dirty="0">
                <a:solidFill>
                  <a:srgbClr val="4A4458"/>
                </a:solidFill>
              </a:rPr>
              <a:t>#5  The Departed (2006)  (4.5★)</a:t>
            </a:r>
            <a:endParaRPr lang="en-US" sz="1200" dirty="0"/>
          </a:p>
          <a:p>
            <a:pPr indent="0" marL="0">
              <a:buNone/>
            </a:pPr>
            <a:r>
              <a:rPr lang="en-US" sz="1200" dirty="0">
                <a:solidFill>
                  <a:srgbClr val="4A4458"/>
                </a:solidFill>
              </a:rPr>
              <a:t>#8  Goodfellas (1990)  (5★)</a:t>
            </a:r>
            <a:endParaRPr lang="en-US" sz="1200" dirty="0"/>
          </a:p>
          <a:p>
            <a:pPr indent="0" marL="0">
              <a:buNone/>
            </a:pPr>
            <a:r>
              <a:rPr lang="en-US" sz="1200" dirty="0">
                <a:solidFill>
                  <a:srgbClr val="4A4458"/>
                </a:solidFill>
              </a:rPr>
              <a:t>#10  The Dark Knight (2008)  (4★)</a:t>
            </a:r>
            <a:endParaRPr lang="en-US" sz="1200" dirty="0"/>
          </a:p>
        </p:txBody>
      </p:sp>
      <p:sp>
        <p:nvSpPr>
          <p:cNvPr id="30" name="Formulas"/>
          <p:cNvSpPr txBox="1"/>
          <p:nvPr/>
        </p:nvSpPr>
        <p:spPr>
          <a:xfrm>
            <a:off x="621792" y="3310128"/>
            <a:ext cx="4572000" cy="640080"/>
          </a:xfrm>
          <a:prstGeom prst="rect">
            <a:avLst/>
          </a:prstGeom>
          <a:noFill/>
          <a:ln/>
        </p:spPr>
        <p:txBody>
          <a:bodyPr wrap="square" lIns="0" tIns="0" rIns="0" bIns="0" rtlCol="0" anchor="t"/>
          <a:lstStyle/>
          <a:p>
            <a:pPr indent="0" marL="0">
              <a:buNone/>
            </a:pPr>
            <a:r>
              <a:rPr lang="en-US" sz="1400" b="1" dirty="0">
                <a:solidFill>
                  <a:schemeClr val="tx1"/>
                </a:solidFill>
              </a:rPr>
              <a:t>AP@10 </a:t>
            </a:r>
            <a:pPr indent="0" marL="0">
              <a:buNone/>
            </a:pPr>
            <a:r>
              <a:rPr lang="en-US" sz="1400" dirty="0">
                <a:solidFill>
                  <a:schemeClr val="tx1"/>
                </a:solidFill>
              </a:rPr>
              <a:t>= (1/5 + 2/8 + 3/10) ÷ min(10, 12) = 0.075</a:t>
            </a:r>
            <a:endParaRPr lang="en-US" sz="1400" dirty="0"/>
          </a:p>
          <a:p>
            <a:pPr indent="0" marL="0">
              <a:buNone/>
            </a:pPr>
            <a:r>
              <a:rPr lang="en-US" sz="1400" b="1" dirty="0">
                <a:solidFill>
                  <a:schemeClr val="tx1"/>
                </a:solidFill>
              </a:rPr>
              <a:t>NDCG@10 </a:t>
            </a:r>
            <a:pPr indent="0" marL="0">
              <a:buNone/>
            </a:pPr>
            <a:r>
              <a:rPr lang="en-US" sz="1400" dirty="0">
                <a:solidFill>
                  <a:schemeClr val="tx1"/>
                </a:solidFill>
              </a:rPr>
              <a:t>= DCG 22.48 ÷ IDCG 120.36 = 0.187</a:t>
            </a:r>
            <a:endParaRPr lang="en-US" sz="1400" dirty="0"/>
          </a:p>
        </p:txBody>
      </p:sp>
      <p:sp>
        <p:nvSpPr>
          <p:cNvPr id="31" name="Formula note"/>
          <p:cNvSpPr txBox="1"/>
          <p:nvPr/>
        </p:nvSpPr>
        <p:spPr>
          <a:xfrm>
            <a:off x="621792" y="4160520"/>
            <a:ext cx="4572000" cy="365760"/>
          </a:xfrm>
          <a:prstGeom prst="rect">
            <a:avLst/>
          </a:prstGeom>
          <a:noFill/>
          <a:ln/>
        </p:spPr>
        <p:txBody>
          <a:bodyPr wrap="square" lIns="0" tIns="0" rIns="0" bIns="0" rtlCol="0" anchor="t"/>
          <a:lstStyle/>
          <a:p>
            <a:pPr indent="0" marL="0">
              <a:buNone/>
            </a:pPr>
            <a:r>
              <a:rPr lang="en-US" sz="1200" dirty="0">
                <a:solidFill>
                  <a:srgbClr val="4A4458"/>
                </a:solidFill>
              </a:rPr>
              <a:t>Gain 2^rating − 1 · discount 1 ÷ log₂(rank + 1)</a:t>
            </a:r>
            <a:endParaRPr lang="en-US" sz="1200" dirty="0"/>
          </a:p>
        </p:txBody>
      </p:sp>
      <p:sp>
        <p:nvSpPr>
          <p:cNvPr id="32" name="Order blindness card"/>
          <p:cNvSpPr/>
          <p:nvPr/>
        </p:nvSpPr>
        <p:spPr>
          <a:xfrm>
            <a:off x="5486400" y="1325880"/>
            <a:ext cx="3200400" cy="2011680"/>
          </a:xfrm>
          <a:prstGeom prst="roundRect">
            <a:avLst>
              <a:gd name="adj" fmla="val 3636"/>
            </a:avLst>
          </a:prstGeom>
          <a:solidFill>
            <a:schemeClr val="bg1"/>
          </a:solidFill>
          <a:ln w="9525">
            <a:solidFill>
              <a:srgbClr val="E4DCCB"/>
            </a:solidFill>
            <a:prstDash val="solid"/>
          </a:ln>
        </p:spPr>
      </p:sp>
      <p:sp>
        <p:nvSpPr>
          <p:cNvPr id="33" name="Order heading"/>
          <p:cNvSpPr txBox="1"/>
          <p:nvPr/>
        </p:nvSpPr>
        <p:spPr>
          <a:xfrm>
            <a:off x="5623560" y="1417320"/>
            <a:ext cx="2926080" cy="274320"/>
          </a:xfrm>
          <a:prstGeom prst="rect">
            <a:avLst/>
          </a:prstGeom>
          <a:noFill/>
          <a:ln/>
        </p:spPr>
        <p:txBody>
          <a:bodyPr wrap="square" lIns="0" tIns="0" rIns="0" bIns="0" rtlCol="0" anchor="t"/>
          <a:lstStyle/>
          <a:p>
            <a:pPr indent="0" marL="0">
              <a:buNone/>
            </a:pPr>
            <a:r>
              <a:rPr lang="en-US" sz="1400" b="1" dirty="0">
                <a:solidFill>
                  <a:schemeClr val="tx1"/>
                </a:solidFill>
              </a:rPr>
              <a:t>Same hits, different order</a:t>
            </a:r>
            <a:endParaRPr lang="en-US" sz="1400" dirty="0"/>
          </a:p>
        </p:txBody>
      </p:sp>
      <p:graphicFrame>
        <p:nvGraphicFramePr>
          <p:cNvPr id="8" name="Order table"/>
          <p:cNvGraphicFramePr>
            <a:graphicFrameLocks noGrp="1"/>
          </p:cNvGraphicFramePr>
          <p:nvPr>
            <p:extLst>
              <p:ext uri="{D42A27DB-BD31-4B8C-83A1-F6EECF244321}">
                <p14:modId xmlns:p14="http://schemas.microsoft.com/office/powerpoint/2010/main" val="1579011935"/>
              </p:ext>
            </p:extLst>
          </p:nvPr>
        </p:nvGraphicFramePr>
        <p:xfrm>
          <a:off x="5623560" y="1755648"/>
          <a:ext cx="2926080" cy="914400"/>
        </p:xfrm>
        <a:graphic>
          <a:graphicData uri="http://schemas.openxmlformats.org/drawingml/2006/table">
            <a:tbl>
              <a:tblPr/>
              <a:tblGrid>
                <a:gridCol w="1097280"/>
                <a:gridCol w="914400"/>
                <a:gridCol w="914400"/>
              </a:tblGrid>
              <a:tr h="384048">
                <a:tc>
                  <a:txBody>
                    <a:bodyPr/>
                    <a:lstStyle/>
                    <a:p>
                      <a:pPr algn="ctr" indent="0" marL="0">
                        <a:buNone/>
                      </a:pPr>
                      <a:endParaRPr lang="en-US" sz="11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B1F3D"/>
                    </a:solidFill>
                  </a:tcPr>
                </a:tc>
                <a:tc>
                  <a:txBody>
                    <a:bodyPr/>
                    <a:lstStyle/>
                    <a:p>
                      <a:pPr algn="ctr" indent="0" marL="0">
                        <a:buNone/>
                      </a:pPr>
                      <a:r>
                        <a:rPr lang="en-US" sz="1100" b="1" dirty="0">
                          <a:solidFill>
                            <a:srgbClr val="FFFFFF"/>
                          </a:solidFill>
                        </a:rPr>
                        <a:t>Hits at 1-3</a:t>
                      </a:r>
                      <a:endParaRPr lang="en-US" sz="11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B1F3D"/>
                    </a:solidFill>
                  </a:tcPr>
                </a:tc>
                <a:tc>
                  <a:txBody>
                    <a:bodyPr/>
                    <a:lstStyle/>
                    <a:p>
                      <a:pPr algn="ctr" indent="0" marL="0">
                        <a:buNone/>
                      </a:pPr>
                      <a:r>
                        <a:rPr lang="en-US" sz="1100" b="1" dirty="0">
                          <a:solidFill>
                            <a:srgbClr val="FFFFFF"/>
                          </a:solidFill>
                        </a:rPr>
                        <a:t>Hits at 8-10</a:t>
                      </a:r>
                      <a:endParaRPr lang="en-US" sz="11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B1F3D"/>
                    </a:solidFill>
                  </a:tcPr>
                </a:tc>
              </a:tr>
              <a:tr h="320040">
                <a:tc>
                  <a:txBody>
                    <a:bodyPr/>
                    <a:lstStyle/>
                    <a:p>
                      <a:pPr algn="l" indent="0" marL="0">
                        <a:buNone/>
                      </a:pPr>
                      <a:r>
                        <a:rPr lang="en-US" sz="1100" b="1" dirty="0">
                          <a:solidFill>
                            <a:srgbClr val="1F1B2B"/>
                          </a:solidFill>
                        </a:rPr>
                        <a:t>Precision@10</a:t>
                      </a:r>
                      <a:endParaRPr lang="en-US" sz="11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c>
                  <a:txBody>
                    <a:bodyPr/>
                    <a:lstStyle/>
                    <a:p>
                      <a:pPr algn="ctr" indent="0" marL="0">
                        <a:buNone/>
                      </a:pPr>
                      <a:r>
                        <a:rPr lang="en-US" sz="1100" dirty="0">
                          <a:solidFill>
                            <a:srgbClr val="1F1B2B"/>
                          </a:solidFill>
                        </a:rPr>
                        <a:t>0.30</a:t>
                      </a:r>
                      <a:endParaRPr lang="en-US" sz="11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c>
                  <a:txBody>
                    <a:bodyPr/>
                    <a:lstStyle/>
                    <a:p>
                      <a:pPr algn="ctr" indent="0" marL="0">
                        <a:buNone/>
                      </a:pPr>
                      <a:r>
                        <a:rPr lang="en-US" sz="1100" dirty="0">
                          <a:solidFill>
                            <a:srgbClr val="1F1B2B"/>
                          </a:solidFill>
                        </a:rPr>
                        <a:t>0.30</a:t>
                      </a:r>
                      <a:endParaRPr lang="en-US" sz="11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r>
              <a:tr h="320040">
                <a:tc>
                  <a:txBody>
                    <a:bodyPr/>
                    <a:lstStyle/>
                    <a:p>
                      <a:pPr algn="l" indent="0" marL="0">
                        <a:buNone/>
                      </a:pPr>
                      <a:r>
                        <a:rPr lang="en-US" sz="1100" b="1" dirty="0">
                          <a:solidFill>
                            <a:srgbClr val="1F1B2B"/>
                          </a:solidFill>
                        </a:rPr>
                        <a:t>Recall@10</a:t>
                      </a:r>
                      <a:endParaRPr lang="en-US" sz="11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c>
                  <a:txBody>
                    <a:bodyPr/>
                    <a:lstStyle/>
                    <a:p>
                      <a:pPr algn="ctr" indent="0" marL="0">
                        <a:buNone/>
                      </a:pPr>
                      <a:r>
                        <a:rPr lang="en-US" sz="1100" dirty="0">
                          <a:solidFill>
                            <a:srgbClr val="1F1B2B"/>
                          </a:solidFill>
                        </a:rPr>
                        <a:t>1.00</a:t>
                      </a:r>
                      <a:endParaRPr lang="en-US" sz="11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c>
                  <a:txBody>
                    <a:bodyPr/>
                    <a:lstStyle/>
                    <a:p>
                      <a:pPr algn="ctr" indent="0" marL="0">
                        <a:buNone/>
                      </a:pPr>
                      <a:r>
                        <a:rPr lang="en-US" sz="1100" dirty="0">
                          <a:solidFill>
                            <a:srgbClr val="1F1B2B"/>
                          </a:solidFill>
                        </a:rPr>
                        <a:t>1.00</a:t>
                      </a:r>
                      <a:endParaRPr lang="en-US" sz="11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r>
              <a:tr h="320040">
                <a:tc>
                  <a:txBody>
                    <a:bodyPr/>
                    <a:lstStyle/>
                    <a:p>
                      <a:pPr algn="l" indent="0" marL="0">
                        <a:buNone/>
                      </a:pPr>
                      <a:r>
                        <a:rPr lang="en-US" sz="1100" b="1" dirty="0">
                          <a:solidFill>
                            <a:srgbClr val="1F1B2B"/>
                          </a:solidFill>
                        </a:rPr>
                        <a:t>AP@10</a:t>
                      </a:r>
                      <a:endParaRPr lang="en-US" sz="11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c>
                  <a:txBody>
                    <a:bodyPr/>
                    <a:lstStyle/>
                    <a:p>
                      <a:pPr algn="ctr" indent="0" marL="0">
                        <a:buNone/>
                      </a:pPr>
                      <a:r>
                        <a:rPr lang="en-US" sz="1100" b="1" dirty="0">
                          <a:solidFill>
                            <a:srgbClr val="1F1B2B"/>
                          </a:solidFill>
                        </a:rPr>
                        <a:t>1.00</a:t>
                      </a:r>
                      <a:endParaRPr lang="en-US" sz="11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D5EAEE"/>
                    </a:solidFill>
                  </a:tcPr>
                </a:tc>
                <a:tc>
                  <a:txBody>
                    <a:bodyPr/>
                    <a:lstStyle/>
                    <a:p>
                      <a:pPr algn="ctr" indent="0" marL="0">
                        <a:buNone/>
                      </a:pPr>
                      <a:r>
                        <a:rPr lang="en-US" sz="1100" b="1" dirty="0">
                          <a:solidFill>
                            <a:srgbClr val="1F1B2B"/>
                          </a:solidFill>
                        </a:rPr>
                        <a:t>0.22</a:t>
                      </a:r>
                      <a:endParaRPr lang="en-US" sz="11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6D9DD"/>
                    </a:solidFill>
                  </a:tcPr>
                </a:tc>
              </a:tr>
            </a:tbl>
          </a:graphicData>
        </a:graphic>
      </p:graphicFrame>
      <p:sp>
        <p:nvSpPr>
          <p:cNvPr id="35" name="MF scores card"/>
          <p:cNvSpPr/>
          <p:nvPr/>
        </p:nvSpPr>
        <p:spPr>
          <a:xfrm>
            <a:off x="5486400" y="3474720"/>
            <a:ext cx="3200400" cy="1143000"/>
          </a:xfrm>
          <a:prstGeom prst="roundRect">
            <a:avLst>
              <a:gd name="adj" fmla="val 6400"/>
            </a:avLst>
          </a:prstGeom>
          <a:solidFill>
            <a:schemeClr val="bg1"/>
          </a:solidFill>
          <a:ln w="9525">
            <a:solidFill>
              <a:srgbClr val="E4DCCB"/>
            </a:solidFill>
            <a:prstDash val="solid"/>
          </a:ln>
        </p:spPr>
      </p:sp>
      <p:sp>
        <p:nvSpPr>
          <p:cNvPr id="36" name="Stat MAP@10"/>
          <p:cNvSpPr txBox="1"/>
          <p:nvPr/>
        </p:nvSpPr>
        <p:spPr>
          <a:xfrm>
            <a:off x="5596128" y="3566160"/>
            <a:ext cx="1005840" cy="411480"/>
          </a:xfrm>
          <a:prstGeom prst="rect">
            <a:avLst/>
          </a:prstGeom>
          <a:noFill/>
          <a:ln/>
        </p:spPr>
        <p:txBody>
          <a:bodyPr wrap="square" lIns="0" tIns="0" rIns="0" bIns="0" rtlCol="0" anchor="ctr"/>
          <a:lstStyle/>
          <a:p>
            <a:pPr algn="l" indent="0" marL="0">
              <a:buNone/>
            </a:pPr>
            <a:r>
              <a:rPr lang="en-US" sz="1800" b="1" dirty="0">
                <a:solidFill>
                  <a:schemeClr val="accent1"/>
                </a:solidFill>
                <a:latin typeface="+mj-lt" pitchFamily="34" charset="0"/>
                <a:ea typeface="+mj-lt" pitchFamily="34" charset="-122"/>
                <a:cs typeface="+mj-lt" pitchFamily="34" charset="-120"/>
              </a:rPr>
              <a:t>0.0129</a:t>
            </a:r>
            <a:endParaRPr lang="en-US" sz="1800" dirty="0"/>
          </a:p>
        </p:txBody>
      </p:sp>
      <p:sp>
        <p:nvSpPr>
          <p:cNvPr id="37" name="Stat label MAP@10"/>
          <p:cNvSpPr txBox="1"/>
          <p:nvPr/>
        </p:nvSpPr>
        <p:spPr>
          <a:xfrm>
            <a:off x="5596128" y="3977640"/>
            <a:ext cx="1005840" cy="274320"/>
          </a:xfrm>
          <a:prstGeom prst="rect">
            <a:avLst/>
          </a:prstGeom>
          <a:noFill/>
          <a:ln/>
        </p:spPr>
        <p:txBody>
          <a:bodyPr wrap="square" lIns="0" tIns="0" rIns="0" bIns="0" rtlCol="0" anchor="t"/>
          <a:lstStyle/>
          <a:p>
            <a:pPr algn="l" indent="0" marL="0">
              <a:buNone/>
            </a:pPr>
            <a:r>
              <a:rPr lang="en-US" sz="1100" dirty="0">
                <a:solidFill>
                  <a:schemeClr val="tx1"/>
                </a:solidFill>
              </a:rPr>
              <a:t>MAP@10</a:t>
            </a:r>
            <a:endParaRPr lang="en-US" sz="1100" dirty="0"/>
          </a:p>
        </p:txBody>
      </p:sp>
      <p:sp>
        <p:nvSpPr>
          <p:cNvPr id="38" name="Stat NDCG@10"/>
          <p:cNvSpPr txBox="1"/>
          <p:nvPr/>
        </p:nvSpPr>
        <p:spPr>
          <a:xfrm>
            <a:off x="6620256" y="3566160"/>
            <a:ext cx="1005840" cy="411480"/>
          </a:xfrm>
          <a:prstGeom prst="rect">
            <a:avLst/>
          </a:prstGeom>
          <a:noFill/>
          <a:ln/>
        </p:spPr>
        <p:txBody>
          <a:bodyPr wrap="square" lIns="0" tIns="0" rIns="0" bIns="0" rtlCol="0" anchor="ctr"/>
          <a:lstStyle/>
          <a:p>
            <a:pPr algn="l" indent="0" marL="0">
              <a:buNone/>
            </a:pPr>
            <a:r>
              <a:rPr lang="en-US" sz="1800" b="1" dirty="0">
                <a:solidFill>
                  <a:schemeClr val="accent1"/>
                </a:solidFill>
                <a:latin typeface="+mj-lt" pitchFamily="34" charset="0"/>
                <a:ea typeface="+mj-lt" pitchFamily="34" charset="-122"/>
                <a:cs typeface="+mj-lt" pitchFamily="34" charset="-120"/>
              </a:rPr>
              <a:t>0.0274</a:t>
            </a:r>
            <a:endParaRPr lang="en-US" sz="1800" dirty="0"/>
          </a:p>
        </p:txBody>
      </p:sp>
      <p:sp>
        <p:nvSpPr>
          <p:cNvPr id="39" name="Stat label NDCG@10"/>
          <p:cNvSpPr txBox="1"/>
          <p:nvPr/>
        </p:nvSpPr>
        <p:spPr>
          <a:xfrm>
            <a:off x="6620256" y="3977640"/>
            <a:ext cx="1005840" cy="274320"/>
          </a:xfrm>
          <a:prstGeom prst="rect">
            <a:avLst/>
          </a:prstGeom>
          <a:noFill/>
          <a:ln/>
        </p:spPr>
        <p:txBody>
          <a:bodyPr wrap="square" lIns="0" tIns="0" rIns="0" bIns="0" rtlCol="0" anchor="t"/>
          <a:lstStyle/>
          <a:p>
            <a:pPr algn="l" indent="0" marL="0">
              <a:buNone/>
            </a:pPr>
            <a:r>
              <a:rPr lang="en-US" sz="1100" dirty="0">
                <a:solidFill>
                  <a:schemeClr val="tx1"/>
                </a:solidFill>
              </a:rPr>
              <a:t>NDCG@10</a:t>
            </a:r>
            <a:endParaRPr lang="en-US" sz="1100" dirty="0"/>
          </a:p>
        </p:txBody>
      </p:sp>
      <p:sp>
        <p:nvSpPr>
          <p:cNvPr id="40" name="Stat MRR@10"/>
          <p:cNvSpPr txBox="1"/>
          <p:nvPr/>
        </p:nvSpPr>
        <p:spPr>
          <a:xfrm>
            <a:off x="7644384" y="3566160"/>
            <a:ext cx="1005840" cy="411480"/>
          </a:xfrm>
          <a:prstGeom prst="rect">
            <a:avLst/>
          </a:prstGeom>
          <a:noFill/>
          <a:ln/>
        </p:spPr>
        <p:txBody>
          <a:bodyPr wrap="square" lIns="0" tIns="0" rIns="0" bIns="0" rtlCol="0" anchor="ctr"/>
          <a:lstStyle/>
          <a:p>
            <a:pPr algn="l" indent="0" marL="0">
              <a:buNone/>
            </a:pPr>
            <a:r>
              <a:rPr lang="en-US" sz="1800" b="1" dirty="0">
                <a:solidFill>
                  <a:schemeClr val="accent1"/>
                </a:solidFill>
                <a:latin typeface="+mj-lt" pitchFamily="34" charset="0"/>
                <a:ea typeface="+mj-lt" pitchFamily="34" charset="-122"/>
                <a:cs typeface="+mj-lt" pitchFamily="34" charset="-120"/>
              </a:rPr>
              <a:t>0.065</a:t>
            </a:r>
            <a:endParaRPr lang="en-US" sz="1800" dirty="0"/>
          </a:p>
        </p:txBody>
      </p:sp>
      <p:sp>
        <p:nvSpPr>
          <p:cNvPr id="41" name="Stat label MRR@10"/>
          <p:cNvSpPr txBox="1"/>
          <p:nvPr/>
        </p:nvSpPr>
        <p:spPr>
          <a:xfrm>
            <a:off x="7644384" y="3977640"/>
            <a:ext cx="1005840" cy="274320"/>
          </a:xfrm>
          <a:prstGeom prst="rect">
            <a:avLst/>
          </a:prstGeom>
          <a:noFill/>
          <a:ln/>
        </p:spPr>
        <p:txBody>
          <a:bodyPr wrap="square" lIns="0" tIns="0" rIns="0" bIns="0" rtlCol="0" anchor="t"/>
          <a:lstStyle/>
          <a:p>
            <a:pPr algn="l" indent="0" marL="0">
              <a:buNone/>
            </a:pPr>
            <a:r>
              <a:rPr lang="en-US" sz="1100" dirty="0">
                <a:solidFill>
                  <a:schemeClr val="tx1"/>
                </a:solidFill>
              </a:rPr>
              <a:t>MRR@10</a:t>
            </a:r>
            <a:endParaRPr lang="en-US" sz="1100" dirty="0"/>
          </a:p>
        </p:txBody>
      </p:sp>
      <p:sp>
        <p:nvSpPr>
          <p:cNvPr id="42" name="MF scores caption"/>
          <p:cNvSpPr txBox="1"/>
          <p:nvPr/>
        </p:nvSpPr>
        <p:spPr>
          <a:xfrm>
            <a:off x="5623560" y="4297680"/>
            <a:ext cx="2926080" cy="256032"/>
          </a:xfrm>
          <a:prstGeom prst="rect">
            <a:avLst/>
          </a:prstGeom>
          <a:noFill/>
          <a:ln/>
        </p:spPr>
        <p:txBody>
          <a:bodyPr wrap="square" lIns="0" tIns="0" rIns="0" bIns="0" rtlCol="0" anchor="t"/>
          <a:lstStyle/>
          <a:p>
            <a:pPr indent="0" marL="0">
              <a:buNone/>
            </a:pPr>
            <a:r>
              <a:rPr lang="en-US" sz="1000" dirty="0">
                <a:solidFill>
                  <a:srgbClr val="4A4458"/>
                </a:solidFill>
              </a:rPr>
              <a:t>Matrix factorization, test set</a:t>
            </a:r>
            <a:endParaRPr lang="en-US" sz="10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Section pill"/>
          <p:cNvSpPr/>
          <p:nvPr/>
        </p:nvSpPr>
        <p:spPr>
          <a:xfrm>
            <a:off x="457200" y="228600"/>
            <a:ext cx="2048256" cy="237744"/>
          </a:xfrm>
          <a:prstGeom prst="roundRect">
            <a:avLst>
              <a:gd name="adj" fmla="val 50000"/>
            </a:avLst>
          </a:prstGeom>
          <a:solidFill>
            <a:schemeClr val="accent2"/>
          </a:solidFill>
          <a:ln/>
        </p:spPr>
      </p:sp>
      <p:sp>
        <p:nvSpPr>
          <p:cNvPr id="4" name="Section pill text"/>
          <p:cNvSpPr txBox="1"/>
          <p:nvPr/>
        </p:nvSpPr>
        <p:spPr>
          <a:xfrm>
            <a:off x="457200" y="228600"/>
            <a:ext cx="2048256" cy="237744"/>
          </a:xfrm>
          <a:prstGeom prst="rect">
            <a:avLst/>
          </a:prstGeom>
          <a:noFill/>
          <a:ln/>
        </p:spPr>
        <p:txBody>
          <a:bodyPr wrap="square" lIns="0" tIns="0" rIns="0" bIns="0" rtlCol="0" anchor="ctr"/>
          <a:lstStyle/>
          <a:p>
            <a:pPr algn="ctr" indent="0" marL="0">
              <a:buNone/>
            </a:pPr>
            <a:r>
              <a:rPr lang="en-US" sz="1000" b="1" dirty="0">
                <a:solidFill>
                  <a:schemeClr val="tx1"/>
                </a:solidFill>
              </a:rPr>
              <a:t>PHASE 4 · RMSE ≠ RANKING</a:t>
            </a:r>
            <a:endParaRPr lang="en-US" sz="1000" dirty="0"/>
          </a:p>
        </p:txBody>
      </p:sp>
      <p:sp>
        <p:nvSpPr>
          <p:cNvPr id="5" name="Text 0"/>
          <p:cNvSpPr/>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A better RMSE did not mean a better ranking</a:t>
            </a:r>
            <a:endParaRPr lang="en-US" sz="2400" dirty="0"/>
          </a:p>
        </p:txBody>
      </p:sp>
      <p:sp>
        <p:nvSpPr>
          <p:cNvPr id="6" name="Chart card RMSE"/>
          <p:cNvSpPr/>
          <p:nvPr/>
        </p:nvSpPr>
        <p:spPr>
          <a:xfrm>
            <a:off x="457200" y="1325880"/>
            <a:ext cx="2194560" cy="2514600"/>
          </a:xfrm>
          <a:prstGeom prst="roundRect">
            <a:avLst>
              <a:gd name="adj" fmla="val 3333"/>
            </a:avLst>
          </a:prstGeom>
          <a:solidFill>
            <a:schemeClr val="bg1"/>
          </a:solidFill>
          <a:ln w="9525">
            <a:solidFill>
              <a:srgbClr val="E4DCCB"/>
            </a:solidFill>
            <a:prstDash val="solid"/>
          </a:ln>
        </p:spPr>
      </p:sp>
      <p:graphicFrame>
        <p:nvGraphicFramePr>
          <p:cNvPr id="7" name="RMSE comparison chart" descr=""/>
          <p:cNvGraphicFramePr/>
          <p:nvPr/>
        </p:nvGraphicFramePr>
        <p:xfrm>
          <a:off x="475488" y="1371600"/>
          <a:ext cx="2157984" cy="2423160"/>
        </p:xfrm>
        <a:graphic xmlns:a="http://schemas.openxmlformats.org/drawingml/2006/main">
          <a:graphicData uri="http://schemas.openxmlformats.org/drawingml/2006/chart">
            <c:chart xmlns:c="http://schemas.openxmlformats.org/drawingml/2006/chart" r:id="rId1"/>
          </a:graphicData>
        </a:graphic>
      </p:graphicFrame>
      <p:sp>
        <p:nvSpPr>
          <p:cNvPr id="8" name="Chart card NDCG"/>
          <p:cNvSpPr/>
          <p:nvPr/>
        </p:nvSpPr>
        <p:spPr>
          <a:xfrm>
            <a:off x="2743200" y="1325880"/>
            <a:ext cx="2194560" cy="2514600"/>
          </a:xfrm>
          <a:prstGeom prst="roundRect">
            <a:avLst>
              <a:gd name="adj" fmla="val 3333"/>
            </a:avLst>
          </a:prstGeom>
          <a:solidFill>
            <a:schemeClr val="bg1"/>
          </a:solidFill>
          <a:ln w="9525">
            <a:solidFill>
              <a:srgbClr val="E4DCCB"/>
            </a:solidFill>
            <a:prstDash val="solid"/>
          </a:ln>
        </p:spPr>
      </p:sp>
      <p:graphicFrame>
        <p:nvGraphicFramePr>
          <p:cNvPr id="9" name="NDCG comparison chart" descr=""/>
          <p:cNvGraphicFramePr/>
          <p:nvPr/>
        </p:nvGraphicFramePr>
        <p:xfrm>
          <a:off x="2761488" y="1371600"/>
          <a:ext cx="2157984" cy="2423160"/>
        </p:xfrm>
        <a:graphic xmlns:a="http://schemas.openxmlformats.org/drawingml/2006/main">
          <a:graphicData uri="http://schemas.openxmlformats.org/drawingml/2006/chart">
            <c:chart xmlns:c="http://schemas.openxmlformats.org/drawingml/2006/chart" r:id="rId2"/>
          </a:graphicData>
        </a:graphic>
      </p:graphicFrame>
      <p:sp>
        <p:nvSpPr>
          <p:cNvPr id="10" name="Takeaway strip"/>
          <p:cNvSpPr/>
          <p:nvPr/>
        </p:nvSpPr>
        <p:spPr>
          <a:xfrm>
            <a:off x="457200" y="3977640"/>
            <a:ext cx="4480560" cy="658368"/>
          </a:xfrm>
          <a:prstGeom prst="roundRect">
            <a:avLst>
              <a:gd name="adj" fmla="val 11111"/>
            </a:avLst>
          </a:prstGeom>
          <a:solidFill>
            <a:srgbClr val="3B2D54"/>
          </a:solidFill>
          <a:ln/>
        </p:spPr>
      </p:sp>
      <p:sp>
        <p:nvSpPr>
          <p:cNvPr id="11" name="Takeaway text"/>
          <p:cNvSpPr txBox="1"/>
          <p:nvPr/>
        </p:nvSpPr>
        <p:spPr>
          <a:xfrm>
            <a:off x="621792" y="3977640"/>
            <a:ext cx="4206240" cy="658368"/>
          </a:xfrm>
          <a:prstGeom prst="rect">
            <a:avLst/>
          </a:prstGeom>
          <a:noFill/>
          <a:ln/>
        </p:spPr>
        <p:txBody>
          <a:bodyPr wrap="square" lIns="0" tIns="0" rIns="0" bIns="0" rtlCol="0" anchor="ctr"/>
          <a:lstStyle/>
          <a:p>
            <a:pPr indent="0" marL="0">
              <a:buNone/>
            </a:pPr>
            <a:r>
              <a:rPr lang="en-US" sz="1400" b="1" dirty="0">
                <a:solidFill>
                  <a:schemeClr val="bg2"/>
                </a:solidFill>
              </a:rPr>
              <a:t>Bias-only has the worse RMSE yet ranks 1.9× better.</a:t>
            </a:r>
            <a:endParaRPr lang="en-US" sz="1400" dirty="0"/>
          </a:p>
        </p:txBody>
      </p:sp>
      <p:sp>
        <p:nvSpPr>
          <p:cNvPr id="12" name="Damping card"/>
          <p:cNvSpPr/>
          <p:nvPr/>
        </p:nvSpPr>
        <p:spPr>
          <a:xfrm>
            <a:off x="5120640" y="1325880"/>
            <a:ext cx="3566160" cy="3310128"/>
          </a:xfrm>
          <a:prstGeom prst="roundRect">
            <a:avLst>
              <a:gd name="adj" fmla="val 2210"/>
            </a:avLst>
          </a:prstGeom>
          <a:solidFill>
            <a:schemeClr val="bg1"/>
          </a:solidFill>
          <a:ln w="9525">
            <a:solidFill>
              <a:srgbClr val="E4DCCB"/>
            </a:solidFill>
            <a:prstDash val="solid"/>
          </a:ln>
        </p:spPr>
      </p:sp>
      <p:sp>
        <p:nvSpPr>
          <p:cNvPr id="13" name="Damping heading"/>
          <p:cNvSpPr txBox="1"/>
          <p:nvPr/>
        </p:nvSpPr>
        <p:spPr>
          <a:xfrm>
            <a:off x="5257800" y="1417320"/>
            <a:ext cx="3291840" cy="274320"/>
          </a:xfrm>
          <a:prstGeom prst="rect">
            <a:avLst/>
          </a:prstGeom>
          <a:noFill/>
          <a:ln/>
        </p:spPr>
        <p:txBody>
          <a:bodyPr wrap="square" lIns="0" tIns="0" rIns="0" bIns="0" rtlCol="0" anchor="t"/>
          <a:lstStyle/>
          <a:p>
            <a:pPr indent="0" marL="0">
              <a:buNone/>
            </a:pPr>
            <a:r>
              <a:rPr lang="en-US" sz="1400" b="1" dirty="0">
                <a:solidFill>
                  <a:schemeClr val="tx1"/>
                </a:solidFill>
              </a:rPr>
              <a:t>Why MF first failed at ranking</a:t>
            </a:r>
            <a:endParaRPr lang="en-US" sz="1400" dirty="0"/>
          </a:p>
        </p:txBody>
      </p:sp>
      <p:graphicFrame>
        <p:nvGraphicFramePr>
          <p:cNvPr id="9" name="Damping table"/>
          <p:cNvGraphicFramePr>
            <a:graphicFrameLocks noGrp="1"/>
          </p:cNvGraphicFramePr>
          <p:nvPr>
            <p:extLst>
              <p:ext uri="{D42A27DB-BD31-4B8C-83A1-F6EECF244321}">
                <p14:modId xmlns:p14="http://schemas.microsoft.com/office/powerpoint/2010/main" val="1579011935"/>
              </p:ext>
            </p:extLst>
          </p:nvPr>
        </p:nvGraphicFramePr>
        <p:xfrm>
          <a:off x="5257800" y="1783080"/>
          <a:ext cx="3291840" cy="914400"/>
        </p:xfrm>
        <a:graphic>
          <a:graphicData uri="http://schemas.openxmlformats.org/drawingml/2006/table">
            <a:tbl>
              <a:tblPr/>
              <a:tblGrid>
                <a:gridCol w="1097280"/>
                <a:gridCol w="1051560"/>
                <a:gridCol w="1143000"/>
              </a:tblGrid>
              <a:tr h="411480">
                <a:tc>
                  <a:txBody>
                    <a:bodyPr/>
                    <a:lstStyle/>
                    <a:p>
                      <a:pPr algn="ctr" indent="0" marL="0">
                        <a:buNone/>
                      </a:pPr>
                      <a:r>
                        <a:rPr lang="en-US" sz="1000" b="1" dirty="0">
                          <a:solidFill>
                            <a:srgbClr val="FFFFFF"/>
                          </a:solidFill>
                        </a:rPr>
                        <a:t>Item-bias penalty</a:t>
                      </a:r>
                      <a:endParaRPr lang="en-US" sz="10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B1F3D"/>
                    </a:solidFill>
                  </a:tcPr>
                </a:tc>
                <a:tc>
                  <a:txBody>
                    <a:bodyPr/>
                    <a:lstStyle/>
                    <a:p>
                      <a:pPr algn="ctr" indent="0" marL="0">
                        <a:buNone/>
                      </a:pPr>
                      <a:r>
                        <a:rPr lang="en-US" sz="1000" b="1" dirty="0">
                          <a:solidFill>
                            <a:srgbClr val="FFFFFF"/>
                          </a:solidFill>
                        </a:rPr>
                        <a:t>Valid RMSE</a:t>
                      </a:r>
                      <a:endParaRPr lang="en-US" sz="10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B1F3D"/>
                    </a:solidFill>
                  </a:tcPr>
                </a:tc>
                <a:tc>
                  <a:txBody>
                    <a:bodyPr/>
                    <a:lstStyle/>
                    <a:p>
                      <a:pPr algn="ctr" indent="0" marL="0">
                        <a:buNone/>
                      </a:pPr>
                      <a:r>
                        <a:rPr lang="en-US" sz="1000" b="1" dirty="0">
                          <a:solidFill>
                            <a:srgbClr val="FFFFFF"/>
                          </a:solidFill>
                        </a:rPr>
                        <a:t>Valid NDCG@10</a:t>
                      </a:r>
                      <a:endParaRPr lang="en-US" sz="10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B1F3D"/>
                    </a:solidFill>
                  </a:tcPr>
                </a:tc>
              </a:tr>
              <a:tr h="347472">
                <a:tc>
                  <a:txBody>
                    <a:bodyPr/>
                    <a:lstStyle/>
                    <a:p>
                      <a:pPr algn="ctr" indent="0" marL="0">
                        <a:buNone/>
                      </a:pPr>
                      <a:r>
                        <a:rPr lang="en-US" sz="1200" b="1" dirty="0">
                          <a:solidFill>
                            <a:srgbClr val="1F1B2B"/>
                          </a:solidFill>
                        </a:rPr>
                        <a:t>0</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c>
                  <a:txBody>
                    <a:bodyPr/>
                    <a:lstStyle/>
                    <a:p>
                      <a:pPr algn="ctr" indent="0" marL="0">
                        <a:buNone/>
                      </a:pPr>
                      <a:r>
                        <a:rPr lang="en-US" sz="1200" dirty="0">
                          <a:solidFill>
                            <a:srgbClr val="1F1B2B"/>
                          </a:solidFill>
                        </a:rPr>
                        <a:t>0.880</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c>
                  <a:txBody>
                    <a:bodyPr/>
                    <a:lstStyle/>
                    <a:p>
                      <a:pPr algn="ctr" indent="0" marL="0">
                        <a:buNone/>
                      </a:pPr>
                      <a:r>
                        <a:rPr lang="en-US" sz="1200" b="1" dirty="0">
                          <a:solidFill>
                            <a:srgbClr val="1F1B2B"/>
                          </a:solidFill>
                        </a:rPr>
                        <a:t>0.0009</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r>
              <a:tr h="347472">
                <a:tc>
                  <a:txBody>
                    <a:bodyPr/>
                    <a:lstStyle/>
                    <a:p>
                      <a:pPr algn="ctr" indent="0" marL="0">
                        <a:buNone/>
                      </a:pPr>
                      <a:r>
                        <a:rPr lang="en-US" sz="1200" b="1" dirty="0">
                          <a:solidFill>
                            <a:srgbClr val="1F1B2B"/>
                          </a:solidFill>
                        </a:rPr>
                        <a:t>10</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BE9C6"/>
                    </a:solidFill>
                  </a:tcPr>
                </a:tc>
                <a:tc>
                  <a:txBody>
                    <a:bodyPr/>
                    <a:lstStyle/>
                    <a:p>
                      <a:pPr algn="ctr" indent="0" marL="0">
                        <a:buNone/>
                      </a:pPr>
                      <a:r>
                        <a:rPr lang="en-US" sz="1200" dirty="0">
                          <a:solidFill>
                            <a:srgbClr val="1F1B2B"/>
                          </a:solidFill>
                        </a:rPr>
                        <a:t>0.879</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BE9C6"/>
                    </a:solidFill>
                  </a:tcPr>
                </a:tc>
                <a:tc>
                  <a:txBody>
                    <a:bodyPr/>
                    <a:lstStyle/>
                    <a:p>
                      <a:pPr algn="ctr" indent="0" marL="0">
                        <a:buNone/>
                      </a:pPr>
                      <a:r>
                        <a:rPr lang="en-US" sz="1200" b="1" dirty="0">
                          <a:solidFill>
                            <a:srgbClr val="1F1B2B"/>
                          </a:solidFill>
                        </a:rPr>
                        <a:t>0.0284</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BE9C6"/>
                    </a:solidFill>
                  </a:tcPr>
                </a:tc>
              </a:tr>
              <a:tr h="347472">
                <a:tc>
                  <a:txBody>
                    <a:bodyPr/>
                    <a:lstStyle/>
                    <a:p>
                      <a:pPr algn="ctr" indent="0" marL="0">
                        <a:buNone/>
                      </a:pPr>
                      <a:r>
                        <a:rPr lang="en-US" sz="1200" b="1" dirty="0">
                          <a:solidFill>
                            <a:srgbClr val="1F1B2B"/>
                          </a:solidFill>
                        </a:rPr>
                        <a:t>25</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c>
                  <a:txBody>
                    <a:bodyPr/>
                    <a:lstStyle/>
                    <a:p>
                      <a:pPr algn="ctr" indent="0" marL="0">
                        <a:buNone/>
                      </a:pPr>
                      <a:r>
                        <a:rPr lang="en-US" sz="1200" dirty="0">
                          <a:solidFill>
                            <a:srgbClr val="1F1B2B"/>
                          </a:solidFill>
                        </a:rPr>
                        <a:t>0.880</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c>
                  <a:txBody>
                    <a:bodyPr/>
                    <a:lstStyle/>
                    <a:p>
                      <a:pPr algn="ctr" indent="0" marL="0">
                        <a:buNone/>
                      </a:pPr>
                      <a:r>
                        <a:rPr lang="en-US" sz="1200" b="1" dirty="0">
                          <a:solidFill>
                            <a:srgbClr val="1F1B2B"/>
                          </a:solidFill>
                        </a:rPr>
                        <a:t>0.0264</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r>
            </a:tbl>
          </a:graphicData>
        </a:graphic>
      </p:graphicFrame>
      <p:sp>
        <p:nvSpPr>
          <p:cNvPr id="15" name="Damping explanation"/>
          <p:cNvSpPr txBox="1"/>
          <p:nvPr/>
        </p:nvSpPr>
        <p:spPr>
          <a:xfrm>
            <a:off x="5257800" y="3383280"/>
            <a:ext cx="3291840" cy="1188720"/>
          </a:xfrm>
          <a:prstGeom prst="rect">
            <a:avLst/>
          </a:prstGeom>
          <a:noFill/>
          <a:ln/>
        </p:spPr>
        <p:txBody>
          <a:bodyPr wrap="square" lIns="0" tIns="0" rIns="0" bIns="0" rtlCol="0" anchor="t"/>
          <a:lstStyle/>
          <a:p>
            <a:pPr indent="0" marL="0">
              <a:buNone/>
            </a:pPr>
            <a:r>
              <a:rPr lang="en-US" sz="1200" dirty="0">
                <a:solidFill>
                  <a:srgbClr val="4A4458"/>
                </a:solidFill>
              </a:rPr>
              <a:t>Without the penalty, rankings were no better than random (random NDCG@10 ≈ 0.0008) while RMSE looked fine. A constant penalty on item biases (λ = 10) fixed ranking at the same RMSE.</a:t>
            </a:r>
            <a:endParaRPr lang="en-US" sz="12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Section pill"/>
          <p:cNvSpPr/>
          <p:nvPr/>
        </p:nvSpPr>
        <p:spPr>
          <a:xfrm>
            <a:off x="457200" y="228600"/>
            <a:ext cx="2125980" cy="237744"/>
          </a:xfrm>
          <a:prstGeom prst="roundRect">
            <a:avLst>
              <a:gd name="adj" fmla="val 50000"/>
            </a:avLst>
          </a:prstGeom>
          <a:solidFill>
            <a:schemeClr val="accent2"/>
          </a:solidFill>
          <a:ln/>
        </p:spPr>
      </p:sp>
      <p:sp>
        <p:nvSpPr>
          <p:cNvPr id="4" name="Section pill text"/>
          <p:cNvSpPr txBox="1"/>
          <p:nvPr/>
        </p:nvSpPr>
        <p:spPr>
          <a:xfrm>
            <a:off x="457200" y="228600"/>
            <a:ext cx="2125980" cy="237744"/>
          </a:xfrm>
          <a:prstGeom prst="rect">
            <a:avLst/>
          </a:prstGeom>
          <a:noFill/>
          <a:ln/>
        </p:spPr>
        <p:txBody>
          <a:bodyPr wrap="square" lIns="0" tIns="0" rIns="0" bIns="0" rtlCol="0" anchor="ctr"/>
          <a:lstStyle/>
          <a:p>
            <a:pPr algn="ctr" indent="0" marL="0">
              <a:buNone/>
            </a:pPr>
            <a:r>
              <a:rPr lang="en-US" sz="1000" b="1" dirty="0">
                <a:solidFill>
                  <a:schemeClr val="tx1"/>
                </a:solidFill>
              </a:rPr>
              <a:t>PHASE 5 · BEYOND ACCURACY</a:t>
            </a:r>
            <a:endParaRPr lang="en-US" sz="1000" dirty="0"/>
          </a:p>
        </p:txBody>
      </p:sp>
      <p:sp>
        <p:nvSpPr>
          <p:cNvPr id="5" name="Text 0"/>
          <p:cNvSpPr/>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Accuracy winners are not discovery winners</a:t>
            </a:r>
            <a:endParaRPr lang="en-US" sz="2400" dirty="0"/>
          </a:p>
        </p:txBody>
      </p:sp>
      <p:graphicFrame>
        <p:nvGraphicFramePr>
          <p:cNvPr id="10" name="Beyond accuracy table"/>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2194560"/>
                <a:gridCol w="1005840"/>
                <a:gridCol w="1005840"/>
                <a:gridCol w="1005840"/>
                <a:gridCol w="1005840"/>
                <a:gridCol w="1005840"/>
                <a:gridCol w="1005840"/>
              </a:tblGrid>
              <a:tr h="457200">
                <a:tc>
                  <a:txBody>
                    <a:bodyPr/>
                    <a:lstStyle/>
                    <a:p>
                      <a:pPr algn="l" indent="0" marL="0">
                        <a:buNone/>
                      </a:pPr>
                      <a:r>
                        <a:rPr lang="en-US" sz="1100" b="1" dirty="0">
                          <a:solidFill>
                            <a:srgbClr val="FFFFFF"/>
                          </a:solidFill>
                        </a:rPr>
                        <a:t>Model</a:t>
                      </a:r>
                      <a:endParaRPr lang="en-US" sz="11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B1F3D"/>
                    </a:solidFill>
                  </a:tcPr>
                </a:tc>
                <a:tc>
                  <a:txBody>
                    <a:bodyPr/>
                    <a:lstStyle/>
                    <a:p>
                      <a:pPr algn="ctr" indent="0" marL="0">
                        <a:buNone/>
                      </a:pPr>
                      <a:r>
                        <a:rPr lang="en-US" sz="1000" b="1" dirty="0">
                          <a:solidFill>
                            <a:srgbClr val="FFFFFF"/>
                          </a:solidFill>
                        </a:rPr>
                        <a:t>Precision@10</a:t>
                      </a:r>
                      <a:endParaRPr lang="en-US" sz="10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B1F3D"/>
                    </a:solidFill>
                  </a:tcPr>
                </a:tc>
                <a:tc>
                  <a:txBody>
                    <a:bodyPr/>
                    <a:lstStyle/>
                    <a:p>
                      <a:pPr algn="ctr" indent="0" marL="0">
                        <a:buNone/>
                      </a:pPr>
                      <a:r>
                        <a:rPr lang="en-US" sz="1000" b="1" dirty="0">
                          <a:solidFill>
                            <a:srgbClr val="FFFFFF"/>
                          </a:solidFill>
                        </a:rPr>
                        <a:t>NDCG@10</a:t>
                      </a:r>
                      <a:endParaRPr lang="en-US" sz="10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B1F3D"/>
                    </a:solidFill>
                  </a:tcPr>
                </a:tc>
                <a:tc>
                  <a:txBody>
                    <a:bodyPr/>
                    <a:lstStyle/>
                    <a:p>
                      <a:pPr algn="ctr" indent="0" marL="0">
                        <a:buNone/>
                      </a:pPr>
                      <a:r>
                        <a:rPr lang="en-US" sz="1000" b="1" dirty="0">
                          <a:solidFill>
                            <a:srgbClr val="FFFFFF"/>
                          </a:solidFill>
                        </a:rPr>
                        <a:t>Coverage@10</a:t>
                      </a:r>
                      <a:endParaRPr lang="en-US" sz="10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B1F3D"/>
                    </a:solidFill>
                  </a:tcPr>
                </a:tc>
                <a:tc>
                  <a:txBody>
                    <a:bodyPr/>
                    <a:lstStyle/>
                    <a:p>
                      <a:pPr algn="ctr" indent="0" marL="0">
                        <a:buNone/>
                      </a:pPr>
                      <a:r>
                        <a:rPr lang="en-US" sz="1000" b="1" dirty="0">
                          <a:solidFill>
                            <a:srgbClr val="FFFFFF"/>
                          </a:solidFill>
                        </a:rPr>
                        <a:t>Diversity@10</a:t>
                      </a:r>
                      <a:endParaRPr lang="en-US" sz="10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B1F3D"/>
                    </a:solidFill>
                  </a:tcPr>
                </a:tc>
                <a:tc>
                  <a:txBody>
                    <a:bodyPr/>
                    <a:lstStyle/>
                    <a:p>
                      <a:pPr algn="ctr" indent="0" marL="0">
                        <a:buNone/>
                      </a:pPr>
                      <a:r>
                        <a:rPr lang="en-US" sz="1000" b="1" dirty="0">
                          <a:solidFill>
                            <a:srgbClr val="FFFFFF"/>
                          </a:solidFill>
                        </a:rPr>
                        <a:t>Novelty@10</a:t>
                      </a:r>
                      <a:endParaRPr lang="en-US" sz="10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B1F3D"/>
                    </a:solidFill>
                  </a:tcPr>
                </a:tc>
                <a:tc>
                  <a:txBody>
                    <a:bodyPr/>
                    <a:lstStyle/>
                    <a:p>
                      <a:pPr algn="ctr" indent="0" marL="0">
                        <a:buNone/>
                      </a:pPr>
                      <a:r>
                        <a:rPr lang="en-US" sz="1000" b="1" dirty="0">
                          <a:solidFill>
                            <a:srgbClr val="FFFFFF"/>
                          </a:solidFill>
                        </a:rPr>
                        <a:t>Serendipity@10</a:t>
                      </a:r>
                      <a:endParaRPr lang="en-US" sz="10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B1F3D"/>
                    </a:solidFill>
                  </a:tcPr>
                </a:tc>
              </a:tr>
              <a:tr h="411480">
                <a:tc>
                  <a:txBody>
                    <a:bodyPr/>
                    <a:lstStyle/>
                    <a:p>
                      <a:pPr algn="l" indent="0" marL="0">
                        <a:buNone/>
                      </a:pPr>
                      <a:r>
                        <a:rPr lang="en-US" sz="1200" b="1" dirty="0">
                          <a:solidFill>
                            <a:srgbClr val="1F1B2B"/>
                          </a:solidFill>
                        </a:rPr>
                        <a:t>Matrix factorization</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c>
                  <a:txBody>
                    <a:bodyPr/>
                    <a:lstStyle/>
                    <a:p>
                      <a:pPr algn="ctr" indent="0" marL="0">
                        <a:buNone/>
                      </a:pPr>
                      <a:r>
                        <a:rPr lang="en-US" sz="1200" dirty="0">
                          <a:solidFill>
                            <a:srgbClr val="1F1B2B"/>
                          </a:solidFill>
                        </a:rPr>
                        <a:t>0.026</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c>
                  <a:txBody>
                    <a:bodyPr/>
                    <a:lstStyle/>
                    <a:p>
                      <a:pPr algn="ctr" indent="0" marL="0">
                        <a:buNone/>
                      </a:pPr>
                      <a:r>
                        <a:rPr lang="en-US" sz="1200" dirty="0">
                          <a:solidFill>
                            <a:srgbClr val="1F1B2B"/>
                          </a:solidFill>
                        </a:rPr>
                        <a:t>0.027</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c>
                  <a:txBody>
                    <a:bodyPr/>
                    <a:lstStyle/>
                    <a:p>
                      <a:pPr algn="ctr" indent="0" marL="0">
                        <a:buNone/>
                      </a:pPr>
                      <a:r>
                        <a:rPr lang="en-US" sz="1200" dirty="0">
                          <a:solidFill>
                            <a:srgbClr val="1F1B2B"/>
                          </a:solidFill>
                        </a:rPr>
                        <a:t>0.054</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c>
                  <a:txBody>
                    <a:bodyPr/>
                    <a:lstStyle/>
                    <a:p>
                      <a:pPr algn="ctr" indent="0" marL="0">
                        <a:buNone/>
                      </a:pPr>
                      <a:r>
                        <a:rPr lang="en-US" sz="1200" b="1" dirty="0">
                          <a:solidFill>
                            <a:srgbClr val="1F1B2B"/>
                          </a:solidFill>
                        </a:rPr>
                        <a:t>0.760</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BE9C6"/>
                    </a:solidFill>
                  </a:tcPr>
                </a:tc>
                <a:tc>
                  <a:txBody>
                    <a:bodyPr/>
                    <a:lstStyle/>
                    <a:p>
                      <a:pPr algn="ctr" indent="0" marL="0">
                        <a:buNone/>
                      </a:pPr>
                      <a:r>
                        <a:rPr lang="en-US" sz="1200" dirty="0">
                          <a:solidFill>
                            <a:srgbClr val="1F1B2B"/>
                          </a:solidFill>
                        </a:rPr>
                        <a:t>5.63</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c>
                  <a:txBody>
                    <a:bodyPr/>
                    <a:lstStyle/>
                    <a:p>
                      <a:pPr algn="ctr" indent="0" marL="0">
                        <a:buNone/>
                      </a:pPr>
                      <a:r>
                        <a:rPr lang="en-US" sz="1200" b="1" dirty="0">
                          <a:solidFill>
                            <a:srgbClr val="1F1B2B"/>
                          </a:solidFill>
                        </a:rPr>
                        <a:t>0.012</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BE9C6"/>
                    </a:solidFill>
                  </a:tcPr>
                </a:tc>
              </a:tr>
              <a:tr h="411480">
                <a:tc>
                  <a:txBody>
                    <a:bodyPr/>
                    <a:lstStyle/>
                    <a:p>
                      <a:pPr algn="l" indent="0" marL="0">
                        <a:buNone/>
                      </a:pPr>
                      <a:r>
                        <a:rPr lang="en-US" sz="1200" b="1" dirty="0">
                          <a:solidFill>
                            <a:srgbClr val="1F1B2B"/>
                          </a:solidFill>
                        </a:rPr>
                        <a:t>Content-based</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c>
                  <a:txBody>
                    <a:bodyPr/>
                    <a:lstStyle/>
                    <a:p>
                      <a:pPr algn="ctr" indent="0" marL="0">
                        <a:buNone/>
                      </a:pPr>
                      <a:r>
                        <a:rPr lang="en-US" sz="1200" dirty="0">
                          <a:solidFill>
                            <a:srgbClr val="1F1B2B"/>
                          </a:solidFill>
                        </a:rPr>
                        <a:t>0.011</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c>
                  <a:txBody>
                    <a:bodyPr/>
                    <a:lstStyle/>
                    <a:p>
                      <a:pPr algn="ctr" indent="0" marL="0">
                        <a:buNone/>
                      </a:pPr>
                      <a:r>
                        <a:rPr lang="en-US" sz="1200" dirty="0">
                          <a:solidFill>
                            <a:srgbClr val="1F1B2B"/>
                          </a:solidFill>
                        </a:rPr>
                        <a:t>0.016</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c>
                  <a:txBody>
                    <a:bodyPr/>
                    <a:lstStyle/>
                    <a:p>
                      <a:pPr algn="ctr" indent="0" marL="0">
                        <a:buNone/>
                      </a:pPr>
                      <a:r>
                        <a:rPr lang="en-US" sz="1200" b="1" dirty="0">
                          <a:solidFill>
                            <a:srgbClr val="1F1B2B"/>
                          </a:solidFill>
                        </a:rPr>
                        <a:t>0.116</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BE9C6"/>
                    </a:solidFill>
                  </a:tcPr>
                </a:tc>
                <a:tc>
                  <a:txBody>
                    <a:bodyPr/>
                    <a:lstStyle/>
                    <a:p>
                      <a:pPr algn="ctr" indent="0" marL="0">
                        <a:buNone/>
                      </a:pPr>
                      <a:r>
                        <a:rPr lang="en-US" sz="1200" dirty="0">
                          <a:solidFill>
                            <a:srgbClr val="1F1B2B"/>
                          </a:solidFill>
                        </a:rPr>
                        <a:t>0.126</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c>
                  <a:txBody>
                    <a:bodyPr/>
                    <a:lstStyle/>
                    <a:p>
                      <a:pPr algn="ctr" indent="0" marL="0">
                        <a:buNone/>
                      </a:pPr>
                      <a:r>
                        <a:rPr lang="en-US" sz="1200" b="1" dirty="0">
                          <a:solidFill>
                            <a:srgbClr val="1F1B2B"/>
                          </a:solidFill>
                        </a:rPr>
                        <a:t>6.25</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BE9C6"/>
                    </a:solidFill>
                  </a:tcPr>
                </a:tc>
                <a:tc>
                  <a:txBody>
                    <a:bodyPr/>
                    <a:lstStyle/>
                    <a:p>
                      <a:pPr algn="ctr" indent="0" marL="0">
                        <a:buNone/>
                      </a:pPr>
                      <a:r>
                        <a:rPr lang="en-US" sz="1200" dirty="0">
                          <a:solidFill>
                            <a:srgbClr val="1F1B2B"/>
                          </a:solidFill>
                        </a:rPr>
                        <a:t>0.011</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r>
              <a:tr h="411480">
                <a:tc>
                  <a:txBody>
                    <a:bodyPr/>
                    <a:lstStyle/>
                    <a:p>
                      <a:pPr algn="l" indent="0" marL="0">
                        <a:buNone/>
                      </a:pPr>
                      <a:r>
                        <a:rPr lang="en-US" sz="1200" b="1" dirty="0">
                          <a:solidFill>
                            <a:srgbClr val="1F1B2B"/>
                          </a:solidFill>
                        </a:rPr>
                        <a:t>Popularity baseline</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c>
                  <a:txBody>
                    <a:bodyPr/>
                    <a:lstStyle/>
                    <a:p>
                      <a:pPr algn="ctr" indent="0" marL="0">
                        <a:buNone/>
                      </a:pPr>
                      <a:r>
                        <a:rPr lang="en-US" sz="1200" b="1" dirty="0">
                          <a:solidFill>
                            <a:srgbClr val="1F1B2B"/>
                          </a:solidFill>
                        </a:rPr>
                        <a:t>0.057</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BE9C6"/>
                    </a:solidFill>
                  </a:tcPr>
                </a:tc>
                <a:tc>
                  <a:txBody>
                    <a:bodyPr/>
                    <a:lstStyle/>
                    <a:p>
                      <a:pPr algn="ctr" indent="0" marL="0">
                        <a:buNone/>
                      </a:pPr>
                      <a:r>
                        <a:rPr lang="en-US" sz="1200" b="1" dirty="0">
                          <a:solidFill>
                            <a:srgbClr val="1F1B2B"/>
                          </a:solidFill>
                        </a:rPr>
                        <a:t>0.072</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BE9C6"/>
                    </a:solidFill>
                  </a:tcPr>
                </a:tc>
                <a:tc>
                  <a:txBody>
                    <a:bodyPr/>
                    <a:lstStyle/>
                    <a:p>
                      <a:pPr algn="ctr" indent="0" marL="0">
                        <a:buNone/>
                      </a:pPr>
                      <a:r>
                        <a:rPr lang="en-US" sz="1200" dirty="0">
                          <a:solidFill>
                            <a:srgbClr val="1F1B2B"/>
                          </a:solidFill>
                        </a:rPr>
                        <a:t>0.010</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c>
                  <a:txBody>
                    <a:bodyPr/>
                    <a:lstStyle/>
                    <a:p>
                      <a:pPr algn="ctr" indent="0" marL="0">
                        <a:buNone/>
                      </a:pPr>
                      <a:r>
                        <a:rPr lang="en-US" sz="1200" dirty="0">
                          <a:solidFill>
                            <a:srgbClr val="1F1B2B"/>
                          </a:solidFill>
                        </a:rPr>
                        <a:t>0.735</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c>
                  <a:txBody>
                    <a:bodyPr/>
                    <a:lstStyle/>
                    <a:p>
                      <a:pPr algn="ctr" indent="0" marL="0">
                        <a:buNone/>
                      </a:pPr>
                      <a:r>
                        <a:rPr lang="en-US" sz="1200" dirty="0">
                          <a:solidFill>
                            <a:srgbClr val="1F1B2B"/>
                          </a:solidFill>
                        </a:rPr>
                        <a:t>1.52</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c>
                  <a:txBody>
                    <a:bodyPr/>
                    <a:lstStyle/>
                    <a:p>
                      <a:pPr algn="ctr" indent="0" marL="0">
                        <a:buNone/>
                      </a:pPr>
                      <a:r>
                        <a:rPr lang="en-US" sz="1200" dirty="0">
                          <a:solidFill>
                            <a:srgbClr val="1F1B2B"/>
                          </a:solidFill>
                        </a:rPr>
                        <a:t>0.000</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r>
            </a:tbl>
          </a:graphicData>
        </a:graphic>
      </p:graphicFrame>
      <p:sp>
        <p:nvSpPr>
          <p:cNvPr id="7" name="Table note"/>
          <p:cNvSpPr txBox="1"/>
          <p:nvPr/>
        </p:nvSpPr>
        <p:spPr>
          <a:xfrm>
            <a:off x="457200" y="3090672"/>
            <a:ext cx="8229600" cy="365760"/>
          </a:xfrm>
          <a:prstGeom prst="rect">
            <a:avLst/>
          </a:prstGeom>
          <a:noFill/>
          <a:ln/>
        </p:spPr>
        <p:txBody>
          <a:bodyPr wrap="square" lIns="0" tIns="0" rIns="0" bIns="0" rtlCol="0" anchor="t"/>
          <a:lstStyle/>
          <a:p>
            <a:pPr indent="0" marL="0">
              <a:buNone/>
            </a:pPr>
            <a:r>
              <a:rPr lang="en-US" sz="1000" dirty="0">
                <a:solidFill>
                  <a:srgbClr val="4A4458"/>
                </a:solidFill>
              </a:rPr>
              <a:t>Best value per column highlighted. Coverage = share of the catalog recommended to anyone; diversity = 1 − mean cosine similarity within a list; novelty in bits (−log₂ popularity).</a:t>
            </a:r>
            <a:endParaRPr lang="en-US" sz="1000" dirty="0"/>
          </a:p>
        </p:txBody>
      </p:sp>
      <p:sp>
        <p:nvSpPr>
          <p:cNvPr id="8" name="Insight card 1"/>
          <p:cNvSpPr/>
          <p:nvPr/>
        </p:nvSpPr>
        <p:spPr>
          <a:xfrm>
            <a:off x="457200" y="3566160"/>
            <a:ext cx="2651760" cy="1069848"/>
          </a:xfrm>
          <a:prstGeom prst="roundRect">
            <a:avLst>
              <a:gd name="adj" fmla="val 6838"/>
            </a:avLst>
          </a:prstGeom>
          <a:solidFill>
            <a:schemeClr val="bg1"/>
          </a:solidFill>
          <a:ln w="9525">
            <a:solidFill>
              <a:srgbClr val="E4DCCB"/>
            </a:solidFill>
            <a:prstDash val="solid"/>
          </a:ln>
        </p:spPr>
      </p:sp>
      <p:sp>
        <p:nvSpPr>
          <p:cNvPr id="9" name="Model dot 1"/>
          <p:cNvSpPr/>
          <p:nvPr/>
        </p:nvSpPr>
        <p:spPr>
          <a:xfrm>
            <a:off x="594360" y="3657600"/>
            <a:ext cx="182880" cy="182880"/>
          </a:xfrm>
          <a:prstGeom prst="ellipse">
            <a:avLst/>
          </a:prstGeom>
          <a:solidFill>
            <a:srgbClr val="D1495B"/>
          </a:solidFill>
          <a:ln/>
        </p:spPr>
      </p:sp>
      <p:sp>
        <p:nvSpPr>
          <p:cNvPr id="10" name="Insight name 1"/>
          <p:cNvSpPr txBox="1"/>
          <p:nvPr/>
        </p:nvSpPr>
        <p:spPr>
          <a:xfrm>
            <a:off x="868680" y="3630168"/>
            <a:ext cx="2103120" cy="237744"/>
          </a:xfrm>
          <a:prstGeom prst="rect">
            <a:avLst/>
          </a:prstGeom>
          <a:noFill/>
          <a:ln/>
        </p:spPr>
        <p:txBody>
          <a:bodyPr wrap="square" lIns="0" tIns="0" rIns="0" bIns="0" rtlCol="0" anchor="ctr"/>
          <a:lstStyle/>
          <a:p>
            <a:pPr indent="0" marL="0">
              <a:buNone/>
            </a:pPr>
            <a:r>
              <a:rPr lang="en-US" sz="1300" b="1" dirty="0">
                <a:solidFill>
                  <a:schemeClr val="tx1"/>
                </a:solidFill>
              </a:rPr>
              <a:t>Popularity</a:t>
            </a:r>
            <a:endParaRPr lang="en-US" sz="1300" dirty="0"/>
          </a:p>
        </p:txBody>
      </p:sp>
      <p:sp>
        <p:nvSpPr>
          <p:cNvPr id="11" name="Insight text 1"/>
          <p:cNvSpPr txBox="1"/>
          <p:nvPr/>
        </p:nvSpPr>
        <p:spPr>
          <a:xfrm>
            <a:off x="594360" y="3913632"/>
            <a:ext cx="2423160" cy="685800"/>
          </a:xfrm>
          <a:prstGeom prst="rect">
            <a:avLst/>
          </a:prstGeom>
          <a:noFill/>
          <a:ln/>
        </p:spPr>
        <p:txBody>
          <a:bodyPr wrap="square" lIns="0" tIns="0" rIns="0" bIns="0" rtlCol="0" anchor="t"/>
          <a:lstStyle/>
          <a:p>
            <a:pPr indent="0" marL="0">
              <a:buNone/>
            </a:pPr>
            <a:r>
              <a:rPr lang="en-US" sz="1300" dirty="0">
                <a:solidFill>
                  <a:srgbClr val="4A4458"/>
                </a:solidFill>
              </a:rPr>
              <a:t>Most accurate, least varied: covers 1.0% of the catalog, novelty 1.5 bits.</a:t>
            </a:r>
            <a:endParaRPr lang="en-US" sz="1300" dirty="0"/>
          </a:p>
        </p:txBody>
      </p:sp>
      <p:sp>
        <p:nvSpPr>
          <p:cNvPr id="12" name="Insight card 2"/>
          <p:cNvSpPr/>
          <p:nvPr/>
        </p:nvSpPr>
        <p:spPr>
          <a:xfrm>
            <a:off x="3246120" y="3566160"/>
            <a:ext cx="2651760" cy="1069848"/>
          </a:xfrm>
          <a:prstGeom prst="roundRect">
            <a:avLst>
              <a:gd name="adj" fmla="val 6838"/>
            </a:avLst>
          </a:prstGeom>
          <a:solidFill>
            <a:schemeClr val="bg1"/>
          </a:solidFill>
          <a:ln w="9525">
            <a:solidFill>
              <a:srgbClr val="E4DCCB"/>
            </a:solidFill>
            <a:prstDash val="solid"/>
          </a:ln>
        </p:spPr>
      </p:sp>
      <p:sp>
        <p:nvSpPr>
          <p:cNvPr id="13" name="Model dot 2"/>
          <p:cNvSpPr/>
          <p:nvPr/>
        </p:nvSpPr>
        <p:spPr>
          <a:xfrm>
            <a:off x="3383280" y="3657600"/>
            <a:ext cx="182880" cy="182880"/>
          </a:xfrm>
          <a:prstGeom prst="ellipse">
            <a:avLst/>
          </a:prstGeom>
          <a:solidFill>
            <a:srgbClr val="E8A33D"/>
          </a:solidFill>
          <a:ln/>
        </p:spPr>
      </p:sp>
      <p:sp>
        <p:nvSpPr>
          <p:cNvPr id="14" name="Insight name 2"/>
          <p:cNvSpPr txBox="1"/>
          <p:nvPr/>
        </p:nvSpPr>
        <p:spPr>
          <a:xfrm>
            <a:off x="3657600" y="3630168"/>
            <a:ext cx="2103120" cy="237744"/>
          </a:xfrm>
          <a:prstGeom prst="rect">
            <a:avLst/>
          </a:prstGeom>
          <a:noFill/>
          <a:ln/>
        </p:spPr>
        <p:txBody>
          <a:bodyPr wrap="square" lIns="0" tIns="0" rIns="0" bIns="0" rtlCol="0" anchor="ctr"/>
          <a:lstStyle/>
          <a:p>
            <a:pPr indent="0" marL="0">
              <a:buNone/>
            </a:pPr>
            <a:r>
              <a:rPr lang="en-US" sz="1300" b="1" dirty="0">
                <a:solidFill>
                  <a:schemeClr val="tx1"/>
                </a:solidFill>
              </a:rPr>
              <a:t>Content-based</a:t>
            </a:r>
            <a:endParaRPr lang="en-US" sz="1300" dirty="0"/>
          </a:p>
        </p:txBody>
      </p:sp>
      <p:sp>
        <p:nvSpPr>
          <p:cNvPr id="15" name="Insight text 2"/>
          <p:cNvSpPr txBox="1"/>
          <p:nvPr/>
        </p:nvSpPr>
        <p:spPr>
          <a:xfrm>
            <a:off x="3383280" y="3913632"/>
            <a:ext cx="2423160" cy="685800"/>
          </a:xfrm>
          <a:prstGeom prst="rect">
            <a:avLst/>
          </a:prstGeom>
          <a:noFill/>
          <a:ln/>
        </p:spPr>
        <p:txBody>
          <a:bodyPr wrap="square" lIns="0" tIns="0" rIns="0" bIns="0" rtlCol="0" anchor="t"/>
          <a:lstStyle/>
          <a:p>
            <a:pPr indent="0" marL="0">
              <a:buNone/>
            </a:pPr>
            <a:r>
              <a:rPr lang="en-US" sz="1300" dirty="0">
                <a:solidFill>
                  <a:srgbClr val="4A4458"/>
                </a:solidFill>
              </a:rPr>
              <a:t>Widest reach (11.6% coverage) but near-duplicate lists: diversity 0.13.</a:t>
            </a:r>
            <a:endParaRPr lang="en-US" sz="1300" dirty="0"/>
          </a:p>
        </p:txBody>
      </p:sp>
      <p:sp>
        <p:nvSpPr>
          <p:cNvPr id="16" name="Insight card 3"/>
          <p:cNvSpPr/>
          <p:nvPr/>
        </p:nvSpPr>
        <p:spPr>
          <a:xfrm>
            <a:off x="6035040" y="3566160"/>
            <a:ext cx="2651760" cy="1069848"/>
          </a:xfrm>
          <a:prstGeom prst="roundRect">
            <a:avLst>
              <a:gd name="adj" fmla="val 6838"/>
            </a:avLst>
          </a:prstGeom>
          <a:solidFill>
            <a:schemeClr val="bg1"/>
          </a:solidFill>
          <a:ln w="9525">
            <a:solidFill>
              <a:srgbClr val="E4DCCB"/>
            </a:solidFill>
            <a:prstDash val="solid"/>
          </a:ln>
        </p:spPr>
      </p:sp>
      <p:sp>
        <p:nvSpPr>
          <p:cNvPr id="17" name="Model dot 3"/>
          <p:cNvSpPr/>
          <p:nvPr/>
        </p:nvSpPr>
        <p:spPr>
          <a:xfrm>
            <a:off x="6172200" y="3657600"/>
            <a:ext cx="182880" cy="182880"/>
          </a:xfrm>
          <a:prstGeom prst="ellipse">
            <a:avLst/>
          </a:prstGeom>
          <a:solidFill>
            <a:srgbClr val="2A7F8E"/>
          </a:solidFill>
          <a:ln/>
        </p:spPr>
      </p:sp>
      <p:sp>
        <p:nvSpPr>
          <p:cNvPr id="18" name="Insight name 3"/>
          <p:cNvSpPr txBox="1"/>
          <p:nvPr/>
        </p:nvSpPr>
        <p:spPr>
          <a:xfrm>
            <a:off x="6446520" y="3630168"/>
            <a:ext cx="2103120" cy="237744"/>
          </a:xfrm>
          <a:prstGeom prst="rect">
            <a:avLst/>
          </a:prstGeom>
          <a:noFill/>
          <a:ln/>
        </p:spPr>
        <p:txBody>
          <a:bodyPr wrap="square" lIns="0" tIns="0" rIns="0" bIns="0" rtlCol="0" anchor="ctr"/>
          <a:lstStyle/>
          <a:p>
            <a:pPr indent="0" marL="0">
              <a:buNone/>
            </a:pPr>
            <a:r>
              <a:rPr lang="en-US" sz="1300" b="1" dirty="0">
                <a:solidFill>
                  <a:schemeClr val="tx1"/>
                </a:solidFill>
              </a:rPr>
              <a:t>Matrix factorization</a:t>
            </a:r>
            <a:endParaRPr lang="en-US" sz="1300" dirty="0"/>
          </a:p>
        </p:txBody>
      </p:sp>
      <p:sp>
        <p:nvSpPr>
          <p:cNvPr id="19" name="Insight text 3"/>
          <p:cNvSpPr txBox="1"/>
          <p:nvPr/>
        </p:nvSpPr>
        <p:spPr>
          <a:xfrm>
            <a:off x="6172200" y="3913632"/>
            <a:ext cx="2423160" cy="685800"/>
          </a:xfrm>
          <a:prstGeom prst="rect">
            <a:avLst/>
          </a:prstGeom>
          <a:noFill/>
          <a:ln/>
        </p:spPr>
        <p:txBody>
          <a:bodyPr wrap="square" lIns="0" tIns="0" rIns="0" bIns="0" rtlCol="0" anchor="t"/>
          <a:lstStyle/>
          <a:p>
            <a:pPr indent="0" marL="0">
              <a:buNone/>
            </a:pPr>
            <a:r>
              <a:rPr lang="en-US" sz="1300" dirty="0">
                <a:solidFill>
                  <a:srgbClr val="4A4458"/>
                </a:solidFill>
              </a:rPr>
              <a:t>Balanced: diversity 0.76, novelty 5.6 bits, 5.4% coverage.</a:t>
            </a:r>
            <a:endParaRPr lang="en-US" sz="13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Section pill"/>
          <p:cNvSpPr/>
          <p:nvPr/>
        </p:nvSpPr>
        <p:spPr>
          <a:xfrm>
            <a:off x="457200" y="228600"/>
            <a:ext cx="1581912" cy="237744"/>
          </a:xfrm>
          <a:prstGeom prst="roundRect">
            <a:avLst>
              <a:gd name="adj" fmla="val 50000"/>
            </a:avLst>
          </a:prstGeom>
          <a:solidFill>
            <a:schemeClr val="accent2"/>
          </a:solidFill>
          <a:ln/>
        </p:spPr>
      </p:sp>
      <p:sp>
        <p:nvSpPr>
          <p:cNvPr id="4" name="Section pill text"/>
          <p:cNvSpPr txBox="1"/>
          <p:nvPr/>
        </p:nvSpPr>
        <p:spPr>
          <a:xfrm>
            <a:off x="457200" y="228600"/>
            <a:ext cx="1581912" cy="237744"/>
          </a:xfrm>
          <a:prstGeom prst="rect">
            <a:avLst/>
          </a:prstGeom>
          <a:noFill/>
          <a:ln/>
        </p:spPr>
        <p:txBody>
          <a:bodyPr wrap="square" lIns="0" tIns="0" rIns="0" bIns="0" rtlCol="0" anchor="ctr"/>
          <a:lstStyle/>
          <a:p>
            <a:pPr algn="ctr" indent="0" marL="0">
              <a:buNone/>
            </a:pPr>
            <a:r>
              <a:rPr lang="en-US" sz="1000" b="1" dirty="0">
                <a:solidFill>
                  <a:schemeClr val="tx1"/>
                </a:solidFill>
              </a:rPr>
              <a:t>PHASE 6 · NEW USER</a:t>
            </a:r>
            <a:endParaRPr lang="en-US" sz="1000" dirty="0"/>
          </a:p>
        </p:txBody>
      </p:sp>
      <p:sp>
        <p:nvSpPr>
          <p:cNvPr id="5" name="Text 0"/>
          <p:cNvSpPr/>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New users: popularity beats both personalised models</a:t>
            </a:r>
            <a:endParaRPr lang="en-US" sz="2400" dirty="0"/>
          </a:p>
        </p:txBody>
      </p:sp>
      <p:sp>
        <p:nvSpPr>
          <p:cNvPr id="6" name="Chart card"/>
          <p:cNvSpPr/>
          <p:nvPr/>
        </p:nvSpPr>
        <p:spPr>
          <a:xfrm>
            <a:off x="457200" y="1325880"/>
            <a:ext cx="5577840" cy="3291840"/>
          </a:xfrm>
          <a:prstGeom prst="roundRect">
            <a:avLst>
              <a:gd name="adj" fmla="val 2222"/>
            </a:avLst>
          </a:prstGeom>
          <a:solidFill>
            <a:schemeClr val="bg1"/>
          </a:solidFill>
          <a:ln w="9525">
            <a:solidFill>
              <a:srgbClr val="E4DCCB"/>
            </a:solidFill>
            <a:prstDash val="solid"/>
          </a:ln>
        </p:spPr>
      </p:sp>
      <p:graphicFrame>
        <p:nvGraphicFramePr>
          <p:cNvPr id="7" name="Cold user chart" descr=""/>
          <p:cNvGraphicFramePr/>
          <p:nvPr/>
        </p:nvGraphicFramePr>
        <p:xfrm>
          <a:off x="502920" y="1371600"/>
          <a:ext cx="5486400" cy="3200400"/>
        </p:xfrm>
        <a:graphic xmlns:a="http://schemas.openxmlformats.org/drawingml/2006/main">
          <a:graphicData uri="http://schemas.openxmlformats.org/drawingml/2006/chart">
            <c:chart xmlns:c="http://schemas.openxmlformats.org/drawingml/2006/chart" r:id="rId1"/>
          </a:graphicData>
        </a:graphic>
      </p:graphicFrame>
      <p:sp>
        <p:nvSpPr>
          <p:cNvPr id="8" name="Stat Popularity at any history length"/>
          <p:cNvSpPr txBox="1"/>
          <p:nvPr/>
        </p:nvSpPr>
        <p:spPr>
          <a:xfrm>
            <a:off x="6263640" y="1325880"/>
            <a:ext cx="2423160" cy="457200"/>
          </a:xfrm>
          <a:prstGeom prst="rect">
            <a:avLst/>
          </a:prstGeom>
          <a:noFill/>
          <a:ln/>
        </p:spPr>
        <p:txBody>
          <a:bodyPr wrap="square" lIns="0" tIns="0" rIns="0" bIns="0" rtlCol="0" anchor="ctr"/>
          <a:lstStyle/>
          <a:p>
            <a:pPr algn="l" indent="0" marL="0">
              <a:buNone/>
            </a:pPr>
            <a:r>
              <a:rPr lang="en-US" sz="3000" b="1" dirty="0">
                <a:solidFill>
                  <a:schemeClr val="accent3"/>
                </a:solidFill>
                <a:latin typeface="+mj-lt" pitchFamily="34" charset="0"/>
                <a:ea typeface="+mj-lt" pitchFamily="34" charset="-122"/>
                <a:cs typeface="+mj-lt" pitchFamily="34" charset="-120"/>
              </a:rPr>
              <a:t>0.068</a:t>
            </a:r>
            <a:endParaRPr lang="en-US" sz="3000" dirty="0"/>
          </a:p>
        </p:txBody>
      </p:sp>
      <p:sp>
        <p:nvSpPr>
          <p:cNvPr id="9" name="Stat label Popularity at any history length"/>
          <p:cNvSpPr txBox="1"/>
          <p:nvPr/>
        </p:nvSpPr>
        <p:spPr>
          <a:xfrm>
            <a:off x="6263640" y="1783080"/>
            <a:ext cx="2423160" cy="457200"/>
          </a:xfrm>
          <a:prstGeom prst="rect">
            <a:avLst/>
          </a:prstGeom>
          <a:noFill/>
          <a:ln/>
        </p:spPr>
        <p:txBody>
          <a:bodyPr wrap="square" lIns="0" tIns="0" rIns="0" bIns="0" rtlCol="0" anchor="t"/>
          <a:lstStyle/>
          <a:p>
            <a:pPr algn="l" indent="0" marL="0">
              <a:buNone/>
            </a:pPr>
            <a:r>
              <a:rPr lang="en-US" sz="1200" dirty="0">
                <a:solidFill>
                  <a:schemeClr val="tx1"/>
                </a:solidFill>
              </a:rPr>
              <a:t>Popularity at any history length</a:t>
            </a:r>
            <a:endParaRPr lang="en-US" sz="1200" dirty="0"/>
          </a:p>
        </p:txBody>
      </p:sp>
      <p:sp>
        <p:nvSpPr>
          <p:cNvPr id="10" name="Stat MF even with full history"/>
          <p:cNvSpPr txBox="1"/>
          <p:nvPr/>
        </p:nvSpPr>
        <p:spPr>
          <a:xfrm>
            <a:off x="6263640" y="2423160"/>
            <a:ext cx="2423160" cy="457200"/>
          </a:xfrm>
          <a:prstGeom prst="rect">
            <a:avLst/>
          </a:prstGeom>
          <a:noFill/>
          <a:ln/>
        </p:spPr>
        <p:txBody>
          <a:bodyPr wrap="square" lIns="0" tIns="0" rIns="0" bIns="0" rtlCol="0" anchor="ctr"/>
          <a:lstStyle/>
          <a:p>
            <a:pPr algn="l" indent="0" marL="0">
              <a:buNone/>
            </a:pPr>
            <a:r>
              <a:rPr lang="en-US" sz="3000" b="1" dirty="0">
                <a:solidFill>
                  <a:schemeClr val="accent1"/>
                </a:solidFill>
                <a:latin typeface="+mj-lt" pitchFamily="34" charset="0"/>
                <a:ea typeface="+mj-lt" pitchFamily="34" charset="-122"/>
                <a:cs typeface="+mj-lt" pitchFamily="34" charset="-120"/>
              </a:rPr>
              <a:t>0.043</a:t>
            </a:r>
            <a:endParaRPr lang="en-US" sz="3000" dirty="0"/>
          </a:p>
        </p:txBody>
      </p:sp>
      <p:sp>
        <p:nvSpPr>
          <p:cNvPr id="11" name="Stat label MF even with full history"/>
          <p:cNvSpPr txBox="1"/>
          <p:nvPr/>
        </p:nvSpPr>
        <p:spPr>
          <a:xfrm>
            <a:off x="6263640" y="2880360"/>
            <a:ext cx="2423160" cy="457200"/>
          </a:xfrm>
          <a:prstGeom prst="rect">
            <a:avLst/>
          </a:prstGeom>
          <a:noFill/>
          <a:ln/>
        </p:spPr>
        <p:txBody>
          <a:bodyPr wrap="square" lIns="0" tIns="0" rIns="0" bIns="0" rtlCol="0" anchor="t"/>
          <a:lstStyle/>
          <a:p>
            <a:pPr algn="l" indent="0" marL="0">
              <a:buNone/>
            </a:pPr>
            <a:r>
              <a:rPr lang="en-US" sz="1200" dirty="0">
                <a:solidFill>
                  <a:schemeClr val="tx1"/>
                </a:solidFill>
              </a:rPr>
              <a:t>MF even with full history</a:t>
            </a:r>
            <a:endParaRPr lang="en-US" sz="1200" dirty="0"/>
          </a:p>
        </p:txBody>
      </p:sp>
      <p:sp>
        <p:nvSpPr>
          <p:cNvPr id="12" name="Stat Content-based, best case"/>
          <p:cNvSpPr txBox="1"/>
          <p:nvPr/>
        </p:nvSpPr>
        <p:spPr>
          <a:xfrm>
            <a:off x="6263640" y="3520440"/>
            <a:ext cx="2423160" cy="457200"/>
          </a:xfrm>
          <a:prstGeom prst="rect">
            <a:avLst/>
          </a:prstGeom>
          <a:noFill/>
          <a:ln/>
        </p:spPr>
        <p:txBody>
          <a:bodyPr wrap="square" lIns="0" tIns="0" rIns="0" bIns="0" rtlCol="0" anchor="ctr"/>
          <a:lstStyle/>
          <a:p>
            <a:pPr algn="l" indent="0" marL="0">
              <a:buNone/>
            </a:pPr>
            <a:r>
              <a:rPr lang="en-US" sz="3000" b="1" dirty="0">
                <a:solidFill>
                  <a:schemeClr val="accent2"/>
                </a:solidFill>
                <a:latin typeface="+mj-lt" pitchFamily="34" charset="0"/>
                <a:ea typeface="+mj-lt" pitchFamily="34" charset="-122"/>
                <a:cs typeface="+mj-lt" pitchFamily="34" charset="-120"/>
              </a:rPr>
              <a:t>0.017</a:t>
            </a:r>
            <a:endParaRPr lang="en-US" sz="3000" dirty="0"/>
          </a:p>
        </p:txBody>
      </p:sp>
      <p:sp>
        <p:nvSpPr>
          <p:cNvPr id="13" name="Stat label Content-based, best case"/>
          <p:cNvSpPr txBox="1"/>
          <p:nvPr/>
        </p:nvSpPr>
        <p:spPr>
          <a:xfrm>
            <a:off x="6263640" y="3977640"/>
            <a:ext cx="2423160" cy="457200"/>
          </a:xfrm>
          <a:prstGeom prst="rect">
            <a:avLst/>
          </a:prstGeom>
          <a:noFill/>
          <a:ln/>
        </p:spPr>
        <p:txBody>
          <a:bodyPr wrap="square" lIns="0" tIns="0" rIns="0" bIns="0" rtlCol="0" anchor="t"/>
          <a:lstStyle/>
          <a:p>
            <a:pPr algn="l" indent="0" marL="0">
              <a:buNone/>
            </a:pPr>
            <a:r>
              <a:rPr lang="en-US" sz="1200" dirty="0">
                <a:solidFill>
                  <a:schemeClr val="tx1"/>
                </a:solidFill>
              </a:rPr>
              <a:t>Content-based, best case</a:t>
            </a:r>
            <a:endParaRPr lang="en-US" sz="12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Section pill"/>
          <p:cNvSpPr/>
          <p:nvPr/>
        </p:nvSpPr>
        <p:spPr>
          <a:xfrm>
            <a:off x="457200" y="228600"/>
            <a:ext cx="2592324" cy="237744"/>
          </a:xfrm>
          <a:prstGeom prst="roundRect">
            <a:avLst>
              <a:gd name="adj" fmla="val 50000"/>
            </a:avLst>
          </a:prstGeom>
          <a:solidFill>
            <a:schemeClr val="accent2"/>
          </a:solidFill>
          <a:ln/>
        </p:spPr>
      </p:sp>
      <p:sp>
        <p:nvSpPr>
          <p:cNvPr id="4" name="Section pill text"/>
          <p:cNvSpPr txBox="1"/>
          <p:nvPr/>
        </p:nvSpPr>
        <p:spPr>
          <a:xfrm>
            <a:off x="457200" y="228600"/>
            <a:ext cx="2592324" cy="237744"/>
          </a:xfrm>
          <a:prstGeom prst="rect">
            <a:avLst/>
          </a:prstGeom>
          <a:noFill/>
          <a:ln/>
        </p:spPr>
        <p:txBody>
          <a:bodyPr wrap="square" lIns="0" tIns="0" rIns="0" bIns="0" rtlCol="0" anchor="ctr"/>
          <a:lstStyle/>
          <a:p>
            <a:pPr algn="ctr" indent="0" marL="0">
              <a:buNone/>
            </a:pPr>
            <a:r>
              <a:rPr lang="en-US" sz="1000" b="1" dirty="0">
                <a:solidFill>
                  <a:schemeClr val="tx1"/>
                </a:solidFill>
              </a:rPr>
              <a:t>PHASE 6 · NEW ITEM · NEW SYSTEM</a:t>
            </a:r>
            <a:endParaRPr lang="en-US" sz="1000" dirty="0"/>
          </a:p>
        </p:txBody>
      </p:sp>
      <p:sp>
        <p:nvSpPr>
          <p:cNvPr id="5" name="Text 0"/>
          <p:cNvSpPr/>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New items and new systems need other signals</a:t>
            </a:r>
            <a:endParaRPr lang="en-US" sz="2400" dirty="0"/>
          </a:p>
        </p:txBody>
      </p:sp>
      <p:sp>
        <p:nvSpPr>
          <p:cNvPr id="6" name="New item card"/>
          <p:cNvSpPr/>
          <p:nvPr/>
        </p:nvSpPr>
        <p:spPr>
          <a:xfrm>
            <a:off x="457200" y="1325880"/>
            <a:ext cx="4023360" cy="2697480"/>
          </a:xfrm>
          <a:prstGeom prst="roundRect">
            <a:avLst>
              <a:gd name="adj" fmla="val 2712"/>
            </a:avLst>
          </a:prstGeom>
          <a:solidFill>
            <a:schemeClr val="bg1"/>
          </a:solidFill>
          <a:ln w="9525">
            <a:solidFill>
              <a:srgbClr val="E4DCCB"/>
            </a:solidFill>
            <a:prstDash val="solid"/>
          </a:ln>
        </p:spPr>
      </p:sp>
      <p:sp>
        <p:nvSpPr>
          <p:cNvPr id="7" name="New item heading"/>
          <p:cNvSpPr txBox="1"/>
          <p:nvPr/>
        </p:nvSpPr>
        <p:spPr>
          <a:xfrm>
            <a:off x="594360" y="1417320"/>
            <a:ext cx="3749040" cy="274320"/>
          </a:xfrm>
          <a:prstGeom prst="rect">
            <a:avLst/>
          </a:prstGeom>
          <a:noFill/>
          <a:ln/>
        </p:spPr>
        <p:txBody>
          <a:bodyPr wrap="square" lIns="0" tIns="0" rIns="0" bIns="0" rtlCol="0" anchor="t"/>
          <a:lstStyle/>
          <a:p>
            <a:pPr indent="0" marL="0">
              <a:buNone/>
            </a:pPr>
            <a:r>
              <a:rPr lang="en-US" sz="1400" b="1" dirty="0">
                <a:solidFill>
                  <a:schemeClr val="tx1"/>
                </a:solidFill>
              </a:rPr>
              <a:t>New item: a movie with zero ratings</a:t>
            </a:r>
            <a:endParaRPr lang="en-US" sz="1400" dirty="0"/>
          </a:p>
        </p:txBody>
      </p:sp>
      <p:sp>
        <p:nvSpPr>
          <p:cNvPr id="8" name="New item text"/>
          <p:cNvSpPr txBox="1"/>
          <p:nvPr/>
        </p:nvSpPr>
        <p:spPr>
          <a:xfrm>
            <a:off x="594360" y="1755648"/>
            <a:ext cx="3749040" cy="2194560"/>
          </a:xfrm>
          <a:prstGeom prst="rect">
            <a:avLst/>
          </a:prstGeom>
          <a:noFill/>
          <a:ln/>
        </p:spPr>
        <p:txBody>
          <a:bodyPr wrap="square" lIns="0" tIns="0" rIns="0" bIns="0" rtlCol="0" anchor="t"/>
          <a:lstStyle/>
          <a:p>
            <a:pPr indent="0" marL="0">
              <a:buNone/>
            </a:pPr>
            <a:r>
              <a:rPr lang="en-US" sz="1400" b="1" dirty="0">
                <a:solidFill>
                  <a:schemeClr val="accent1"/>
                </a:solidFill>
              </a:rPr>
              <a:t>Matrix factorization</a:t>
            </a:r>
            <a:endParaRPr lang="en-US" sz="1400" dirty="0"/>
          </a:p>
          <a:p>
            <a:pPr indent="0" marL="0">
              <a:buNone/>
            </a:pPr>
            <a:r>
              <a:rPr lang="en-US" sz="1400" dirty="0">
                <a:solidFill>
                  <a:schemeClr val="tx1"/>
                </a:solidFill>
              </a:rPr>
              <a:t>no item vector to look up, so it cannot be scored. 1,503 catalog movies have no training ratings and never reach a top 10.</a:t>
            </a:r>
            <a:endParaRPr lang="en-US" sz="1400" dirty="0"/>
          </a:p>
          <a:p>
            <a:pPr indent="0" marL="0">
              <a:buNone/>
            </a:pPr>
            <a:r>
              <a:rPr lang="en-US" sz="600" dirty="0">
                <a:solidFill>
                  <a:schemeClr val="tx1"/>
                </a:solidFill>
              </a:rPr>
              <a:t> </a:t>
            </a:r>
            <a:endParaRPr lang="en-US" sz="1400" dirty="0"/>
          </a:p>
          <a:p>
            <a:pPr indent="0" marL="0">
              <a:buNone/>
            </a:pPr>
            <a:r>
              <a:rPr lang="en-US" sz="1400" b="1" dirty="0">
                <a:solidFill>
                  <a:schemeClr val="accent2"/>
                </a:solidFill>
              </a:rPr>
              <a:t>Content-based</a:t>
            </a:r>
            <a:endParaRPr lang="en-US" sz="1400" dirty="0"/>
          </a:p>
          <a:p>
            <a:pPr indent="0" marL="0">
              <a:buNone/>
            </a:pPr>
            <a:r>
              <a:rPr lang="en-US" sz="1400" dirty="0">
                <a:solidFill>
                  <a:schemeClr val="tx1"/>
                </a:solidFill>
              </a:rPr>
              <a:t>scored from genres and decade at day one, but coarse: median rank 5,897 of 9,742, best rank 68.</a:t>
            </a:r>
            <a:endParaRPr lang="en-US" sz="1400" dirty="0"/>
          </a:p>
        </p:txBody>
      </p:sp>
      <p:sp>
        <p:nvSpPr>
          <p:cNvPr id="9" name="New system chart card"/>
          <p:cNvSpPr/>
          <p:nvPr/>
        </p:nvSpPr>
        <p:spPr>
          <a:xfrm>
            <a:off x="4663440" y="1325880"/>
            <a:ext cx="4023360" cy="2697480"/>
          </a:xfrm>
          <a:prstGeom prst="roundRect">
            <a:avLst>
              <a:gd name="adj" fmla="val 2712"/>
            </a:avLst>
          </a:prstGeom>
          <a:solidFill>
            <a:schemeClr val="bg1"/>
          </a:solidFill>
          <a:ln w="9525">
            <a:solidFill>
              <a:srgbClr val="E4DCCB"/>
            </a:solidFill>
            <a:prstDash val="solid"/>
          </a:ln>
        </p:spPr>
      </p:sp>
      <p:graphicFrame>
        <p:nvGraphicFramePr>
          <p:cNvPr id="10" name="New system chart" descr=""/>
          <p:cNvGraphicFramePr/>
          <p:nvPr/>
        </p:nvGraphicFramePr>
        <p:xfrm>
          <a:off x="4681728" y="1371600"/>
          <a:ext cx="3986784" cy="2606040"/>
        </p:xfrm>
        <a:graphic xmlns:a="http://schemas.openxmlformats.org/drawingml/2006/main">
          <a:graphicData uri="http://schemas.openxmlformats.org/drawingml/2006/chart">
            <c:chart xmlns:c="http://schemas.openxmlformats.org/drawingml/2006/chart" r:id="rId1"/>
          </a:graphicData>
        </a:graphic>
      </p:graphicFrame>
      <p:sp>
        <p:nvSpPr>
          <p:cNvPr id="11" name="Mitigation strip"/>
          <p:cNvSpPr/>
          <p:nvPr/>
        </p:nvSpPr>
        <p:spPr>
          <a:xfrm>
            <a:off x="457200" y="4133088"/>
            <a:ext cx="8229600" cy="548640"/>
          </a:xfrm>
          <a:prstGeom prst="roundRect">
            <a:avLst>
              <a:gd name="adj" fmla="val 13333"/>
            </a:avLst>
          </a:prstGeom>
          <a:solidFill>
            <a:srgbClr val="3B2D54"/>
          </a:solidFill>
          <a:ln/>
        </p:spPr>
      </p:sp>
      <p:sp>
        <p:nvSpPr>
          <p:cNvPr id="12" name="Mitigation text"/>
          <p:cNvSpPr txBox="1"/>
          <p:nvPr/>
        </p:nvSpPr>
        <p:spPr>
          <a:xfrm>
            <a:off x="640080" y="4133088"/>
            <a:ext cx="7863840" cy="548640"/>
          </a:xfrm>
          <a:prstGeom prst="rect">
            <a:avLst/>
          </a:prstGeom>
          <a:noFill/>
          <a:ln/>
        </p:spPr>
        <p:txBody>
          <a:bodyPr wrap="square" lIns="0" tIns="0" rIns="0" bIns="0" rtlCol="0" anchor="ctr"/>
          <a:lstStyle/>
          <a:p>
            <a:pPr indent="0" marL="0">
              <a:buNone/>
            </a:pPr>
            <a:r>
              <a:rPr lang="en-US" sz="1300" b="1" dirty="0">
                <a:solidFill>
                  <a:schemeClr val="accent2"/>
                </a:solidFill>
              </a:rPr>
              <a:t>Mitigations: </a:t>
            </a:r>
            <a:pPr indent="0" marL="0">
              <a:buNone/>
            </a:pPr>
            <a:r>
              <a:rPr lang="en-US" sz="1300" dirty="0">
                <a:solidFill>
                  <a:schemeClr val="bg2"/>
                </a:solidFill>
              </a:rPr>
              <a:t>Onboarding questions  ·  Popularity fallback  ·  Content / metadata features  ·  Exploration slots</a:t>
            </a:r>
            <a:endParaRPr lang="en-US" sz="13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Section pill"/>
          <p:cNvSpPr/>
          <p:nvPr/>
        </p:nvSpPr>
        <p:spPr>
          <a:xfrm>
            <a:off x="457200" y="228600"/>
            <a:ext cx="1504188" cy="237744"/>
          </a:xfrm>
          <a:prstGeom prst="roundRect">
            <a:avLst>
              <a:gd name="adj" fmla="val 50000"/>
            </a:avLst>
          </a:prstGeom>
          <a:solidFill>
            <a:schemeClr val="accent2"/>
          </a:solidFill>
          <a:ln/>
        </p:spPr>
      </p:sp>
      <p:sp>
        <p:nvSpPr>
          <p:cNvPr id="4" name="Section pill text"/>
          <p:cNvSpPr txBox="1"/>
          <p:nvPr/>
        </p:nvSpPr>
        <p:spPr>
          <a:xfrm>
            <a:off x="457200" y="228600"/>
            <a:ext cx="1504188" cy="237744"/>
          </a:xfrm>
          <a:prstGeom prst="rect">
            <a:avLst/>
          </a:prstGeom>
          <a:noFill/>
          <a:ln/>
        </p:spPr>
        <p:txBody>
          <a:bodyPr wrap="square" lIns="0" tIns="0" rIns="0" bIns="0" rtlCol="0" anchor="ctr"/>
          <a:lstStyle/>
          <a:p>
            <a:pPr algn="ctr" indent="0" marL="0">
              <a:buNone/>
            </a:pPr>
            <a:r>
              <a:rPr lang="en-US" sz="1000" b="1" dirty="0">
                <a:solidFill>
                  <a:schemeClr val="tx1"/>
                </a:solidFill>
              </a:rPr>
              <a:t>PHASE 7 · HYBRIDS</a:t>
            </a:r>
            <a:endParaRPr lang="en-US" sz="1000" dirty="0"/>
          </a:p>
        </p:txBody>
      </p:sp>
      <p:sp>
        <p:nvSpPr>
          <p:cNvPr id="5" name="Text 0"/>
          <p:cNvSpPr/>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Blending content with MF beats either alone</a:t>
            </a:r>
            <a:endParaRPr lang="en-US" sz="2400" dirty="0"/>
          </a:p>
        </p:txBody>
      </p:sp>
      <p:sp>
        <p:nvSpPr>
          <p:cNvPr id="6" name="Alpha sweep card"/>
          <p:cNvSpPr/>
          <p:nvPr/>
        </p:nvSpPr>
        <p:spPr>
          <a:xfrm>
            <a:off x="457200" y="1325880"/>
            <a:ext cx="4846320" cy="3291840"/>
          </a:xfrm>
          <a:prstGeom prst="roundRect">
            <a:avLst>
              <a:gd name="adj" fmla="val 2222"/>
            </a:avLst>
          </a:prstGeom>
          <a:solidFill>
            <a:schemeClr val="bg1"/>
          </a:solidFill>
          <a:ln w="9525">
            <a:solidFill>
              <a:srgbClr val="E4DCCB"/>
            </a:solidFill>
            <a:prstDash val="solid"/>
          </a:ln>
        </p:spPr>
      </p:sp>
      <p:graphicFrame>
        <p:nvGraphicFramePr>
          <p:cNvPr id="7" name="Alpha sweep chart" descr=""/>
          <p:cNvGraphicFramePr/>
          <p:nvPr/>
        </p:nvGraphicFramePr>
        <p:xfrm>
          <a:off x="502920" y="1371600"/>
          <a:ext cx="4754880" cy="3200400"/>
        </p:xfrm>
        <a:graphic xmlns:a="http://schemas.openxmlformats.org/drawingml/2006/main">
          <a:graphicData uri="http://schemas.openxmlformats.org/drawingml/2006/chart">
            <c:chart xmlns:c="http://schemas.openxmlformats.org/drawingml/2006/chart" r:id="rId1"/>
          </a:graphicData>
        </a:graphic>
      </p:graphicFrame>
      <p:sp>
        <p:nvSpPr>
          <p:cNvPr id="8" name="Hybrid card 1"/>
          <p:cNvSpPr/>
          <p:nvPr/>
        </p:nvSpPr>
        <p:spPr>
          <a:xfrm>
            <a:off x="5486400" y="1325880"/>
            <a:ext cx="3200400" cy="1024128"/>
          </a:xfrm>
          <a:prstGeom prst="roundRect">
            <a:avLst>
              <a:gd name="adj" fmla="val 7143"/>
            </a:avLst>
          </a:prstGeom>
          <a:solidFill>
            <a:schemeClr val="bg1"/>
          </a:solidFill>
          <a:ln w="9525">
            <a:solidFill>
              <a:srgbClr val="E4DCCB"/>
            </a:solidFill>
            <a:prstDash val="solid"/>
          </a:ln>
        </p:spPr>
      </p:sp>
      <p:sp>
        <p:nvSpPr>
          <p:cNvPr id="9" name="Hybrid name 1"/>
          <p:cNvSpPr txBox="1"/>
          <p:nvPr/>
        </p:nvSpPr>
        <p:spPr>
          <a:xfrm>
            <a:off x="5623560" y="1389888"/>
            <a:ext cx="2926080" cy="256032"/>
          </a:xfrm>
          <a:prstGeom prst="rect">
            <a:avLst/>
          </a:prstGeom>
          <a:noFill/>
          <a:ln/>
        </p:spPr>
        <p:txBody>
          <a:bodyPr wrap="square" lIns="0" tIns="0" rIns="0" bIns="0" rtlCol="0" anchor="t"/>
          <a:lstStyle/>
          <a:p>
            <a:pPr indent="0" marL="0">
              <a:buNone/>
            </a:pPr>
            <a:r>
              <a:rPr lang="en-US" sz="1400" b="1" dirty="0">
                <a:solidFill>
                  <a:schemeClr val="accent4"/>
                </a:solidFill>
              </a:rPr>
              <a:t>Weighted hybrid</a:t>
            </a:r>
            <a:endParaRPr lang="en-US" sz="1400" dirty="0"/>
          </a:p>
        </p:txBody>
      </p:sp>
      <p:sp>
        <p:nvSpPr>
          <p:cNvPr id="10" name="Hybrid text 1"/>
          <p:cNvSpPr txBox="1"/>
          <p:nvPr/>
        </p:nvSpPr>
        <p:spPr>
          <a:xfrm>
            <a:off x="5623560" y="1664208"/>
            <a:ext cx="2971800" cy="658368"/>
          </a:xfrm>
          <a:prstGeom prst="rect">
            <a:avLst/>
          </a:prstGeom>
          <a:noFill/>
          <a:ln/>
        </p:spPr>
        <p:txBody>
          <a:bodyPr wrap="square" lIns="0" tIns="0" rIns="0" bIns="0" rtlCol="0" anchor="t"/>
          <a:lstStyle/>
          <a:p>
            <a:pPr indent="0" marL="0">
              <a:buNone/>
            </a:pPr>
            <a:r>
              <a:rPr lang="en-US" sz="1250" dirty="0">
                <a:solidFill>
                  <a:schemeClr val="tx1"/>
                </a:solidFill>
              </a:rPr>
              <a:t>α = 0.7 chosen on validation: NDCG@10 0.0303 vs MF 0.0274 (+10.7%) and content 0.0156.</a:t>
            </a:r>
            <a:endParaRPr lang="en-US" sz="1250" dirty="0"/>
          </a:p>
        </p:txBody>
      </p:sp>
      <p:sp>
        <p:nvSpPr>
          <p:cNvPr id="11" name="Hybrid card 2"/>
          <p:cNvSpPr/>
          <p:nvPr/>
        </p:nvSpPr>
        <p:spPr>
          <a:xfrm>
            <a:off x="5486400" y="2450592"/>
            <a:ext cx="3200400" cy="1024128"/>
          </a:xfrm>
          <a:prstGeom prst="roundRect">
            <a:avLst>
              <a:gd name="adj" fmla="val 7143"/>
            </a:avLst>
          </a:prstGeom>
          <a:solidFill>
            <a:schemeClr val="bg1"/>
          </a:solidFill>
          <a:ln w="9525">
            <a:solidFill>
              <a:srgbClr val="E4DCCB"/>
            </a:solidFill>
            <a:prstDash val="solid"/>
          </a:ln>
        </p:spPr>
      </p:sp>
      <p:sp>
        <p:nvSpPr>
          <p:cNvPr id="12" name="Hybrid name 2"/>
          <p:cNvSpPr txBox="1"/>
          <p:nvPr/>
        </p:nvSpPr>
        <p:spPr>
          <a:xfrm>
            <a:off x="5623560" y="2514600"/>
            <a:ext cx="2926080" cy="256032"/>
          </a:xfrm>
          <a:prstGeom prst="rect">
            <a:avLst/>
          </a:prstGeom>
          <a:noFill/>
          <a:ln/>
        </p:spPr>
        <p:txBody>
          <a:bodyPr wrap="square" lIns="0" tIns="0" rIns="0" bIns="0" rtlCol="0" anchor="t"/>
          <a:lstStyle/>
          <a:p>
            <a:pPr indent="0" marL="0">
              <a:buNone/>
            </a:pPr>
            <a:r>
              <a:rPr lang="en-US" sz="1400" b="1" dirty="0">
                <a:solidFill>
                  <a:schemeClr val="accent1"/>
                </a:solidFill>
              </a:rPr>
              <a:t>Switching hybrid</a:t>
            </a:r>
            <a:endParaRPr lang="en-US" sz="1400" dirty="0"/>
          </a:p>
        </p:txBody>
      </p:sp>
      <p:sp>
        <p:nvSpPr>
          <p:cNvPr id="13" name="Hybrid text 2"/>
          <p:cNvSpPr txBox="1"/>
          <p:nvPr/>
        </p:nvSpPr>
        <p:spPr>
          <a:xfrm>
            <a:off x="5623560" y="2788920"/>
            <a:ext cx="2971800" cy="658368"/>
          </a:xfrm>
          <a:prstGeom prst="rect">
            <a:avLst/>
          </a:prstGeom>
          <a:noFill/>
          <a:ln/>
        </p:spPr>
        <p:txBody>
          <a:bodyPr wrap="square" lIns="0" tIns="0" rIns="0" bIns="0" rtlCol="0" anchor="t"/>
          <a:lstStyle/>
          <a:p>
            <a:pPr indent="0" marL="0">
              <a:buNone/>
            </a:pPr>
            <a:r>
              <a:rPr lang="en-US" sz="1250" dirty="0">
                <a:solidFill>
                  <a:schemeClr val="tx1"/>
                </a:solidFill>
              </a:rPr>
              <a:t>Tuned on half A, checked on half B: N = 1 wins on both, so it collapses to pure MF on this data.</a:t>
            </a:r>
            <a:endParaRPr lang="en-US" sz="1250" dirty="0"/>
          </a:p>
        </p:txBody>
      </p:sp>
      <p:sp>
        <p:nvSpPr>
          <p:cNvPr id="14" name="Hybrid card 3"/>
          <p:cNvSpPr/>
          <p:nvPr/>
        </p:nvSpPr>
        <p:spPr>
          <a:xfrm>
            <a:off x="5486400" y="3575304"/>
            <a:ext cx="3200400" cy="1024128"/>
          </a:xfrm>
          <a:prstGeom prst="roundRect">
            <a:avLst>
              <a:gd name="adj" fmla="val 7143"/>
            </a:avLst>
          </a:prstGeom>
          <a:solidFill>
            <a:schemeClr val="bg1"/>
          </a:solidFill>
          <a:ln w="9525">
            <a:solidFill>
              <a:srgbClr val="E4DCCB"/>
            </a:solidFill>
            <a:prstDash val="solid"/>
          </a:ln>
        </p:spPr>
      </p:sp>
      <p:sp>
        <p:nvSpPr>
          <p:cNvPr id="15" name="Hybrid name 3"/>
          <p:cNvSpPr txBox="1"/>
          <p:nvPr/>
        </p:nvSpPr>
        <p:spPr>
          <a:xfrm>
            <a:off x="5623560" y="3639312"/>
            <a:ext cx="2926080" cy="256032"/>
          </a:xfrm>
          <a:prstGeom prst="rect">
            <a:avLst/>
          </a:prstGeom>
          <a:noFill/>
          <a:ln/>
        </p:spPr>
        <p:txBody>
          <a:bodyPr wrap="square" lIns="0" tIns="0" rIns="0" bIns="0" rtlCol="0" anchor="t"/>
          <a:lstStyle/>
          <a:p>
            <a:pPr indent="0" marL="0">
              <a:buNone/>
            </a:pPr>
            <a:r>
              <a:rPr lang="en-US" sz="1400" b="1" dirty="0">
                <a:solidFill>
                  <a:schemeClr val="accent2"/>
                </a:solidFill>
              </a:rPr>
              <a:t>Cascade</a:t>
            </a:r>
            <a:endParaRPr lang="en-US" sz="1400" dirty="0"/>
          </a:p>
        </p:txBody>
      </p:sp>
      <p:sp>
        <p:nvSpPr>
          <p:cNvPr id="16" name="Hybrid text 3"/>
          <p:cNvSpPr txBox="1"/>
          <p:nvPr/>
        </p:nvSpPr>
        <p:spPr>
          <a:xfrm>
            <a:off x="5623560" y="3913632"/>
            <a:ext cx="2971800" cy="658368"/>
          </a:xfrm>
          <a:prstGeom prst="rect">
            <a:avLst/>
          </a:prstGeom>
          <a:noFill/>
          <a:ln/>
        </p:spPr>
        <p:txBody>
          <a:bodyPr wrap="square" lIns="0" tIns="0" rIns="0" bIns="0" rtlCol="0" anchor="t"/>
          <a:lstStyle/>
          <a:p>
            <a:pPr indent="0" marL="0">
              <a:buNone/>
            </a:pPr>
            <a:r>
              <a:rPr lang="en-US" sz="1250" dirty="0">
                <a:solidFill>
                  <a:schemeClr val="tx1"/>
                </a:solidFill>
              </a:rPr>
              <a:t>Content shortlists 500 titles (5% of catalog), MF re-ranks: NDCG@10 0.0272 vs 0.0274.</a:t>
            </a:r>
            <a:endParaRPr lang="en-US" sz="125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Section pill"/>
          <p:cNvSpPr/>
          <p:nvPr/>
        </p:nvSpPr>
        <p:spPr>
          <a:xfrm>
            <a:off x="457200" y="228600"/>
            <a:ext cx="1581912" cy="237744"/>
          </a:xfrm>
          <a:prstGeom prst="roundRect">
            <a:avLst>
              <a:gd name="adj" fmla="val 50000"/>
            </a:avLst>
          </a:prstGeom>
          <a:solidFill>
            <a:schemeClr val="accent2"/>
          </a:solidFill>
          <a:ln/>
        </p:spPr>
      </p:sp>
      <p:sp>
        <p:nvSpPr>
          <p:cNvPr id="4" name="Section pill text"/>
          <p:cNvSpPr txBox="1"/>
          <p:nvPr/>
        </p:nvSpPr>
        <p:spPr>
          <a:xfrm>
            <a:off x="457200" y="228600"/>
            <a:ext cx="1581912" cy="237744"/>
          </a:xfrm>
          <a:prstGeom prst="rect">
            <a:avLst/>
          </a:prstGeom>
          <a:noFill/>
          <a:ln/>
        </p:spPr>
        <p:txBody>
          <a:bodyPr wrap="square" lIns="0" tIns="0" rIns="0" bIns="0" rtlCol="0" anchor="ctr"/>
          <a:lstStyle/>
          <a:p>
            <a:pPr algn="ctr" indent="0" marL="0">
              <a:buNone/>
            </a:pPr>
            <a:r>
              <a:rPr lang="en-US" sz="1000" b="1" dirty="0">
                <a:solidFill>
                  <a:schemeClr val="tx1"/>
                </a:solidFill>
              </a:rPr>
              <a:t>PHASE 8 · A/B TEST</a:t>
            </a:r>
            <a:endParaRPr lang="en-US" sz="1000" dirty="0"/>
          </a:p>
        </p:txBody>
      </p:sp>
      <p:sp>
        <p:nvSpPr>
          <p:cNvPr id="5" name="Text 0"/>
          <p:cNvSpPr/>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Offline metrics screen; an A/B test decides</a:t>
            </a:r>
            <a:endParaRPr lang="en-US" sz="2400" dirty="0"/>
          </a:p>
        </p:txBody>
      </p:sp>
      <p:graphicFrame>
        <p:nvGraphicFramePr>
          <p:cNvPr id="14" name="A/B design table"/>
          <p:cNvGraphicFramePr>
            <a:graphicFrameLocks noGrp="1"/>
          </p:cNvGraphicFramePr>
          <p:nvPr>
            <p:extLst>
              <p:ext uri="{D42A27DB-BD31-4B8C-83A1-F6EECF244321}">
                <p14:modId xmlns:p14="http://schemas.microsoft.com/office/powerpoint/2010/main" val="1579011935"/>
              </p:ext>
            </p:extLst>
          </p:nvPr>
        </p:nvGraphicFramePr>
        <p:xfrm>
          <a:off x="457200" y="1325880"/>
          <a:ext cx="5212080" cy="914400"/>
        </p:xfrm>
        <a:graphic>
          <a:graphicData uri="http://schemas.openxmlformats.org/drawingml/2006/table">
            <a:tbl>
              <a:tblPr/>
              <a:tblGrid>
                <a:gridCol w="1188720"/>
                <a:gridCol w="4023360"/>
              </a:tblGrid>
              <a:tr h="502920">
                <a:tc>
                  <a:txBody>
                    <a:bodyPr/>
                    <a:lstStyle/>
                    <a:p>
                      <a:pPr algn="l" indent="0" marL="0">
                        <a:buNone/>
                      </a:pPr>
                      <a:r>
                        <a:rPr lang="en-US" sz="1200" b="1" dirty="0">
                          <a:solidFill>
                            <a:srgbClr val="2B1F3D"/>
                          </a:solidFill>
                        </a:rPr>
                        <a:t>Design</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ECE7F3"/>
                    </a:solidFill>
                  </a:tcPr>
                </a:tc>
                <a:tc>
                  <a:txBody>
                    <a:bodyPr/>
                    <a:lstStyle/>
                    <a:p>
                      <a:pPr algn="l" indent="0" marL="0">
                        <a:buNone/>
                      </a:pPr>
                      <a:r>
                        <a:rPr lang="en-US" sz="1200" dirty="0">
                          <a:solidFill>
                            <a:srgbClr val="1F1B2B"/>
                          </a:solidFill>
                        </a:rPr>
                        <a:t>Control: Task 12 MF · Treatment: Phase 7 hybrid (α = 0.7)</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r>
              <a:tr h="502920">
                <a:tc>
                  <a:txBody>
                    <a:bodyPr/>
                    <a:lstStyle/>
                    <a:p>
                      <a:pPr algn="l" indent="0" marL="0">
                        <a:buNone/>
                      </a:pPr>
                      <a:r>
                        <a:rPr lang="en-US" sz="1200" b="1" dirty="0">
                          <a:solidFill>
                            <a:srgbClr val="2B1F3D"/>
                          </a:solidFill>
                        </a:rPr>
                        <a:t>Randomise by</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ECE7F3"/>
                    </a:solidFill>
                  </a:tcPr>
                </a:tc>
                <a:tc>
                  <a:txBody>
                    <a:bodyPr/>
                    <a:lstStyle/>
                    <a:p>
                      <a:pPr algn="l" indent="0" marL="0">
                        <a:buNone/>
                      </a:pPr>
                      <a:r>
                        <a:rPr lang="en-US" sz="1200" dirty="0">
                          <a:solidFill>
                            <a:srgbClr val="1F1B2B"/>
                          </a:solidFill>
                        </a:rPr>
                        <a:t>User (hashed ID, 50 / 50), so nobody sees both variants</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r>
              <a:tr h="566928">
                <a:tc>
                  <a:txBody>
                    <a:bodyPr/>
                    <a:lstStyle/>
                    <a:p>
                      <a:pPr algn="l" indent="0" marL="0">
                        <a:buNone/>
                      </a:pPr>
                      <a:r>
                        <a:rPr lang="en-US" sz="1200" b="1" dirty="0">
                          <a:solidFill>
                            <a:srgbClr val="2B1F3D"/>
                          </a:solidFill>
                        </a:rPr>
                        <a:t>Primary metric</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ECE7F3"/>
                    </a:solidFill>
                  </a:tcPr>
                </a:tc>
                <a:tc>
                  <a:txBody>
                    <a:bodyPr/>
                    <a:lstStyle/>
                    <a:p>
                      <a:pPr algn="l" indent="0" marL="0">
                        <a:buNone/>
                      </a:pPr>
                      <a:r>
                        <a:rPr lang="en-US" sz="1200" dirty="0">
                          <a:solidFill>
                            <a:srgbClr val="1F1B2B"/>
                          </a:solidFill>
                        </a:rPr>
                        <a:t>Click-through: users with ≥ 1 click on a recommended title ÷ exposed users</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r>
              <a:tr h="502920">
                <a:tc>
                  <a:txBody>
                    <a:bodyPr/>
                    <a:lstStyle/>
                    <a:p>
                      <a:pPr algn="l" indent="0" marL="0">
                        <a:buNone/>
                      </a:pPr>
                      <a:r>
                        <a:rPr lang="en-US" sz="1200" b="1" dirty="0">
                          <a:solidFill>
                            <a:srgbClr val="2B1F3D"/>
                          </a:solidFill>
                        </a:rPr>
                        <a:t>Guardrails</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ECE7F3"/>
                    </a:solidFill>
                  </a:tcPr>
                </a:tc>
                <a:tc>
                  <a:txBody>
                    <a:bodyPr/>
                    <a:lstStyle/>
                    <a:p>
                      <a:pPr algn="l" indent="0" marL="0">
                        <a:buNone/>
                      </a:pPr>
                      <a:r>
                        <a:rPr lang="en-US" sz="1200" dirty="0">
                          <a:solidFill>
                            <a:srgbClr val="1F1B2B"/>
                          </a:solidFill>
                        </a:rPr>
                        <a:t>Session length, churn, latency p95, coverage and diversity, hide rate</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r>
              <a:tr h="566928">
                <a:tc>
                  <a:txBody>
                    <a:bodyPr/>
                    <a:lstStyle/>
                    <a:p>
                      <a:pPr algn="l" indent="0" marL="0">
                        <a:buNone/>
                      </a:pPr>
                      <a:r>
                        <a:rPr lang="en-US" sz="1200" b="1" dirty="0">
                          <a:solidFill>
                            <a:srgbClr val="2B1F3D"/>
                          </a:solidFill>
                        </a:rPr>
                        <a:t>Test</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ECE7F3"/>
                    </a:solidFill>
                  </a:tcPr>
                </a:tc>
                <a:tc>
                  <a:txBody>
                    <a:bodyPr/>
                    <a:lstStyle/>
                    <a:p>
                      <a:pPr algn="l" indent="0" marL="0">
                        <a:buNone/>
                      </a:pPr>
                      <a:r>
                        <a:rPr lang="en-US" sz="1200" dirty="0">
                          <a:solidFill>
                            <a:srgbClr val="1F1B2B"/>
                          </a:solidFill>
                        </a:rPr>
                        <a:t>Two-proportion Z-test, α = 0.05 two-sided, power 80%; Welch t for continuous metrics</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r>
              <a:tr h="566928">
                <a:tc>
                  <a:txBody>
                    <a:bodyPr/>
                    <a:lstStyle/>
                    <a:p>
                      <a:pPr algn="l" indent="0" marL="0">
                        <a:buNone/>
                      </a:pPr>
                      <a:r>
                        <a:rPr lang="en-US" sz="1200" b="1" dirty="0">
                          <a:solidFill>
                            <a:srgbClr val="2B1F3D"/>
                          </a:solidFill>
                        </a:rPr>
                        <a:t>Run for</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ECE7F3"/>
                    </a:solidFill>
                  </a:tcPr>
                </a:tc>
                <a:tc>
                  <a:txBody>
                    <a:bodyPr/>
                    <a:lstStyle/>
                    <a:p>
                      <a:pPr algn="l" indent="0" marL="0">
                        <a:buNone/>
                      </a:pPr>
                      <a:r>
                        <a:rPr lang="en-US" sz="1200" dirty="0">
                          <a:solidFill>
                            <a:srgbClr val="1F1B2B"/>
                          </a:solidFill>
                        </a:rPr>
                        <a:t>≥ 2 full weeks, fixed in advance; check sample-ratio mismatch and the novelty effect</a:t>
                      </a:r>
                      <a:endParaRPr lang="en-US" sz="1200" dirty="0"/>
                    </a:p>
                  </a:txBody>
                  <a:tcPr marL="73152" marR="73152" marT="27432" marB="27432"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tcPr>
                </a:tc>
              </a:tr>
            </a:tbl>
          </a:graphicData>
        </a:graphic>
      </p:graphicFrame>
      <p:sp>
        <p:nvSpPr>
          <p:cNvPr id="7" name="Sample size card"/>
          <p:cNvSpPr/>
          <p:nvPr/>
        </p:nvSpPr>
        <p:spPr>
          <a:xfrm>
            <a:off x="5852160" y="1325880"/>
            <a:ext cx="2834640" cy="3291840"/>
          </a:xfrm>
          <a:prstGeom prst="roundRect">
            <a:avLst>
              <a:gd name="adj" fmla="val 2581"/>
            </a:avLst>
          </a:prstGeom>
          <a:solidFill>
            <a:schemeClr val="bg1"/>
          </a:solidFill>
          <a:ln w="9525">
            <a:solidFill>
              <a:srgbClr val="E4DCCB"/>
            </a:solidFill>
            <a:prstDash val="solid"/>
          </a:ln>
        </p:spPr>
      </p:sp>
      <p:graphicFrame>
        <p:nvGraphicFramePr>
          <p:cNvPr id="8" name="Sample size chart" descr=""/>
          <p:cNvGraphicFramePr/>
          <p:nvPr/>
        </p:nvGraphicFramePr>
        <p:xfrm>
          <a:off x="5897880" y="1371600"/>
          <a:ext cx="2743200" cy="2743200"/>
        </p:xfrm>
        <a:graphic xmlns:a="http://schemas.openxmlformats.org/drawingml/2006/main">
          <a:graphicData uri="http://schemas.openxmlformats.org/drawingml/2006/chart">
            <c:chart xmlns:c="http://schemas.openxmlformats.org/drawingml/2006/chart" r:id="rId1"/>
          </a:graphicData>
        </a:graphic>
      </p:graphicFrame>
      <p:sp>
        <p:nvSpPr>
          <p:cNvPr id="9" name="Assumption note"/>
          <p:cNvSpPr txBox="1"/>
          <p:nvPr/>
        </p:nvSpPr>
        <p:spPr>
          <a:xfrm>
            <a:off x="5961888" y="4133088"/>
            <a:ext cx="2651760" cy="411480"/>
          </a:xfrm>
          <a:prstGeom prst="rect">
            <a:avLst/>
          </a:prstGeom>
          <a:noFill/>
          <a:ln/>
        </p:spPr>
        <p:txBody>
          <a:bodyPr wrap="square" lIns="0" tIns="0" rIns="0" bIns="0" rtlCol="0" anchor="t"/>
          <a:lstStyle/>
          <a:p>
            <a:pPr indent="0" marL="0">
              <a:buNone/>
            </a:pPr>
            <a:r>
              <a:rPr lang="en-US" sz="1050" dirty="0">
                <a:solidFill>
                  <a:srgbClr val="4A4458"/>
                </a:solidFill>
              </a:rPr>
              <a:t>Assumed baseline CTR 8% (a planning assumption, not measured).</a:t>
            </a:r>
            <a:endParaRPr lang="en-US" sz="105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Section pill"/>
          <p:cNvSpPr/>
          <p:nvPr/>
        </p:nvSpPr>
        <p:spPr>
          <a:xfrm>
            <a:off x="457200" y="228600"/>
            <a:ext cx="1193292" cy="237744"/>
          </a:xfrm>
          <a:prstGeom prst="roundRect">
            <a:avLst>
              <a:gd name="adj" fmla="val 50000"/>
            </a:avLst>
          </a:prstGeom>
          <a:solidFill>
            <a:schemeClr val="accent2"/>
          </a:solidFill>
          <a:ln/>
        </p:spPr>
      </p:sp>
      <p:sp>
        <p:nvSpPr>
          <p:cNvPr id="4" name="Section pill text"/>
          <p:cNvSpPr txBox="1"/>
          <p:nvPr/>
        </p:nvSpPr>
        <p:spPr>
          <a:xfrm>
            <a:off x="457200" y="228600"/>
            <a:ext cx="1193292" cy="237744"/>
          </a:xfrm>
          <a:prstGeom prst="rect">
            <a:avLst/>
          </a:prstGeom>
          <a:noFill/>
          <a:ln/>
        </p:spPr>
        <p:txBody>
          <a:bodyPr wrap="square" lIns="0" tIns="0" rIns="0" bIns="0" rtlCol="0" anchor="ctr"/>
          <a:lstStyle/>
          <a:p>
            <a:pPr algn="ctr" indent="0" marL="0">
              <a:buNone/>
            </a:pPr>
            <a:r>
              <a:rPr lang="en-US" sz="1000" b="1" dirty="0">
                <a:solidFill>
                  <a:schemeClr val="tx1"/>
                </a:solidFill>
              </a:rPr>
              <a:t>EXERCISES 1-4</a:t>
            </a:r>
            <a:endParaRPr lang="en-US" sz="1000" dirty="0"/>
          </a:p>
        </p:txBody>
      </p:sp>
      <p:sp>
        <p:nvSpPr>
          <p:cNvPr id="5" name="Text 0"/>
          <p:cNvSpPr/>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Exercises 1-4: what the numbers say</a:t>
            </a:r>
            <a:endParaRPr lang="en-US" sz="2400" dirty="0"/>
          </a:p>
        </p:txBody>
      </p:sp>
      <p:sp>
        <p:nvSpPr>
          <p:cNvPr id="6" name="Exercise card 1"/>
          <p:cNvSpPr/>
          <p:nvPr/>
        </p:nvSpPr>
        <p:spPr>
          <a:xfrm>
            <a:off x="457200" y="1325880"/>
            <a:ext cx="4023360" cy="1572768"/>
          </a:xfrm>
          <a:prstGeom prst="roundRect">
            <a:avLst>
              <a:gd name="adj" fmla="val 4651"/>
            </a:avLst>
          </a:prstGeom>
          <a:solidFill>
            <a:schemeClr val="bg1"/>
          </a:solidFill>
          <a:ln w="9525">
            <a:solidFill>
              <a:srgbClr val="E4DCCB"/>
            </a:solidFill>
            <a:prstDash val="solid"/>
          </a:ln>
        </p:spPr>
      </p:sp>
      <p:sp>
        <p:nvSpPr>
          <p:cNvPr id="7" name="Exercise dot 1"/>
          <p:cNvSpPr/>
          <p:nvPr/>
        </p:nvSpPr>
        <p:spPr>
          <a:xfrm>
            <a:off x="594360" y="1444752"/>
            <a:ext cx="182880" cy="182880"/>
          </a:xfrm>
          <a:prstGeom prst="ellipse">
            <a:avLst/>
          </a:prstGeom>
          <a:solidFill>
            <a:srgbClr val="D1495B"/>
          </a:solidFill>
          <a:ln/>
        </p:spPr>
      </p:sp>
      <p:sp>
        <p:nvSpPr>
          <p:cNvPr id="8" name="Exercise title 1"/>
          <p:cNvSpPr txBox="1"/>
          <p:nvPr/>
        </p:nvSpPr>
        <p:spPr>
          <a:xfrm>
            <a:off x="868680" y="1399032"/>
            <a:ext cx="3520440" cy="274320"/>
          </a:xfrm>
          <a:prstGeom prst="rect">
            <a:avLst/>
          </a:prstGeom>
          <a:noFill/>
          <a:ln/>
        </p:spPr>
        <p:txBody>
          <a:bodyPr wrap="square" lIns="0" tIns="0" rIns="0" bIns="0" rtlCol="0" anchor="ctr"/>
          <a:lstStyle/>
          <a:p>
            <a:pPr indent="0" marL="0">
              <a:buNone/>
            </a:pPr>
            <a:r>
              <a:rPr lang="en-US" sz="1350" b="1" dirty="0">
                <a:solidFill>
                  <a:schemeClr val="tx1"/>
                </a:solidFill>
              </a:rPr>
              <a:t>Ex 1 · Popularity baseline</a:t>
            </a:r>
            <a:pPr indent="0" marL="0">
              <a:buNone/>
            </a:pPr>
            <a:r>
              <a:rPr lang="en-US" sz="1200" b="1" dirty="0">
                <a:solidFill>
                  <a:srgbClr val="D1495B"/>
                </a:solidFill>
              </a:rPr>
              <a:t>  wins on accuracy</a:t>
            </a:r>
            <a:endParaRPr lang="en-US" sz="1350" dirty="0"/>
          </a:p>
        </p:txBody>
      </p:sp>
      <p:sp>
        <p:nvSpPr>
          <p:cNvPr id="9" name="Exercise text 1"/>
          <p:cNvSpPr txBox="1"/>
          <p:nvPr/>
        </p:nvSpPr>
        <p:spPr>
          <a:xfrm>
            <a:off x="594360" y="1746504"/>
            <a:ext cx="3749040" cy="1097280"/>
          </a:xfrm>
          <a:prstGeom prst="rect">
            <a:avLst/>
          </a:prstGeom>
          <a:noFill/>
          <a:ln/>
        </p:spPr>
        <p:txBody>
          <a:bodyPr wrap="square" lIns="0" tIns="0" rIns="0" bIns="0" rtlCol="0" anchor="t"/>
          <a:lstStyle/>
          <a:p>
            <a:pPr indent="0" marL="0">
              <a:buNone/>
            </a:pPr>
            <a:r>
              <a:rPr lang="en-US" sz="1350" dirty="0">
                <a:solidFill>
                  <a:srgbClr val="4A4458"/>
                </a:solidFill>
              </a:rPr>
              <a:t>NDCG@10: popularity 0.072, hybrid 0.030, MF 0.027, content 0.016. Personalisation must earn its place through coverage, novelty and diversity.</a:t>
            </a:r>
            <a:endParaRPr lang="en-US" sz="1350" dirty="0"/>
          </a:p>
        </p:txBody>
      </p:sp>
      <p:sp>
        <p:nvSpPr>
          <p:cNvPr id="10" name="Exercise card 2"/>
          <p:cNvSpPr/>
          <p:nvPr/>
        </p:nvSpPr>
        <p:spPr>
          <a:xfrm>
            <a:off x="4663440" y="1325880"/>
            <a:ext cx="4023360" cy="1572768"/>
          </a:xfrm>
          <a:prstGeom prst="roundRect">
            <a:avLst>
              <a:gd name="adj" fmla="val 4651"/>
            </a:avLst>
          </a:prstGeom>
          <a:solidFill>
            <a:schemeClr val="bg1"/>
          </a:solidFill>
          <a:ln w="9525">
            <a:solidFill>
              <a:srgbClr val="E4DCCB"/>
            </a:solidFill>
            <a:prstDash val="solid"/>
          </a:ln>
        </p:spPr>
      </p:sp>
      <p:sp>
        <p:nvSpPr>
          <p:cNvPr id="11" name="Exercise dot 2"/>
          <p:cNvSpPr/>
          <p:nvPr/>
        </p:nvSpPr>
        <p:spPr>
          <a:xfrm>
            <a:off x="4800600" y="1444752"/>
            <a:ext cx="182880" cy="182880"/>
          </a:xfrm>
          <a:prstGeom prst="ellipse">
            <a:avLst/>
          </a:prstGeom>
          <a:solidFill>
            <a:srgbClr val="E8A33D"/>
          </a:solidFill>
          <a:ln/>
        </p:spPr>
      </p:sp>
      <p:sp>
        <p:nvSpPr>
          <p:cNvPr id="12" name="Exercise title 2"/>
          <p:cNvSpPr txBox="1"/>
          <p:nvPr/>
        </p:nvSpPr>
        <p:spPr>
          <a:xfrm>
            <a:off x="5074920" y="1399032"/>
            <a:ext cx="3520440" cy="274320"/>
          </a:xfrm>
          <a:prstGeom prst="rect">
            <a:avLst/>
          </a:prstGeom>
          <a:noFill/>
          <a:ln/>
        </p:spPr>
        <p:txBody>
          <a:bodyPr wrap="square" lIns="0" tIns="0" rIns="0" bIns="0" rtlCol="0" anchor="ctr"/>
          <a:lstStyle/>
          <a:p>
            <a:pPr indent="0" marL="0">
              <a:buNone/>
            </a:pPr>
            <a:r>
              <a:rPr lang="en-US" sz="1350" b="1" dirty="0">
                <a:solidFill>
                  <a:schemeClr val="tx1"/>
                </a:solidFill>
              </a:rPr>
              <a:t>Ex 2 · MRR vs MAP</a:t>
            </a:r>
            <a:pPr indent="0" marL="0">
              <a:buNone/>
            </a:pPr>
            <a:r>
              <a:rPr lang="en-US" sz="1200" b="1" dirty="0">
                <a:solidFill>
                  <a:srgbClr val="E8A33D"/>
                </a:solidFill>
              </a:rPr>
              <a:t>  same order, different question</a:t>
            </a:r>
            <a:endParaRPr lang="en-US" sz="1350" dirty="0"/>
          </a:p>
        </p:txBody>
      </p:sp>
      <p:sp>
        <p:nvSpPr>
          <p:cNvPr id="13" name="Exercise text 2"/>
          <p:cNvSpPr txBox="1"/>
          <p:nvPr/>
        </p:nvSpPr>
        <p:spPr>
          <a:xfrm>
            <a:off x="4800600" y="1746504"/>
            <a:ext cx="3749040" cy="1097280"/>
          </a:xfrm>
          <a:prstGeom prst="rect">
            <a:avLst/>
          </a:prstGeom>
          <a:noFill/>
          <a:ln/>
        </p:spPr>
        <p:txBody>
          <a:bodyPr wrap="square" lIns="0" tIns="0" rIns="0" bIns="0" rtlCol="0" anchor="t"/>
          <a:lstStyle/>
          <a:p>
            <a:pPr indent="0" marL="0">
              <a:buNone/>
            </a:pPr>
            <a:r>
              <a:rPr lang="en-US" sz="1350" dirty="0">
                <a:solidFill>
                  <a:srgbClr val="4A4458"/>
                </a:solidFill>
              </a:rPr>
              <a:t>Both rank popularity &gt; hybrid &gt; MF &gt; content (MRR@10 0.162 / 0.076 / 0.065 / 0.035). MRR scores only the first hit; MAP rewards every hit.</a:t>
            </a:r>
            <a:endParaRPr lang="en-US" sz="1350" dirty="0"/>
          </a:p>
        </p:txBody>
      </p:sp>
      <p:sp>
        <p:nvSpPr>
          <p:cNvPr id="14" name="Exercise card 3"/>
          <p:cNvSpPr/>
          <p:nvPr/>
        </p:nvSpPr>
        <p:spPr>
          <a:xfrm>
            <a:off x="457200" y="3017520"/>
            <a:ext cx="4023360" cy="1572768"/>
          </a:xfrm>
          <a:prstGeom prst="roundRect">
            <a:avLst>
              <a:gd name="adj" fmla="val 4651"/>
            </a:avLst>
          </a:prstGeom>
          <a:solidFill>
            <a:schemeClr val="bg1"/>
          </a:solidFill>
          <a:ln w="9525">
            <a:solidFill>
              <a:srgbClr val="E4DCCB"/>
            </a:solidFill>
            <a:prstDash val="solid"/>
          </a:ln>
        </p:spPr>
      </p:sp>
      <p:sp>
        <p:nvSpPr>
          <p:cNvPr id="15" name="Exercise dot 3"/>
          <p:cNvSpPr/>
          <p:nvPr/>
        </p:nvSpPr>
        <p:spPr>
          <a:xfrm>
            <a:off x="594360" y="3136392"/>
            <a:ext cx="182880" cy="182880"/>
          </a:xfrm>
          <a:prstGeom prst="ellipse">
            <a:avLst/>
          </a:prstGeom>
          <a:solidFill>
            <a:srgbClr val="2A7F8E"/>
          </a:solidFill>
          <a:ln/>
        </p:spPr>
      </p:sp>
      <p:sp>
        <p:nvSpPr>
          <p:cNvPr id="16" name="Exercise title 3"/>
          <p:cNvSpPr txBox="1"/>
          <p:nvPr/>
        </p:nvSpPr>
        <p:spPr>
          <a:xfrm>
            <a:off x="868680" y="3090672"/>
            <a:ext cx="3520440" cy="274320"/>
          </a:xfrm>
          <a:prstGeom prst="rect">
            <a:avLst/>
          </a:prstGeom>
          <a:noFill/>
          <a:ln/>
        </p:spPr>
        <p:txBody>
          <a:bodyPr wrap="square" lIns="0" tIns="0" rIns="0" bIns="0" rtlCol="0" anchor="ctr"/>
          <a:lstStyle/>
          <a:p>
            <a:pPr indent="0" marL="0">
              <a:buNone/>
            </a:pPr>
            <a:r>
              <a:rPr lang="en-US" sz="1350" b="1" dirty="0">
                <a:solidFill>
                  <a:schemeClr val="tx1"/>
                </a:solidFill>
              </a:rPr>
              <a:t>Ex 3 · Switching design</a:t>
            </a:r>
            <a:pPr indent="0" marL="0">
              <a:buNone/>
            </a:pPr>
            <a:r>
              <a:rPr lang="en-US" sz="1200" b="1" dirty="0">
                <a:solidFill>
                  <a:srgbClr val="2A7F8E"/>
                </a:solidFill>
              </a:rPr>
              <a:t>  design only, not trained</a:t>
            </a:r>
            <a:endParaRPr lang="en-US" sz="1350" dirty="0"/>
          </a:p>
        </p:txBody>
      </p:sp>
      <p:sp>
        <p:nvSpPr>
          <p:cNvPr id="17" name="Exercise text 3"/>
          <p:cNvSpPr txBox="1"/>
          <p:nvPr/>
        </p:nvSpPr>
        <p:spPr>
          <a:xfrm>
            <a:off x="594360" y="3438144"/>
            <a:ext cx="3749040" cy="1097280"/>
          </a:xfrm>
          <a:prstGeom prst="rect">
            <a:avLst/>
          </a:prstGeom>
          <a:noFill/>
          <a:ln/>
        </p:spPr>
        <p:txBody>
          <a:bodyPr wrap="square" lIns="0" tIns="0" rIns="0" bIns="0" rtlCol="0" anchor="t"/>
          <a:lstStyle/>
          <a:p>
            <a:pPr indent="0" marL="0">
              <a:buNone/>
            </a:pPr>
            <a:r>
              <a:rPr lang="en-US" sz="1350" dirty="0">
                <a:solidFill>
                  <a:srgbClr val="4A4458"/>
                </a:solidFill>
              </a:rPr>
              <a:t>New (&lt; 3 interactions) → popularity · light (3-19) → content-based · heavy (20+) → MF or hybrid. Blend near thresholds, fall back MF → content → popularity.</a:t>
            </a:r>
            <a:endParaRPr lang="en-US" sz="1350" dirty="0"/>
          </a:p>
        </p:txBody>
      </p:sp>
      <p:sp>
        <p:nvSpPr>
          <p:cNvPr id="18" name="Exercise card 4"/>
          <p:cNvSpPr/>
          <p:nvPr/>
        </p:nvSpPr>
        <p:spPr>
          <a:xfrm>
            <a:off x="4663440" y="3017520"/>
            <a:ext cx="4023360" cy="1572768"/>
          </a:xfrm>
          <a:prstGeom prst="roundRect">
            <a:avLst>
              <a:gd name="adj" fmla="val 4651"/>
            </a:avLst>
          </a:prstGeom>
          <a:solidFill>
            <a:schemeClr val="bg1"/>
          </a:solidFill>
          <a:ln w="9525">
            <a:solidFill>
              <a:srgbClr val="E4DCCB"/>
            </a:solidFill>
            <a:prstDash val="solid"/>
          </a:ln>
        </p:spPr>
      </p:sp>
      <p:sp>
        <p:nvSpPr>
          <p:cNvPr id="19" name="Exercise dot 4"/>
          <p:cNvSpPr/>
          <p:nvPr/>
        </p:nvSpPr>
        <p:spPr>
          <a:xfrm>
            <a:off x="4800600" y="3136392"/>
            <a:ext cx="182880" cy="182880"/>
          </a:xfrm>
          <a:prstGeom prst="ellipse">
            <a:avLst/>
          </a:prstGeom>
          <a:solidFill>
            <a:srgbClr val="5B4B8A"/>
          </a:solidFill>
          <a:ln/>
        </p:spPr>
      </p:sp>
      <p:sp>
        <p:nvSpPr>
          <p:cNvPr id="20" name="Exercise title 4"/>
          <p:cNvSpPr txBox="1"/>
          <p:nvPr/>
        </p:nvSpPr>
        <p:spPr>
          <a:xfrm>
            <a:off x="5074920" y="3090672"/>
            <a:ext cx="3520440" cy="274320"/>
          </a:xfrm>
          <a:prstGeom prst="rect">
            <a:avLst/>
          </a:prstGeom>
          <a:noFill/>
          <a:ln/>
        </p:spPr>
        <p:txBody>
          <a:bodyPr wrap="square" lIns="0" tIns="0" rIns="0" bIns="0" rtlCol="0" anchor="ctr"/>
          <a:lstStyle/>
          <a:p>
            <a:pPr indent="0" marL="0">
              <a:buNone/>
            </a:pPr>
            <a:r>
              <a:rPr lang="en-US" sz="1350" b="1" dirty="0">
                <a:solidFill>
                  <a:schemeClr val="tx1"/>
                </a:solidFill>
              </a:rPr>
              <a:t>Ex 4 · MMR re-ranking</a:t>
            </a:r>
            <a:pPr indent="0" marL="0">
              <a:buNone/>
            </a:pPr>
            <a:r>
              <a:rPr lang="en-US" sz="1200" b="1" dirty="0">
                <a:solidFill>
                  <a:srgbClr val="5B4B8A"/>
                </a:solidFill>
              </a:rPr>
              <a:t>  diversity +28.5%</a:t>
            </a:r>
            <a:endParaRPr lang="en-US" sz="1350" dirty="0"/>
          </a:p>
        </p:txBody>
      </p:sp>
      <p:sp>
        <p:nvSpPr>
          <p:cNvPr id="21" name="Exercise text 4"/>
          <p:cNvSpPr txBox="1"/>
          <p:nvPr/>
        </p:nvSpPr>
        <p:spPr>
          <a:xfrm>
            <a:off x="4800600" y="3438144"/>
            <a:ext cx="3749040" cy="1097280"/>
          </a:xfrm>
          <a:prstGeom prst="rect">
            <a:avLst/>
          </a:prstGeom>
          <a:noFill/>
          <a:ln/>
        </p:spPr>
        <p:txBody>
          <a:bodyPr wrap="square" lIns="0" tIns="0" rIns="0" bIns="0" rtlCol="0" anchor="t"/>
          <a:lstStyle/>
          <a:p>
            <a:pPr indent="0" marL="0">
              <a:buNone/>
            </a:pPr>
            <a:r>
              <a:rPr lang="en-US" sz="1350" dirty="0">
                <a:solidFill>
                  <a:srgbClr val="4A4458"/>
                </a:solidFill>
              </a:rPr>
              <a:t>Re-rank the hybrid's top 50 (λ = 0.4): diversity 0.610 → 0.784 at the same Precision@10 (0.027); NDCG@10 0.0303 → 0.0296.</a:t>
            </a:r>
            <a:endParaRPr lang="en-US" sz="135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Section pill"/>
          <p:cNvSpPr/>
          <p:nvPr/>
        </p:nvSpPr>
        <p:spPr>
          <a:xfrm>
            <a:off x="457200" y="228600"/>
            <a:ext cx="2048256" cy="237744"/>
          </a:xfrm>
          <a:prstGeom prst="roundRect">
            <a:avLst>
              <a:gd name="adj" fmla="val 50000"/>
            </a:avLst>
          </a:prstGeom>
          <a:solidFill>
            <a:schemeClr val="accent2"/>
          </a:solidFill>
          <a:ln/>
        </p:spPr>
      </p:sp>
      <p:sp>
        <p:nvSpPr>
          <p:cNvPr id="4" name="Section pill text"/>
          <p:cNvSpPr txBox="1"/>
          <p:nvPr/>
        </p:nvSpPr>
        <p:spPr>
          <a:xfrm>
            <a:off x="457200" y="228600"/>
            <a:ext cx="2048256" cy="237744"/>
          </a:xfrm>
          <a:prstGeom prst="rect">
            <a:avLst/>
          </a:prstGeom>
          <a:noFill/>
          <a:ln/>
        </p:spPr>
        <p:txBody>
          <a:bodyPr wrap="square" lIns="0" tIns="0" rIns="0" bIns="0" rtlCol="0" anchor="ctr"/>
          <a:lstStyle/>
          <a:p>
            <a:pPr algn="ctr" indent="0" marL="0">
              <a:buNone/>
            </a:pPr>
            <a:r>
              <a:rPr lang="en-US" sz="1000" b="1" dirty="0">
                <a:solidFill>
                  <a:schemeClr val="tx1"/>
                </a:solidFill>
              </a:rPr>
              <a:t>EXERCISE 5 · SPLIT AUDIT</a:t>
            </a:r>
            <a:endParaRPr lang="en-US" sz="1000" dirty="0"/>
          </a:p>
        </p:txBody>
      </p:sp>
      <p:sp>
        <p:nvSpPr>
          <p:cNvPr id="5" name="Text 0"/>
          <p:cNvSpPr/>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Random splits roughly double the NDCG</a:t>
            </a:r>
            <a:endParaRPr lang="en-US" sz="2400" dirty="0"/>
          </a:p>
        </p:txBody>
      </p:sp>
      <p:sp>
        <p:nvSpPr>
          <p:cNvPr id="6" name="Chart card"/>
          <p:cNvSpPr/>
          <p:nvPr/>
        </p:nvSpPr>
        <p:spPr>
          <a:xfrm>
            <a:off x="457200" y="1325880"/>
            <a:ext cx="5212080" cy="3291840"/>
          </a:xfrm>
          <a:prstGeom prst="roundRect">
            <a:avLst>
              <a:gd name="adj" fmla="val 2222"/>
            </a:avLst>
          </a:prstGeom>
          <a:solidFill>
            <a:schemeClr val="bg1"/>
          </a:solidFill>
          <a:ln w="9525">
            <a:solidFill>
              <a:srgbClr val="E4DCCB"/>
            </a:solidFill>
            <a:prstDash val="solid"/>
          </a:ln>
        </p:spPr>
      </p:sp>
      <p:graphicFrame>
        <p:nvGraphicFramePr>
          <p:cNvPr id="7" name="Split audit chart" descr=""/>
          <p:cNvGraphicFramePr/>
          <p:nvPr/>
        </p:nvGraphicFramePr>
        <p:xfrm>
          <a:off x="502920" y="1371600"/>
          <a:ext cx="5120640" cy="3200400"/>
        </p:xfrm>
        <a:graphic xmlns:a="http://schemas.openxmlformats.org/drawingml/2006/main">
          <a:graphicData uri="http://schemas.openxmlformats.org/drawingml/2006/chart">
            <c:chart xmlns:c="http://schemas.openxmlformats.org/drawingml/2006/chart" r:id="rId1"/>
          </a:graphicData>
        </a:graphic>
      </p:graphicFrame>
      <p:sp>
        <p:nvSpPr>
          <p:cNvPr id="8" name="Stat NDCG@10 inflation, per-user random vs temporal"/>
          <p:cNvSpPr txBox="1"/>
          <p:nvPr/>
        </p:nvSpPr>
        <p:spPr>
          <a:xfrm>
            <a:off x="5943600" y="1325880"/>
            <a:ext cx="2743200" cy="548640"/>
          </a:xfrm>
          <a:prstGeom prst="rect">
            <a:avLst/>
          </a:prstGeom>
          <a:noFill/>
          <a:ln/>
        </p:spPr>
        <p:txBody>
          <a:bodyPr wrap="square" lIns="0" tIns="0" rIns="0" bIns="0" rtlCol="0" anchor="ctr"/>
          <a:lstStyle/>
          <a:p>
            <a:pPr algn="l" indent="0" marL="0">
              <a:buNone/>
            </a:pPr>
            <a:r>
              <a:rPr lang="en-US" sz="3400" b="1" dirty="0">
                <a:solidFill>
                  <a:schemeClr val="accent3"/>
                </a:solidFill>
                <a:latin typeface="+mj-lt" pitchFamily="34" charset="0"/>
                <a:ea typeface="+mj-lt" pitchFamily="34" charset="-122"/>
                <a:cs typeface="+mj-lt" pitchFamily="34" charset="-120"/>
              </a:rPr>
              <a:t>2.2×</a:t>
            </a:r>
            <a:endParaRPr lang="en-US" sz="3400" dirty="0"/>
          </a:p>
        </p:txBody>
      </p:sp>
      <p:sp>
        <p:nvSpPr>
          <p:cNvPr id="9" name="Stat label NDCG@10 inflation, per-user random vs temporal"/>
          <p:cNvSpPr txBox="1"/>
          <p:nvPr/>
        </p:nvSpPr>
        <p:spPr>
          <a:xfrm>
            <a:off x="5943600" y="1874520"/>
            <a:ext cx="2743200" cy="502920"/>
          </a:xfrm>
          <a:prstGeom prst="rect">
            <a:avLst/>
          </a:prstGeom>
          <a:noFill/>
          <a:ln/>
        </p:spPr>
        <p:txBody>
          <a:bodyPr wrap="square" lIns="0" tIns="0" rIns="0" bIns="0" rtlCol="0" anchor="t"/>
          <a:lstStyle/>
          <a:p>
            <a:pPr algn="l" indent="0" marL="0">
              <a:buNone/>
            </a:pPr>
            <a:r>
              <a:rPr lang="en-US" sz="1200" dirty="0">
                <a:solidFill>
                  <a:schemeClr val="tx1"/>
                </a:solidFill>
              </a:rPr>
              <a:t>NDCG@10 inflation, per-user random vs temporal</a:t>
            </a:r>
            <a:endParaRPr lang="en-US" sz="1200" dirty="0"/>
          </a:p>
        </p:txBody>
      </p:sp>
      <p:sp>
        <p:nvSpPr>
          <p:cNvPr id="10" name="Stat RMSE gap, random vs temporal split"/>
          <p:cNvSpPr txBox="1"/>
          <p:nvPr/>
        </p:nvSpPr>
        <p:spPr>
          <a:xfrm>
            <a:off x="5943600" y="2514600"/>
            <a:ext cx="2743200" cy="548640"/>
          </a:xfrm>
          <a:prstGeom prst="rect">
            <a:avLst/>
          </a:prstGeom>
          <a:noFill/>
          <a:ln/>
        </p:spPr>
        <p:txBody>
          <a:bodyPr wrap="square" lIns="0" tIns="0" rIns="0" bIns="0" rtlCol="0" anchor="ctr"/>
          <a:lstStyle/>
          <a:p>
            <a:pPr algn="l" indent="0" marL="0">
              <a:buNone/>
            </a:pPr>
            <a:r>
              <a:rPr lang="en-US" sz="3400" b="1" dirty="0">
                <a:solidFill>
                  <a:schemeClr val="accent1"/>
                </a:solidFill>
                <a:latin typeface="+mj-lt" pitchFamily="34" charset="0"/>
                <a:ea typeface="+mj-lt" pitchFamily="34" charset="-122"/>
                <a:cs typeface="+mj-lt" pitchFamily="34" charset="-120"/>
              </a:rPr>
              <a:t>~4%</a:t>
            </a:r>
            <a:endParaRPr lang="en-US" sz="3400" dirty="0"/>
          </a:p>
        </p:txBody>
      </p:sp>
      <p:sp>
        <p:nvSpPr>
          <p:cNvPr id="11" name="Stat label RMSE gap, random vs temporal split"/>
          <p:cNvSpPr txBox="1"/>
          <p:nvPr/>
        </p:nvSpPr>
        <p:spPr>
          <a:xfrm>
            <a:off x="5943600" y="3063240"/>
            <a:ext cx="2743200" cy="502920"/>
          </a:xfrm>
          <a:prstGeom prst="rect">
            <a:avLst/>
          </a:prstGeom>
          <a:noFill/>
          <a:ln/>
        </p:spPr>
        <p:txBody>
          <a:bodyPr wrap="square" lIns="0" tIns="0" rIns="0" bIns="0" rtlCol="0" anchor="t"/>
          <a:lstStyle/>
          <a:p>
            <a:pPr algn="l" indent="0" marL="0">
              <a:buNone/>
            </a:pPr>
            <a:r>
              <a:rPr lang="en-US" sz="1200" dirty="0">
                <a:solidFill>
                  <a:schemeClr val="tx1"/>
                </a:solidFill>
              </a:rPr>
              <a:t>RMSE gap, random vs temporal split</a:t>
            </a:r>
            <a:endParaRPr lang="en-US" sz="1200" dirty="0"/>
          </a:p>
        </p:txBody>
      </p:sp>
      <p:sp>
        <p:nvSpPr>
          <p:cNvPr id="12" name="Caution card"/>
          <p:cNvSpPr/>
          <p:nvPr/>
        </p:nvSpPr>
        <p:spPr>
          <a:xfrm>
            <a:off x="5943600" y="3657600"/>
            <a:ext cx="2743200" cy="960120"/>
          </a:xfrm>
          <a:prstGeom prst="roundRect">
            <a:avLst>
              <a:gd name="adj" fmla="val 7619"/>
            </a:avLst>
          </a:prstGeom>
          <a:solidFill>
            <a:schemeClr val="bg1"/>
          </a:solidFill>
          <a:ln w="9525">
            <a:solidFill>
              <a:srgbClr val="E4DCCB"/>
            </a:solidFill>
            <a:prstDash val="solid"/>
          </a:ln>
        </p:spPr>
      </p:sp>
      <p:sp>
        <p:nvSpPr>
          <p:cNvPr id="13" name="Caution text"/>
          <p:cNvSpPr txBox="1"/>
          <p:nvPr/>
        </p:nvSpPr>
        <p:spPr>
          <a:xfrm>
            <a:off x="6053328" y="3657600"/>
            <a:ext cx="2560320" cy="960120"/>
          </a:xfrm>
          <a:prstGeom prst="rect">
            <a:avLst/>
          </a:prstGeom>
          <a:noFill/>
          <a:ln/>
        </p:spPr>
        <p:txBody>
          <a:bodyPr wrap="square" lIns="0" tIns="0" rIns="0" bIns="0" rtlCol="0" anchor="ctr"/>
          <a:lstStyle/>
          <a:p>
            <a:pPr indent="0" marL="0">
              <a:buNone/>
            </a:pPr>
            <a:r>
              <a:rPr lang="en-US" sz="1150" dirty="0">
                <a:solidFill>
                  <a:schemeClr val="tx1"/>
                </a:solidFill>
              </a:rPr>
              <a:t>Leave-one-out leaves only 363 eligible users and Precision@10 0.003: too noisy to select models.</a:t>
            </a:r>
            <a:endParaRPr lang="en-US" sz="115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p:nvPr>
            <p:ph idx="100" type="title" hasCustomPrompt="1"/>
          </p:nvPr>
        </p:nvSpPr>
        <p:spPr>
          <a:xfrm>
            <a:off x="548640" y="548640"/>
            <a:ext cx="2468880" cy="1463040"/>
          </a:xfrm>
          <a:prstGeom prst="rect">
            <a:avLst/>
          </a:prstGeom>
          <a:noFill/>
          <a:ln/>
        </p:spPr>
        <p:txBody>
          <a:bodyPr wrap="square" lIns="0" tIns="0" rIns="0" bIns="0" rtlCol="0" anchor="t"/>
          <a:lstStyle/>
          <a:p>
            <a:pPr algn="l" indent="0" marL="0">
              <a:buNone/>
            </a:pPr>
            <a:r>
              <a:rPr lang="en-US" sz="3200" b="1" dirty="0">
                <a:solidFill>
                  <a:schemeClr val="bg2"/>
                </a:solidFill>
              </a:rPr>
              <a:t>What to remember</a:t>
            </a:r>
            <a:endParaRPr lang="en-US" sz="3200" dirty="0"/>
          </a:p>
        </p:txBody>
      </p:sp>
      <p:sp>
        <p:nvSpPr>
          <p:cNvPr id="4" name="Takeaway card 1"/>
          <p:cNvSpPr/>
          <p:nvPr/>
        </p:nvSpPr>
        <p:spPr>
          <a:xfrm>
            <a:off x="3291840" y="457200"/>
            <a:ext cx="5394960" cy="731520"/>
          </a:xfrm>
          <a:prstGeom prst="roundRect">
            <a:avLst>
              <a:gd name="adj" fmla="val 10000"/>
            </a:avLst>
          </a:prstGeom>
          <a:solidFill>
            <a:srgbClr val="3B2D54"/>
          </a:solidFill>
          <a:ln/>
        </p:spPr>
      </p:sp>
      <p:sp>
        <p:nvSpPr>
          <p:cNvPr id="5" name="Takeaway circle 1"/>
          <p:cNvSpPr/>
          <p:nvPr/>
        </p:nvSpPr>
        <p:spPr>
          <a:xfrm>
            <a:off x="3429000" y="621792"/>
            <a:ext cx="402336" cy="402336"/>
          </a:xfrm>
          <a:prstGeom prst="ellipse">
            <a:avLst/>
          </a:prstGeom>
          <a:solidFill>
            <a:schemeClr val="accent2"/>
          </a:solidFill>
          <a:ln/>
        </p:spPr>
      </p:sp>
      <p:sp>
        <p:nvSpPr>
          <p:cNvPr id="6" name="Takeaway number 1"/>
          <p:cNvSpPr txBox="1"/>
          <p:nvPr/>
        </p:nvSpPr>
        <p:spPr>
          <a:xfrm>
            <a:off x="3429000" y="621792"/>
            <a:ext cx="402336" cy="402336"/>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7" name="Takeaway title 1"/>
          <p:cNvSpPr txBox="1"/>
          <p:nvPr/>
        </p:nvSpPr>
        <p:spPr>
          <a:xfrm>
            <a:off x="3977640" y="521208"/>
            <a:ext cx="4572000" cy="274320"/>
          </a:xfrm>
          <a:prstGeom prst="rect">
            <a:avLst/>
          </a:prstGeom>
          <a:noFill/>
          <a:ln/>
        </p:spPr>
        <p:txBody>
          <a:bodyPr wrap="square" lIns="0" tIns="0" rIns="0" bIns="0" rtlCol="0" anchor="ctr"/>
          <a:lstStyle/>
          <a:p>
            <a:pPr indent="0" marL="0">
              <a:buNone/>
            </a:pPr>
            <a:r>
              <a:rPr lang="en-US" sz="1400" b="1" dirty="0">
                <a:solidFill>
                  <a:schemeClr val="bg2"/>
                </a:solidFill>
              </a:rPr>
              <a:t>Split like production</a:t>
            </a:r>
            <a:endParaRPr lang="en-US" sz="1400" dirty="0"/>
          </a:p>
        </p:txBody>
      </p:sp>
      <p:sp>
        <p:nvSpPr>
          <p:cNvPr id="8" name="Takeaway text 1"/>
          <p:cNvSpPr txBox="1"/>
          <p:nvPr/>
        </p:nvSpPr>
        <p:spPr>
          <a:xfrm>
            <a:off x="3977640" y="804672"/>
            <a:ext cx="4617720" cy="365760"/>
          </a:xfrm>
          <a:prstGeom prst="rect">
            <a:avLst/>
          </a:prstGeom>
          <a:noFill/>
          <a:ln/>
        </p:spPr>
        <p:txBody>
          <a:bodyPr wrap="square" lIns="0" tIns="0" rIns="0" bIns="0" rtlCol="0" anchor="t"/>
          <a:lstStyle/>
          <a:p>
            <a:pPr indent="0" marL="0">
              <a:buNone/>
            </a:pPr>
            <a:r>
              <a:rPr lang="en-US" sz="1250" dirty="0">
                <a:solidFill>
                  <a:srgbClr val="D9D2E6"/>
                </a:solidFill>
              </a:rPr>
              <a:t>Random splits inflate NDCG@10 about 2.2× vs a temporal split.</a:t>
            </a:r>
            <a:endParaRPr lang="en-US" sz="1250" dirty="0"/>
          </a:p>
        </p:txBody>
      </p:sp>
      <p:sp>
        <p:nvSpPr>
          <p:cNvPr id="9" name="Takeaway card 2"/>
          <p:cNvSpPr/>
          <p:nvPr/>
        </p:nvSpPr>
        <p:spPr>
          <a:xfrm>
            <a:off x="3291840" y="1280160"/>
            <a:ext cx="5394960" cy="731520"/>
          </a:xfrm>
          <a:prstGeom prst="roundRect">
            <a:avLst>
              <a:gd name="adj" fmla="val 10000"/>
            </a:avLst>
          </a:prstGeom>
          <a:solidFill>
            <a:srgbClr val="3B2D54"/>
          </a:solidFill>
          <a:ln/>
        </p:spPr>
      </p:sp>
      <p:sp>
        <p:nvSpPr>
          <p:cNvPr id="10" name="Takeaway circle 2"/>
          <p:cNvSpPr/>
          <p:nvPr/>
        </p:nvSpPr>
        <p:spPr>
          <a:xfrm>
            <a:off x="3429000" y="1444752"/>
            <a:ext cx="402336" cy="402336"/>
          </a:xfrm>
          <a:prstGeom prst="ellipse">
            <a:avLst/>
          </a:prstGeom>
          <a:solidFill>
            <a:schemeClr val="accent2"/>
          </a:solidFill>
          <a:ln/>
        </p:spPr>
      </p:sp>
      <p:sp>
        <p:nvSpPr>
          <p:cNvPr id="11" name="Takeaway number 2"/>
          <p:cNvSpPr txBox="1"/>
          <p:nvPr/>
        </p:nvSpPr>
        <p:spPr>
          <a:xfrm>
            <a:off x="3429000" y="1444752"/>
            <a:ext cx="402336" cy="402336"/>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2" name="Takeaway title 2"/>
          <p:cNvSpPr txBox="1"/>
          <p:nvPr/>
        </p:nvSpPr>
        <p:spPr>
          <a:xfrm>
            <a:off x="3977640" y="1344168"/>
            <a:ext cx="4572000" cy="274320"/>
          </a:xfrm>
          <a:prstGeom prst="rect">
            <a:avLst/>
          </a:prstGeom>
          <a:noFill/>
          <a:ln/>
        </p:spPr>
        <p:txBody>
          <a:bodyPr wrap="square" lIns="0" tIns="0" rIns="0" bIns="0" rtlCol="0" anchor="ctr"/>
          <a:lstStyle/>
          <a:p>
            <a:pPr indent="0" marL="0">
              <a:buNone/>
            </a:pPr>
            <a:r>
              <a:rPr lang="en-US" sz="1400" b="1" dirty="0">
                <a:solidFill>
                  <a:schemeClr val="bg2"/>
                </a:solidFill>
              </a:rPr>
              <a:t>Match the metric to the product</a:t>
            </a:r>
            <a:endParaRPr lang="en-US" sz="1400" dirty="0"/>
          </a:p>
        </p:txBody>
      </p:sp>
      <p:sp>
        <p:nvSpPr>
          <p:cNvPr id="13" name="Takeaway text 2"/>
          <p:cNvSpPr txBox="1"/>
          <p:nvPr/>
        </p:nvSpPr>
        <p:spPr>
          <a:xfrm>
            <a:off x="3977640" y="1627632"/>
            <a:ext cx="4617720" cy="365760"/>
          </a:xfrm>
          <a:prstGeom prst="rect">
            <a:avLst/>
          </a:prstGeom>
          <a:noFill/>
          <a:ln/>
        </p:spPr>
        <p:txBody>
          <a:bodyPr wrap="square" lIns="0" tIns="0" rIns="0" bIns="0" rtlCol="0" anchor="t"/>
          <a:lstStyle/>
          <a:p>
            <a:pPr indent="0" marL="0">
              <a:buNone/>
            </a:pPr>
            <a:r>
              <a:rPr lang="en-US" sz="1250" dirty="0">
                <a:solidFill>
                  <a:srgbClr val="D9D2E6"/>
                </a:solidFill>
              </a:rPr>
              <a:t>Bias-only ranks 1.9× better than MF despite a worse RMSE.</a:t>
            </a:r>
            <a:endParaRPr lang="en-US" sz="1250" dirty="0"/>
          </a:p>
        </p:txBody>
      </p:sp>
      <p:sp>
        <p:nvSpPr>
          <p:cNvPr id="14" name="Takeaway card 3"/>
          <p:cNvSpPr/>
          <p:nvPr/>
        </p:nvSpPr>
        <p:spPr>
          <a:xfrm>
            <a:off x="3291840" y="2103120"/>
            <a:ext cx="5394960" cy="731520"/>
          </a:xfrm>
          <a:prstGeom prst="roundRect">
            <a:avLst>
              <a:gd name="adj" fmla="val 10000"/>
            </a:avLst>
          </a:prstGeom>
          <a:solidFill>
            <a:srgbClr val="3B2D54"/>
          </a:solidFill>
          <a:ln/>
        </p:spPr>
      </p:sp>
      <p:sp>
        <p:nvSpPr>
          <p:cNvPr id="15" name="Takeaway circle 3"/>
          <p:cNvSpPr/>
          <p:nvPr/>
        </p:nvSpPr>
        <p:spPr>
          <a:xfrm>
            <a:off x="3429000" y="2267712"/>
            <a:ext cx="402336" cy="402336"/>
          </a:xfrm>
          <a:prstGeom prst="ellipse">
            <a:avLst/>
          </a:prstGeom>
          <a:solidFill>
            <a:schemeClr val="accent2"/>
          </a:solidFill>
          <a:ln/>
        </p:spPr>
      </p:sp>
      <p:sp>
        <p:nvSpPr>
          <p:cNvPr id="16" name="Takeaway number 3"/>
          <p:cNvSpPr txBox="1"/>
          <p:nvPr/>
        </p:nvSpPr>
        <p:spPr>
          <a:xfrm>
            <a:off x="3429000" y="2267712"/>
            <a:ext cx="402336" cy="402336"/>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7" name="Takeaway title 3"/>
          <p:cNvSpPr txBox="1"/>
          <p:nvPr/>
        </p:nvSpPr>
        <p:spPr>
          <a:xfrm>
            <a:off x="3977640" y="2167128"/>
            <a:ext cx="4572000" cy="274320"/>
          </a:xfrm>
          <a:prstGeom prst="rect">
            <a:avLst/>
          </a:prstGeom>
          <a:noFill/>
          <a:ln/>
        </p:spPr>
        <p:txBody>
          <a:bodyPr wrap="square" lIns="0" tIns="0" rIns="0" bIns="0" rtlCol="0" anchor="ctr"/>
          <a:lstStyle/>
          <a:p>
            <a:pPr indent="0" marL="0">
              <a:buNone/>
            </a:pPr>
            <a:r>
              <a:rPr lang="en-US" sz="1400" b="1" dirty="0">
                <a:solidFill>
                  <a:schemeClr val="bg2"/>
                </a:solidFill>
              </a:rPr>
              <a:t>Beat popularity first</a:t>
            </a:r>
            <a:endParaRPr lang="en-US" sz="1400" dirty="0"/>
          </a:p>
        </p:txBody>
      </p:sp>
      <p:sp>
        <p:nvSpPr>
          <p:cNvPr id="18" name="Takeaway text 3"/>
          <p:cNvSpPr txBox="1"/>
          <p:nvPr/>
        </p:nvSpPr>
        <p:spPr>
          <a:xfrm>
            <a:off x="3977640" y="2450592"/>
            <a:ext cx="4617720" cy="365760"/>
          </a:xfrm>
          <a:prstGeom prst="rect">
            <a:avLst/>
          </a:prstGeom>
          <a:noFill/>
          <a:ln/>
        </p:spPr>
        <p:txBody>
          <a:bodyPr wrap="square" lIns="0" tIns="0" rIns="0" bIns="0" rtlCol="0" anchor="t"/>
          <a:lstStyle/>
          <a:p>
            <a:pPr indent="0" marL="0">
              <a:buNone/>
            </a:pPr>
            <a:r>
              <a:rPr lang="en-US" sz="1250" dirty="0">
                <a:solidFill>
                  <a:srgbClr val="D9D2E6"/>
                </a:solidFill>
              </a:rPr>
              <a:t>NDCG@10 popularity 0.072 vs hybrid 0.030 and MF 0.027.</a:t>
            </a:r>
            <a:endParaRPr lang="en-US" sz="1250" dirty="0"/>
          </a:p>
        </p:txBody>
      </p:sp>
      <p:sp>
        <p:nvSpPr>
          <p:cNvPr id="19" name="Takeaway card 4"/>
          <p:cNvSpPr/>
          <p:nvPr/>
        </p:nvSpPr>
        <p:spPr>
          <a:xfrm>
            <a:off x="3291840" y="2926080"/>
            <a:ext cx="5394960" cy="731520"/>
          </a:xfrm>
          <a:prstGeom prst="roundRect">
            <a:avLst>
              <a:gd name="adj" fmla="val 10000"/>
            </a:avLst>
          </a:prstGeom>
          <a:solidFill>
            <a:srgbClr val="3B2D54"/>
          </a:solidFill>
          <a:ln/>
        </p:spPr>
      </p:sp>
      <p:sp>
        <p:nvSpPr>
          <p:cNvPr id="20" name="Takeaway circle 4"/>
          <p:cNvSpPr/>
          <p:nvPr/>
        </p:nvSpPr>
        <p:spPr>
          <a:xfrm>
            <a:off x="3429000" y="3090672"/>
            <a:ext cx="402336" cy="402336"/>
          </a:xfrm>
          <a:prstGeom prst="ellipse">
            <a:avLst/>
          </a:prstGeom>
          <a:solidFill>
            <a:schemeClr val="accent2"/>
          </a:solidFill>
          <a:ln/>
        </p:spPr>
      </p:sp>
      <p:sp>
        <p:nvSpPr>
          <p:cNvPr id="21" name="Takeaway number 4"/>
          <p:cNvSpPr txBox="1"/>
          <p:nvPr/>
        </p:nvSpPr>
        <p:spPr>
          <a:xfrm>
            <a:off x="3429000" y="3090672"/>
            <a:ext cx="402336" cy="402336"/>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22" name="Takeaway title 4"/>
          <p:cNvSpPr txBox="1"/>
          <p:nvPr/>
        </p:nvSpPr>
        <p:spPr>
          <a:xfrm>
            <a:off x="3977640" y="2990088"/>
            <a:ext cx="4572000" cy="274320"/>
          </a:xfrm>
          <a:prstGeom prst="rect">
            <a:avLst/>
          </a:prstGeom>
          <a:noFill/>
          <a:ln/>
        </p:spPr>
        <p:txBody>
          <a:bodyPr wrap="square" lIns="0" tIns="0" rIns="0" bIns="0" rtlCol="0" anchor="ctr"/>
          <a:lstStyle/>
          <a:p>
            <a:pPr indent="0" marL="0">
              <a:buNone/>
            </a:pPr>
            <a:r>
              <a:rPr lang="en-US" sz="1400" b="1" dirty="0">
                <a:solidFill>
                  <a:schemeClr val="bg2"/>
                </a:solidFill>
              </a:rPr>
              <a:t>Hybrids help, modestly</a:t>
            </a:r>
            <a:endParaRPr lang="en-US" sz="1400" dirty="0"/>
          </a:p>
        </p:txBody>
      </p:sp>
      <p:sp>
        <p:nvSpPr>
          <p:cNvPr id="23" name="Takeaway text 4"/>
          <p:cNvSpPr txBox="1"/>
          <p:nvPr/>
        </p:nvSpPr>
        <p:spPr>
          <a:xfrm>
            <a:off x="3977640" y="3273552"/>
            <a:ext cx="4617720" cy="365760"/>
          </a:xfrm>
          <a:prstGeom prst="rect">
            <a:avLst/>
          </a:prstGeom>
          <a:noFill/>
          <a:ln/>
        </p:spPr>
        <p:txBody>
          <a:bodyPr wrap="square" lIns="0" tIns="0" rIns="0" bIns="0" rtlCol="0" anchor="t"/>
          <a:lstStyle/>
          <a:p>
            <a:pPr indent="0" marL="0">
              <a:buNone/>
            </a:pPr>
            <a:r>
              <a:rPr lang="en-US" sz="1250" dirty="0">
                <a:solidFill>
                  <a:srgbClr val="D9D2E6"/>
                </a:solidFill>
              </a:rPr>
              <a:t>α = 0.7 gives +10.7% NDCG over MF; MMR adds +28.5% diversity.</a:t>
            </a:r>
            <a:endParaRPr lang="en-US" sz="1250" dirty="0"/>
          </a:p>
        </p:txBody>
      </p:sp>
      <p:sp>
        <p:nvSpPr>
          <p:cNvPr id="24" name="Takeaway card 5"/>
          <p:cNvSpPr/>
          <p:nvPr/>
        </p:nvSpPr>
        <p:spPr>
          <a:xfrm>
            <a:off x="3291840" y="3749040"/>
            <a:ext cx="5394960" cy="731520"/>
          </a:xfrm>
          <a:prstGeom prst="roundRect">
            <a:avLst>
              <a:gd name="adj" fmla="val 10000"/>
            </a:avLst>
          </a:prstGeom>
          <a:solidFill>
            <a:srgbClr val="3B2D54"/>
          </a:solidFill>
          <a:ln/>
        </p:spPr>
      </p:sp>
      <p:sp>
        <p:nvSpPr>
          <p:cNvPr id="25" name="Takeaway circle 5"/>
          <p:cNvSpPr/>
          <p:nvPr/>
        </p:nvSpPr>
        <p:spPr>
          <a:xfrm>
            <a:off x="3429000" y="3913632"/>
            <a:ext cx="402336" cy="402336"/>
          </a:xfrm>
          <a:prstGeom prst="ellipse">
            <a:avLst/>
          </a:prstGeom>
          <a:solidFill>
            <a:schemeClr val="accent2"/>
          </a:solidFill>
          <a:ln/>
        </p:spPr>
      </p:sp>
      <p:sp>
        <p:nvSpPr>
          <p:cNvPr id="26" name="Takeaway number 5"/>
          <p:cNvSpPr txBox="1"/>
          <p:nvPr/>
        </p:nvSpPr>
        <p:spPr>
          <a:xfrm>
            <a:off x="3429000" y="3913632"/>
            <a:ext cx="402336" cy="402336"/>
          </a:xfrm>
          <a:prstGeom prst="rect">
            <a:avLst/>
          </a:prstGeom>
          <a:no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27" name="Takeaway title 5"/>
          <p:cNvSpPr txBox="1"/>
          <p:nvPr/>
        </p:nvSpPr>
        <p:spPr>
          <a:xfrm>
            <a:off x="3977640" y="3813048"/>
            <a:ext cx="4572000" cy="274320"/>
          </a:xfrm>
          <a:prstGeom prst="rect">
            <a:avLst/>
          </a:prstGeom>
          <a:noFill/>
          <a:ln/>
        </p:spPr>
        <p:txBody>
          <a:bodyPr wrap="square" lIns="0" tIns="0" rIns="0" bIns="0" rtlCol="0" anchor="ctr"/>
          <a:lstStyle/>
          <a:p>
            <a:pPr indent="0" marL="0">
              <a:buNone/>
            </a:pPr>
            <a:r>
              <a:rPr lang="en-US" sz="1400" b="1" dirty="0">
                <a:solidFill>
                  <a:schemeClr val="bg2"/>
                </a:solidFill>
              </a:rPr>
              <a:t>Offline screens, online decides</a:t>
            </a:r>
            <a:endParaRPr lang="en-US" sz="1400" dirty="0"/>
          </a:p>
        </p:txBody>
      </p:sp>
      <p:sp>
        <p:nvSpPr>
          <p:cNvPr id="28" name="Takeaway text 5"/>
          <p:cNvSpPr txBox="1"/>
          <p:nvPr/>
        </p:nvSpPr>
        <p:spPr>
          <a:xfrm>
            <a:off x="3977640" y="4096512"/>
            <a:ext cx="4617720" cy="365760"/>
          </a:xfrm>
          <a:prstGeom prst="rect">
            <a:avLst/>
          </a:prstGeom>
          <a:noFill/>
          <a:ln/>
        </p:spPr>
        <p:txBody>
          <a:bodyPr wrap="square" lIns="0" tIns="0" rIns="0" bIns="0" rtlCol="0" anchor="t"/>
          <a:lstStyle/>
          <a:p>
            <a:pPr indent="0" marL="0">
              <a:buNone/>
            </a:pPr>
            <a:r>
              <a:rPr lang="en-US" sz="1250" dirty="0">
                <a:solidFill>
                  <a:srgbClr val="D9D2E6"/>
                </a:solidFill>
              </a:rPr>
              <a:t>Randomise users, CTR as primary metric, guardrails, at least two weeks.</a:t>
            </a:r>
            <a:endParaRPr lang="en-US" sz="1250" dirty="0"/>
          </a:p>
        </p:txBody>
      </p:sp>
      <p:sp>
        <p:nvSpPr>
          <p:cNvPr id="29" name="Caveat note"/>
          <p:cNvSpPr txBox="1"/>
          <p:nvPr/>
        </p:nvSpPr>
        <p:spPr>
          <a:xfrm>
            <a:off x="548640" y="4206240"/>
            <a:ext cx="2560320" cy="731520"/>
          </a:xfrm>
          <a:prstGeom prst="rect">
            <a:avLst/>
          </a:prstGeom>
          <a:noFill/>
          <a:ln/>
        </p:spPr>
        <p:txBody>
          <a:bodyPr wrap="square" lIns="0" tIns="0" rIns="0" bIns="0" rtlCol="0" anchor="t"/>
          <a:lstStyle/>
          <a:p>
            <a:pPr indent="0" marL="0">
              <a:buNone/>
            </a:pPr>
            <a:r>
              <a:rPr lang="en-US" sz="1050" dirty="0">
                <a:solidFill>
                  <a:srgbClr val="D9D2E6"/>
                </a:solidFill>
              </a:rPr>
              <a:t>One dataset (ml-latest-small), one temporal split, one run. A/B sample sizes assume an 8% baseline CTR; the online test itself is still to be run.</a:t>
            </a:r>
            <a:endParaRPr lang="en-US" sz="1050" dirty="0"/>
          </a:p>
        </p:txBody>
      </p:sp>
    </p:spTree>
  </p:cSld>
  <p:clrMapOvr>
    <a:masterClrMapping/>
  </p:clrMapOvr>
</p:sld>
</file>

<file path=ppt/theme/theme1.xml><?xml version="1.0" encoding="utf-8"?>
<a:theme xmlns:a="http://schemas.openxmlformats.org/drawingml/2006/main" name="Cinema Ink">
  <a:themeElements>
    <a:clrScheme name="Cinema Ink">
      <a:dk1>
        <a:srgbClr val="1F1B2B"/>
      </a:dk1>
      <a:lt1>
        <a:srgbClr val="FFFFFF"/>
      </a:lt1>
      <a:dk2>
        <a:srgbClr val="2B1F3D"/>
      </a:dk2>
      <a:lt2>
        <a:srgbClr val="F7F3EC"/>
      </a:lt2>
      <a:accent1>
        <a:srgbClr val="2A7F8E"/>
      </a:accent1>
      <a:accent2>
        <a:srgbClr val="E8A33D"/>
      </a:accent2>
      <a:accent3>
        <a:srgbClr val="D1495B"/>
      </a:accent3>
      <a:accent4>
        <a:srgbClr val="5B4B8A"/>
      </a:accent4>
      <a:accent5>
        <a:srgbClr val="8C8799"/>
      </a:accent5>
      <a:accent6>
        <a:srgbClr val="6BAA75"/>
      </a:accent6>
      <a:hlink>
        <a:srgbClr val="2A7F8E"/>
      </a:hlink>
      <a:folHlink>
        <a:srgbClr val="5B4B8A"/>
      </a:folHlink>
    </a:clrScheme>
    <a:fontScheme name="Cinema In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 13 - Evaluation Metrics, Cold Start &amp; Hybrid Systems</dc:title>
  <dc:subject>Recommender evaluation on MovieLens ml-latest-small</dc:subject>
  <dc:creator>PptxGenJS</dc:creator>
  <cp:lastModifiedBy>PptxGenJS</cp:lastModifiedBy>
  <cp:revision>1</cp:revision>
  <dcterms:created xsi:type="dcterms:W3CDTF">2026-10-09T12:02:09Z</dcterms:created>
  <dcterms:modified xsi:type="dcterms:W3CDTF">2026-10-09T12:02:09Z</dcterms:modified>
</cp:coreProperties>
</file>